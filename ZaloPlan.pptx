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386ae854-ed42-4212-a041-b25de8e1e7fb}">
          <p14:sldIdLst>
            <p14:sldId id="256"/>
          </p14:sldIdLst>
        </p14:section>
        <p14:section name="Ý tưởng" id="{eaf93687-24a4-5e2f-d378-3a6da8afeb64}">
          <p14:sldIdLst>
            <p14:sldId id="257"/>
            <p14:sldId id="258"/>
            <p14:sldId id="259"/>
          </p14:sldIdLst>
        </p14:section>
        <p14:section name="Người dùng" id="{efc20394-edf3-d005-f46a-fd3a50ae2124}">
          <p14:sldIdLst>
            <p14:sldId id="260"/>
            <p14:sldId id="261"/>
          </p14:sldIdLst>
        </p14:section>
        <p14:section name="Cách hoạt động" id="{b9166b3c-ce77-6f18-0e83-e9108c4aecee}">
          <p14:sldIdLst>
            <p14:sldId id="262"/>
            <p14:sldId id="263"/>
          </p14:sldIdLst>
        </p14:section>
        <p14:section name="Triển khai" id="{94208b2d-934a-9729-cda2-523e5d5cc727}">
          <p14:sldIdLst>
            <p14:sldId id="264"/>
            <p14:sldId id="265"/>
            <p14:sldId id="266"/>
            <p14:sldId id="267"/>
            <p14:sldId id="268"/>
            <p14:sldId id="269"/>
          </p14:sldIdLst>
        </p14:section>
        <p14:section name="Quyết định" id="{3cad9399-0ffd-1e33-2b3f-459ee58c2012}">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kpi</c:v>
                </c:pt>
              </c:strCache>
            </c:strRef>
          </c:tx>
          <c:spPr>
            <a:solidFill>
              <a:schemeClr val="accent1"/>
            </a:solidFill>
            <a:ln w="9525" cap="flat">
              <a:solidFill>
                <a:srgbClr val="F9F9F9"/>
              </a:solidFill>
              <a:prstDash val="solid"/>
              <a:round/>
            </a:ln>
            <a:effectLst/>
          </c:spPr>
          <c:dPt>
            <c:idx val="0"/>
            <c:bubble3D val="0"/>
            <c:spPr>
              <a:solidFill>
                <a:srgbClr val="0068FF"/>
              </a:solidFill>
              <a:ln w="9525" cap="flat">
                <a:solidFill>
                  <a:srgbClr val="FFFFFF"/>
                </a:solidFill>
                <a:prstDash val="solid"/>
                <a:round/>
              </a:ln>
              <a:effectLst/>
            </c:spPr>
          </c:dPt>
          <c:dPt>
            <c:idx val="1"/>
            <c:bubble3D val="0"/>
            <c:spPr>
              <a:solidFill>
                <a:srgbClr val="E1E7F0"/>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Đạt</c:v>
                </c:pt>
                <c:pt idx="1">
                  <c:v>Còn lại</c:v>
                </c:pt>
              </c:strCache>
            </c:strRef>
          </c:cat>
          <c:val>
            <c:numRef>
              <c:f>Sheet1!$B$2:$B$3</c:f>
              <c:numCache>
                <c:ptCount val="2"/>
                <c:pt idx="0">
                  <c:v>85</c:v>
                </c:pt>
                <c:pt idx="1">
                  <c:v>15</c:v>
                </c:pt>
              </c:numCache>
            </c:numRef>
          </c:val>
        </c:ser>
        <c:firstSliceAng val="0"/>
        <c:holeSize val="72"/>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kpi</c:v>
                </c:pt>
              </c:strCache>
            </c:strRef>
          </c:tx>
          <c:spPr>
            <a:solidFill>
              <a:schemeClr val="accent1"/>
            </a:solidFill>
            <a:ln w="9525" cap="flat">
              <a:solidFill>
                <a:srgbClr val="F9F9F9"/>
              </a:solidFill>
              <a:prstDash val="solid"/>
              <a:round/>
            </a:ln>
            <a:effectLst/>
          </c:spPr>
          <c:dPt>
            <c:idx val="0"/>
            <c:bubble3D val="0"/>
            <c:spPr>
              <a:solidFill>
                <a:srgbClr val="7C5CFF"/>
              </a:solidFill>
              <a:ln w="9525" cap="flat">
                <a:solidFill>
                  <a:srgbClr val="FFFFFF"/>
                </a:solidFill>
                <a:prstDash val="solid"/>
                <a:round/>
              </a:ln>
              <a:effectLst/>
            </c:spPr>
          </c:dPt>
          <c:dPt>
            <c:idx val="1"/>
            <c:bubble3D val="0"/>
            <c:spPr>
              <a:solidFill>
                <a:srgbClr val="E1E7F0"/>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Đạt</c:v>
                </c:pt>
                <c:pt idx="1">
                  <c:v>Còn lại</c:v>
                </c:pt>
              </c:strCache>
            </c:strRef>
          </c:cat>
          <c:val>
            <c:numRef>
              <c:f>Sheet1!$B$2:$B$3</c:f>
              <c:numCache>
                <c:ptCount val="2"/>
                <c:pt idx="0">
                  <c:v>60</c:v>
                </c:pt>
                <c:pt idx="1">
                  <c:v>40</c:v>
                </c:pt>
              </c:numCache>
            </c:numRef>
          </c:val>
        </c:ser>
        <c:firstSliceAng val="0"/>
        <c:holeSize val="72"/>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kpi</c:v>
                </c:pt>
              </c:strCache>
            </c:strRef>
          </c:tx>
          <c:spPr>
            <a:solidFill>
              <a:schemeClr val="accent1"/>
            </a:solidFill>
            <a:ln w="9525" cap="flat">
              <a:solidFill>
                <a:srgbClr val="F9F9F9"/>
              </a:solidFill>
              <a:prstDash val="solid"/>
              <a:round/>
            </a:ln>
            <a:effectLst/>
          </c:spPr>
          <c:dPt>
            <c:idx val="0"/>
            <c:bubble3D val="0"/>
            <c:spPr>
              <a:solidFill>
                <a:srgbClr val="FF7A2F"/>
              </a:solidFill>
              <a:ln w="9525" cap="flat">
                <a:solidFill>
                  <a:srgbClr val="FFFFFF"/>
                </a:solidFill>
                <a:prstDash val="solid"/>
                <a:round/>
              </a:ln>
              <a:effectLst/>
            </c:spPr>
          </c:dPt>
          <c:dPt>
            <c:idx val="1"/>
            <c:bubble3D val="0"/>
            <c:spPr>
              <a:solidFill>
                <a:srgbClr val="E1E7F0"/>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Đạt</c:v>
                </c:pt>
                <c:pt idx="1">
                  <c:v>Còn lại</c:v>
                </c:pt>
              </c:strCache>
            </c:strRef>
          </c:cat>
          <c:val>
            <c:numRef>
              <c:f>Sheet1!$B$2:$B$3</c:f>
              <c:numCache>
                <c:ptCount val="2"/>
                <c:pt idx="0">
                  <c:v>40</c:v>
                </c:pt>
                <c:pt idx="1">
                  <c:v>60</c:v>
                </c:pt>
              </c:numCache>
            </c:numRef>
          </c:val>
        </c:ser>
        <c:firstSliceAng val="0"/>
        <c:holeSize val="7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ý tưởng: một tin nhắn giao việc bình thường trên Zalo được AI đọc và tự biến thành một công việc có người làm, hạn chót và lời nhắc.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Nỗi đau: Zalo là kênh giao việc chính ở Việt Nam, nhưng việc bị lẫn trong chat, không ai theo dõi hạn chót, còn phần mềm quản lý thì bắt nhập lại nên ít ai dùng.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bước: nhắn cho bot, AI đọc, thành thẻ việc để xác nhận, rồi app nhắc việc. Người dùng không phải học phần mềm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cụ thể: AI hiểu cách nói thời gian tiếng Việt như 'chiều thứ 6', biết 'gấp' là ưu tiên cao, biết ai là người làm. Người dùng chỉ bấm Lưu.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nhóm người dùng chính. Nên chọn một nhóm để bắt đầu, xem câu hỏi ở slide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Hành trình một ngày: tóm tắt buổi sáng, chuyển tiếp tin giao việc, được nhắc trước hạn, báo xong việc ngay trong Zalo.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quyết định quan trọng nhất. Zalo không có cách chính thức để đọc tin của tài khoản cá nhân. Bản đầu dùng bot Zalo chính thức cộng với dán chữ hoặc ảnh chụp. Không dùng công cụ đọc lén vì có thể bị khóa tài khoản.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bước bên trong app. Bước lọc rất quan trọng: phần lớn tin nhắn không phải việc nên bị loại sớm, giúp tiết kiệm chi phí AI. Con số 80% là ước tính, cần đo lại với dữ liệu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Giai đoạn 1 là bản tối thiểu để có người dùng thật. Giai đoạn 2 mở rộng cho doanh nghiệp và đưa app vào trong Zalo. Giai đoạn 3 là các tính năng thông minh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Bạn không cần biết code để bắt đầu. Khuyến nghị: thử bản no-code trước trong 1–2 tuần với chính nhóm của bạn. Nếu thấy hữu ích mới đầu tư làm app thật. Chi phí là ước tính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thử không cần code: Zalo Bot nhận tin, n8n hoặc Make chuyển tin cho AI, AI trả về công việc, lưu vào Google Sheets. Mỗi sáng kịch bản đọc Sheets và gửi danh sách việc qua Zalo Bot. Đủ để kiểm chứng ý tưởng trước khi bỏ tiền làm app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Lộ trình khoảng 12 tuần nếu làm app thật. Tuần đầu quan trọng nhất: kiểm tra khả năng của bot Zalo và thu khoảng 300 tin nhắn mẫu để thử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số tham khảo cho giai đoạn dùng thử, khoảng 50.000 tin nhắn mỗi tháng. Bản thử no-code rẻ hơn nhiều, khoảng 0 đến 40 USD mỗi tháng. Chưa tính lương người làm.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rủi ro lớn nhất: bot có thể không đọc được tin nhóm, và vấn đề quyền riêng tư. Tin nhắn là dữ liệu cá nhân, cần tuân thủ Luật Bảo vệ dữ liệu cá nhân có hiệu lực từ 01/01/2026.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chỉ số đo thành công của giai đoạn dùng thử. Chỉ số cuối đo bằng khảo sát người dùng trước và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bằng 5 quyết định cần chốt và 3 bước tiếp theo. Khuyến nghị bắt đầu bằng bản thử no-code để kiểm chứng ý tưởng với chi phí thấp.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4480560" cy="9144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2103120"/>
            <a:ext cx="429768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2600" b="1" dirty="0">
                <a:solidFill>
                  <a:schemeClr val="tx1"/>
                </a:solidFill>
              </a:defRPr>
            </a:lvl1pPr>
          </a:lstStyle>
          <a:p>
            <a:pPr indent="0" marL="0">
              <a:buNone/>
            </a:pPr>
            <a:endParaRPr lang="en-US" sz="2600" dirty="0"/>
          </a:p>
        </p:txBody>
      </p:sp>
      <p:sp>
        <p:nvSpPr>
          <p:cNvPr id="3" name="Text 0"/>
          <p:cNvSpPr/>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chemeClr val="tx2"/>
                </a:solidFill>
              </a:rPr>
              <a:t>ZaloPlan · Kế hoạch sản phẩm</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2600" b="1" dirty="0">
                <a:solidFill>
                  <a:schemeClr val="bg1"/>
                </a:solidFill>
              </a:defRPr>
            </a:lvl1pPr>
          </a:lstStyle>
          <a:p>
            <a:pPr indent="0" marL="0">
              <a:buNone/>
            </a:pPr>
            <a:endParaRPr lang="en-US" sz="2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image" Target="../media/image-15-1.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4480560" cy="914400"/>
          </a:xfrm>
          <a:prstGeom prst="rect">
            <a:avLst/>
          </a:prstGeom>
          <a:noFill/>
          <a:ln/>
        </p:spPr>
        <p:txBody>
          <a:bodyPr wrap="square" lIns="0" tIns="0" rIns="0" bIns="0" rtlCol="0" anchor="b"/>
          <a:lstStyle/>
          <a:p>
            <a:pPr algn="l" indent="0" marL="0">
              <a:buNone/>
            </a:pPr>
            <a:r>
              <a:rPr lang="en-US" sz="4800" b="1" dirty="0">
                <a:solidFill>
                  <a:schemeClr val="bg1"/>
                </a:solidFill>
              </a:rPr>
              <a:t>ZaloPlan</a:t>
            </a:r>
            <a:endParaRPr lang="en-US" sz="4800" dirty="0"/>
          </a:p>
        </p:txBody>
      </p:sp>
      <p:sp>
        <p:nvSpPr>
          <p:cNvPr id="3" name="Text 0"/>
          <p:cNvSpPr/>
          <p:nvPr>
            <p:ph idx="101" type="body" hasCustomPrompt="1"/>
          </p:nvPr>
        </p:nvSpPr>
        <p:spPr>
          <a:xfrm>
            <a:off x="548640" y="2103120"/>
            <a:ext cx="4297680" cy="1097280"/>
          </a:xfrm>
          <a:prstGeom prst="rect">
            <a:avLst/>
          </a:prstGeom>
          <a:noFill/>
          <a:ln/>
        </p:spPr>
        <p:txBody>
          <a:bodyPr wrap="square" lIns="0" tIns="0" rIns="0" bIns="0" rtlCol="0" anchor="t"/>
          <a:lstStyle/>
          <a:p>
            <a:pPr algn="l" indent="0" marL="0">
              <a:buNone/>
            </a:pPr>
            <a:r>
              <a:rPr lang="en-US" sz="2000" dirty="0">
                <a:solidFill>
                  <a:schemeClr val="bg2"/>
                </a:solidFill>
              </a:rPr>
              <a:t>Biến tin nhắn Zalo thành kế hoạch công việc, tự động và không cần đổi thói quen</a:t>
            </a:r>
            <a:endParaRPr lang="en-US" sz="2000" dirty="0"/>
          </a:p>
        </p:txBody>
      </p:sp>
      <p:sp>
        <p:nvSpPr>
          <p:cNvPr id="4" name="text-1"/>
          <p:cNvSpPr txBox="1"/>
          <p:nvPr/>
        </p:nvSpPr>
        <p:spPr>
          <a:xfrm>
            <a:off x="548640" y="4206240"/>
            <a:ext cx="4114800" cy="274320"/>
          </a:xfrm>
          <a:prstGeom prst="rect">
            <a:avLst/>
          </a:prstGeom>
          <a:noFill/>
          <a:ln/>
        </p:spPr>
        <p:txBody>
          <a:bodyPr wrap="square" lIns="0" tIns="0" rIns="0" bIns="0" rtlCol="0" anchor="t"/>
          <a:lstStyle/>
          <a:p>
            <a:pPr indent="0" marL="0">
              <a:buNone/>
            </a:pPr>
            <a:r>
              <a:rPr lang="en-US" sz="1200" dirty="0">
                <a:solidFill>
                  <a:schemeClr val="bg2"/>
                </a:solidFill>
              </a:rPr>
              <a:t>Kế hoạch sản phẩm · Tháng 10/2026</a:t>
            </a:r>
            <a:endParaRPr lang="en-US" sz="1200" dirty="0"/>
          </a:p>
        </p:txBody>
      </p:sp>
      <p:sp>
        <p:nvSpPr>
          <p:cNvPr id="5" name="text-2"/>
          <p:cNvSpPr txBox="1"/>
          <p:nvPr/>
        </p:nvSpPr>
        <p:spPr>
          <a:xfrm>
            <a:off x="5303520" y="868680"/>
            <a:ext cx="3200400" cy="228600"/>
          </a:xfrm>
          <a:prstGeom prst="rect">
            <a:avLst/>
          </a:prstGeom>
          <a:noFill/>
          <a:ln/>
        </p:spPr>
        <p:txBody>
          <a:bodyPr wrap="square" lIns="0" tIns="0" rIns="0" bIns="0" rtlCol="0" anchor="t"/>
          <a:lstStyle/>
          <a:p>
            <a:pPr indent="0" marL="0">
              <a:buNone/>
            </a:pPr>
            <a:r>
              <a:rPr lang="en-US" sz="1100" dirty="0">
                <a:solidFill>
                  <a:schemeClr val="bg2"/>
                </a:solidFill>
              </a:rPr>
              <a:t>Anh Minh · nhóm Zalo</a:t>
            </a:r>
            <a:endParaRPr lang="en-US" sz="1100" dirty="0"/>
          </a:p>
        </p:txBody>
      </p:sp>
      <p:sp>
        <p:nvSpPr>
          <p:cNvPr id="6" name="bubble-3"/>
          <p:cNvSpPr/>
          <p:nvPr/>
        </p:nvSpPr>
        <p:spPr>
          <a:xfrm>
            <a:off x="5303520" y="1143000"/>
            <a:ext cx="3291840" cy="777240"/>
          </a:xfrm>
          <a:prstGeom prst="roundRect">
            <a:avLst>
              <a:gd name="adj" fmla="val 17647"/>
            </a:avLst>
          </a:prstGeom>
          <a:solidFill>
            <a:schemeClr val="accent1"/>
          </a:solidFill>
          <a:ln/>
        </p:spPr>
        <p:txBody>
          <a:bodyPr wrap="square" lIns="127000" tIns="127000" rIns="127000" bIns="127000" rtlCol="0" anchor="ctr"/>
          <a:lstStyle/>
          <a:p>
            <a:pPr indent="0" marL="0">
              <a:buNone/>
            </a:pPr>
            <a:r>
              <a:rPr lang="en-US" sz="1500" dirty="0">
                <a:solidFill>
                  <a:schemeClr val="bg1"/>
                </a:solidFill>
              </a:rPr>
              <a:t>Lan ơi chiều thứ 6 gửi anh báo giá nhé, gấp!</a:t>
            </a:r>
            <a:endParaRPr lang="en-US" sz="1500" dirty="0"/>
          </a:p>
        </p:txBody>
      </p:sp>
      <p:sp>
        <p:nvSpPr>
          <p:cNvPr id="7" name="arrow-4"/>
          <p:cNvSpPr/>
          <p:nvPr/>
        </p:nvSpPr>
        <p:spPr>
          <a:xfrm>
            <a:off x="6949440" y="2011680"/>
            <a:ext cx="0" cy="502920"/>
          </a:xfrm>
          <a:prstGeom prst="line">
            <a:avLst/>
          </a:prstGeom>
          <a:noFill/>
          <a:ln w="31750">
            <a:solidFill>
              <a:schemeClr val="accent2"/>
            </a:solidFill>
            <a:prstDash val="solid"/>
            <a:tailEnd type="triangle"/>
          </a:ln>
        </p:spPr>
      </p:sp>
      <p:sp>
        <p:nvSpPr>
          <p:cNvPr id="8" name="text-5"/>
          <p:cNvSpPr txBox="1"/>
          <p:nvPr/>
        </p:nvSpPr>
        <p:spPr>
          <a:xfrm>
            <a:off x="7086600" y="2103120"/>
            <a:ext cx="1463040" cy="274320"/>
          </a:xfrm>
          <a:prstGeom prst="rect">
            <a:avLst/>
          </a:prstGeom>
          <a:noFill/>
          <a:ln/>
        </p:spPr>
        <p:txBody>
          <a:bodyPr wrap="square" lIns="0" tIns="0" rIns="0" bIns="0" rtlCol="0" anchor="t"/>
          <a:lstStyle/>
          <a:p>
            <a:pPr indent="0" marL="0">
              <a:buNone/>
            </a:pPr>
            <a:r>
              <a:rPr lang="en-US" sz="1100" i="1" dirty="0">
                <a:solidFill>
                  <a:schemeClr val="accent2"/>
                </a:solidFill>
              </a:rPr>
              <a:t>AI đọc tin</a:t>
            </a:r>
            <a:endParaRPr lang="en-US" sz="1100" dirty="0"/>
          </a:p>
        </p:txBody>
      </p:sp>
      <p:sp>
        <p:nvSpPr>
          <p:cNvPr id="9" name="card-6"/>
          <p:cNvSpPr/>
          <p:nvPr/>
        </p:nvSpPr>
        <p:spPr>
          <a:xfrm>
            <a:off x="5303520" y="2606040"/>
            <a:ext cx="3291840" cy="1600200"/>
          </a:xfrm>
          <a:prstGeom prst="roundRect">
            <a:avLst>
              <a:gd name="adj" fmla="val 6857"/>
            </a:avLst>
          </a:prstGeom>
          <a:solidFill>
            <a:schemeClr val="bg1"/>
          </a:solidFill>
          <a:ln/>
          <a:effectLst>
            <a:outerShdw sx="100000" sy="100000" kx="0" ky="0" algn="bl" rotWithShape="0" blurRad="101600" dist="25400" dir="5400000">
              <a:srgbClr val="0B1F4B">
                <a:alpha val="12000"/>
              </a:srgbClr>
            </a:outerShdw>
          </a:effectLst>
        </p:spPr>
      </p:sp>
      <p:sp>
        <p:nvSpPr>
          <p:cNvPr id="10" name="icon-bg-7"/>
          <p:cNvSpPr/>
          <p:nvPr/>
        </p:nvSpPr>
        <p:spPr>
          <a:xfrm>
            <a:off x="5486400" y="2788920"/>
            <a:ext cx="502920" cy="502920"/>
          </a:xfrm>
          <a:prstGeom prst="ellipse">
            <a:avLst/>
          </a:prstGeom>
          <a:solidFill>
            <a:schemeClr val="accent3"/>
          </a:solidFill>
          <a:ln/>
        </p:spPr>
      </p:sp>
      <p:pic>
        <p:nvPicPr>
          <p:cNvPr id="11" name="icon-FaClipboardCheck-8" descr="preencoded.png">    </p:cNvPr>
          <p:cNvPicPr>
            <a:picLocks noChangeAspect="1"/>
          </p:cNvPicPr>
          <p:nvPr/>
        </p:nvPicPr>
        <p:blipFill>
          <a:blip r:embed="rId1"/>
          <a:stretch>
            <a:fillRect/>
          </a:stretch>
        </p:blipFill>
        <p:spPr>
          <a:xfrm>
            <a:off x="5612130" y="2914650"/>
            <a:ext cx="251460" cy="251460"/>
          </a:xfrm>
          <a:prstGeom prst="rect">
            <a:avLst/>
          </a:prstGeom>
        </p:spPr>
      </p:pic>
      <p:sp>
        <p:nvSpPr>
          <p:cNvPr id="12" name="text-9"/>
          <p:cNvSpPr txBox="1"/>
          <p:nvPr/>
        </p:nvSpPr>
        <p:spPr>
          <a:xfrm>
            <a:off x="6126480" y="2788920"/>
            <a:ext cx="2377440" cy="274320"/>
          </a:xfrm>
          <a:prstGeom prst="rect">
            <a:avLst/>
          </a:prstGeom>
          <a:noFill/>
          <a:ln/>
        </p:spPr>
        <p:txBody>
          <a:bodyPr wrap="square" lIns="0" tIns="0" rIns="0" bIns="0" rtlCol="0" anchor="t"/>
          <a:lstStyle/>
          <a:p>
            <a:pPr indent="0" marL="0">
              <a:buNone/>
            </a:pPr>
            <a:r>
              <a:rPr lang="en-US" sz="1600" b="1" dirty="0">
                <a:solidFill>
                  <a:schemeClr val="tx1"/>
                </a:solidFill>
              </a:rPr>
              <a:t>Gửi báo giá</a:t>
            </a:r>
            <a:endParaRPr lang="en-US" sz="1600" dirty="0"/>
          </a:p>
        </p:txBody>
      </p:sp>
      <p:sp>
        <p:nvSpPr>
          <p:cNvPr id="13" name="text-10"/>
          <p:cNvSpPr txBox="1"/>
          <p:nvPr/>
        </p:nvSpPr>
        <p:spPr>
          <a:xfrm>
            <a:off x="6126480" y="3090672"/>
            <a:ext cx="2377440" cy="274320"/>
          </a:xfrm>
          <a:prstGeom prst="rect">
            <a:avLst/>
          </a:prstGeom>
          <a:noFill/>
          <a:ln/>
        </p:spPr>
        <p:txBody>
          <a:bodyPr wrap="square" lIns="0" tIns="0" rIns="0" bIns="0" rtlCol="0" anchor="t"/>
          <a:lstStyle/>
          <a:p>
            <a:pPr indent="0" marL="0">
              <a:buNone/>
            </a:pPr>
            <a:r>
              <a:rPr lang="en-US" sz="1200" dirty="0">
                <a:solidFill>
                  <a:schemeClr val="tx2"/>
                </a:solidFill>
              </a:rPr>
              <a:t>Lan · 17:00 Thứ 6 · Ưu tiên cao</a:t>
            </a:r>
            <a:endParaRPr lang="en-US" sz="1200" dirty="0"/>
          </a:p>
        </p:txBody>
      </p:sp>
      <p:sp>
        <p:nvSpPr>
          <p:cNvPr id="14" name="pill-11"/>
          <p:cNvSpPr/>
          <p:nvPr/>
        </p:nvSpPr>
        <p:spPr>
          <a:xfrm>
            <a:off x="5486400" y="3611880"/>
            <a:ext cx="1554480" cy="329184"/>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Đã lên lịch nhắc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1"/>
                </a:solidFill>
              </a:rPr>
              <a:t>Việc giao qua Zalo đang bị trôi mất</a:t>
            </a:r>
            <a:endParaRPr lang="en-US" sz="2600" dirty="0"/>
          </a:p>
        </p:txBody>
      </p:sp>
      <p:sp>
        <p:nvSpPr>
          <p:cNvPr id="3" name="card-12"/>
          <p:cNvSpPr/>
          <p:nvPr/>
        </p:nvSpPr>
        <p:spPr>
          <a:xfrm>
            <a:off x="457200" y="1097280"/>
            <a:ext cx="3566160" cy="3429000"/>
          </a:xfrm>
          <a:prstGeom prst="roundRect">
            <a:avLst>
              <a:gd name="adj" fmla="val 3200"/>
            </a:avLst>
          </a:prstGeom>
          <a:solidFill>
            <a:schemeClr val="bg1"/>
          </a:solidFill>
          <a:ln/>
          <a:effectLst>
            <a:outerShdw sx="100000" sy="100000" kx="0" ky="0" algn="bl" rotWithShape="0" blurRad="101600" dist="25400" dir="5400000">
              <a:srgbClr val="0B1F4B">
                <a:alpha val="12000"/>
              </a:srgbClr>
            </a:outerShdw>
          </a:effectLst>
        </p:spPr>
      </p:sp>
      <p:sp>
        <p:nvSpPr>
          <p:cNvPr id="4" name="icon-bg-13"/>
          <p:cNvSpPr/>
          <p:nvPr/>
        </p:nvSpPr>
        <p:spPr>
          <a:xfrm>
            <a:off x="640080" y="1234440"/>
            <a:ext cx="384048" cy="384048"/>
          </a:xfrm>
          <a:prstGeom prst="ellipse">
            <a:avLst/>
          </a:prstGeom>
          <a:solidFill>
            <a:schemeClr val="tx2"/>
          </a:solidFill>
          <a:ln/>
        </p:spPr>
      </p:sp>
      <p:pic>
        <p:nvPicPr>
          <p:cNvPr id="5" name="icon-FaUsers-14" descr="preencoded.png">    </p:cNvPr>
          <p:cNvPicPr>
            <a:picLocks noChangeAspect="1"/>
          </p:cNvPicPr>
          <p:nvPr/>
        </p:nvPicPr>
        <p:blipFill>
          <a:blip r:embed="rId1"/>
          <a:stretch>
            <a:fillRect/>
          </a:stretch>
        </p:blipFill>
        <p:spPr>
          <a:xfrm>
            <a:off x="736092" y="1330452"/>
            <a:ext cx="192024" cy="192024"/>
          </a:xfrm>
          <a:prstGeom prst="rect">
            <a:avLst/>
          </a:prstGeom>
        </p:spPr>
      </p:pic>
      <p:sp>
        <p:nvSpPr>
          <p:cNvPr id="6" name="text-15"/>
          <p:cNvSpPr txBox="1"/>
          <p:nvPr/>
        </p:nvSpPr>
        <p:spPr>
          <a:xfrm>
            <a:off x="1115568" y="1243584"/>
            <a:ext cx="2103120" cy="201168"/>
          </a:xfrm>
          <a:prstGeom prst="rect">
            <a:avLst/>
          </a:prstGeom>
          <a:noFill/>
          <a:ln/>
        </p:spPr>
        <p:txBody>
          <a:bodyPr wrap="square" lIns="0" tIns="0" rIns="0" bIns="0" rtlCol="0" anchor="t"/>
          <a:lstStyle/>
          <a:p>
            <a:pPr indent="0" marL="0">
              <a:buNone/>
            </a:pPr>
            <a:r>
              <a:rPr lang="en-US" sz="1200" b="1" dirty="0">
                <a:solidFill>
                  <a:schemeClr val="tx1"/>
                </a:solidFill>
              </a:rPr>
              <a:t>Nhóm Công trình Q7</a:t>
            </a:r>
            <a:endParaRPr lang="en-US" sz="1200" dirty="0"/>
          </a:p>
        </p:txBody>
      </p:sp>
      <p:sp>
        <p:nvSpPr>
          <p:cNvPr id="7" name="text-16"/>
          <p:cNvSpPr txBox="1"/>
          <p:nvPr/>
        </p:nvSpPr>
        <p:spPr>
          <a:xfrm>
            <a:off x="1115568" y="1444752"/>
            <a:ext cx="2103120" cy="182880"/>
          </a:xfrm>
          <a:prstGeom prst="rect">
            <a:avLst/>
          </a:prstGeom>
          <a:noFill/>
          <a:ln/>
        </p:spPr>
        <p:txBody>
          <a:bodyPr wrap="square" lIns="0" tIns="0" rIns="0" bIns="0" rtlCol="0" anchor="t"/>
          <a:lstStyle/>
          <a:p>
            <a:pPr indent="0" marL="0">
              <a:buNone/>
            </a:pPr>
            <a:r>
              <a:rPr lang="en-US" sz="1000" dirty="0">
                <a:solidFill>
                  <a:schemeClr val="tx2"/>
                </a:solidFill>
              </a:rPr>
              <a:t>99+ tin chưa đọc</a:t>
            </a:r>
            <a:endParaRPr lang="en-US" sz="1000" dirty="0"/>
          </a:p>
        </p:txBody>
      </p:sp>
      <p:sp>
        <p:nvSpPr>
          <p:cNvPr id="8" name="bubble-17"/>
          <p:cNvSpPr/>
          <p:nvPr/>
        </p:nvSpPr>
        <p:spPr>
          <a:xfrm>
            <a:off x="640080" y="1783080"/>
            <a:ext cx="1097280" cy="292608"/>
          </a:xfrm>
          <a:prstGeom prst="roundRect">
            <a:avLst>
              <a:gd name="adj" fmla="val 31250"/>
            </a:avLst>
          </a:prstGeom>
          <a:solidFill>
            <a:schemeClr val="bg2"/>
          </a:solidFill>
          <a:ln/>
        </p:spPr>
        <p:txBody>
          <a:bodyPr wrap="square" lIns="63500" tIns="63500" rIns="63500" bIns="63500" rtlCol="0" anchor="ctr"/>
          <a:lstStyle/>
          <a:p>
            <a:pPr indent="0" marL="0">
              <a:buNone/>
            </a:pPr>
            <a:r>
              <a:rPr lang="en-US" sz="1100" dirty="0">
                <a:solidFill>
                  <a:schemeClr val="tx1"/>
                </a:solidFill>
              </a:rPr>
              <a:t>ok anh</a:t>
            </a:r>
            <a:endParaRPr lang="en-US" sz="1100" dirty="0"/>
          </a:p>
        </p:txBody>
      </p:sp>
      <p:sp>
        <p:nvSpPr>
          <p:cNvPr id="9" name="bubble-18"/>
          <p:cNvSpPr/>
          <p:nvPr/>
        </p:nvSpPr>
        <p:spPr>
          <a:xfrm>
            <a:off x="2743200" y="2167128"/>
            <a:ext cx="1097280" cy="292608"/>
          </a:xfrm>
          <a:prstGeom prst="roundRect">
            <a:avLst>
              <a:gd name="adj" fmla="val 31250"/>
            </a:avLst>
          </a:prstGeom>
          <a:solidFill>
            <a:schemeClr val="bg2"/>
          </a:solidFill>
          <a:ln/>
        </p:spPr>
        <p:txBody>
          <a:bodyPr wrap="square" lIns="63500" tIns="63500" rIns="63500" bIns="63500" rtlCol="0" anchor="ctr"/>
          <a:lstStyle/>
          <a:p>
            <a:pPr indent="0" marL="0">
              <a:buNone/>
            </a:pPr>
            <a:r>
              <a:rPr lang="en-US" sz="1100" dirty="0">
                <a:solidFill>
                  <a:schemeClr val="tx1"/>
                </a:solidFill>
              </a:rPr>
              <a:t>haha</a:t>
            </a:r>
            <a:endParaRPr lang="en-US" sz="1100" dirty="0"/>
          </a:p>
        </p:txBody>
      </p:sp>
      <p:sp>
        <p:nvSpPr>
          <p:cNvPr id="10" name="bubble-19"/>
          <p:cNvSpPr/>
          <p:nvPr/>
        </p:nvSpPr>
        <p:spPr>
          <a:xfrm>
            <a:off x="640080" y="2551176"/>
            <a:ext cx="1097280" cy="292608"/>
          </a:xfrm>
          <a:prstGeom prst="roundRect">
            <a:avLst>
              <a:gd name="adj" fmla="val 31250"/>
            </a:avLst>
          </a:prstGeom>
          <a:solidFill>
            <a:schemeClr val="bg2"/>
          </a:solidFill>
          <a:ln/>
        </p:spPr>
        <p:txBody>
          <a:bodyPr wrap="square" lIns="63500" tIns="63500" rIns="63500" bIns="63500" rtlCol="0" anchor="ctr"/>
          <a:lstStyle/>
          <a:p>
            <a:pPr indent="0" marL="0">
              <a:buNone/>
            </a:pPr>
            <a:r>
              <a:rPr lang="en-US" sz="1100" dirty="0">
                <a:solidFill>
                  <a:schemeClr val="tx1"/>
                </a:solidFill>
              </a:rPr>
              <a:t>[Sticker]</a:t>
            </a:r>
            <a:endParaRPr lang="en-US" sz="1100" dirty="0"/>
          </a:p>
        </p:txBody>
      </p:sp>
      <p:sp>
        <p:nvSpPr>
          <p:cNvPr id="11" name="bubble-20"/>
          <p:cNvSpPr/>
          <p:nvPr/>
        </p:nvSpPr>
        <p:spPr>
          <a:xfrm>
            <a:off x="1371600" y="2935224"/>
            <a:ext cx="2468880" cy="502920"/>
          </a:xfrm>
          <a:prstGeom prst="roundRect">
            <a:avLst>
              <a:gd name="adj" fmla="val 18182"/>
            </a:avLst>
          </a:prstGeom>
          <a:solidFill>
            <a:srgbClr val="FFE9DC"/>
          </a:solidFill>
          <a:ln w="19050">
            <a:solidFill>
              <a:schemeClr val="accent2"/>
            </a:solidFill>
          </a:ln>
        </p:spPr>
        <p:txBody>
          <a:bodyPr wrap="square" lIns="63500" tIns="63500" rIns="63500" bIns="63500" rtlCol="0" anchor="ctr"/>
          <a:lstStyle/>
          <a:p>
            <a:pPr indent="0" marL="0">
              <a:buNone/>
            </a:pPr>
            <a:r>
              <a:rPr lang="en-US" sz="1100" dirty="0">
                <a:solidFill>
                  <a:schemeClr val="tx1"/>
                </a:solidFill>
              </a:rPr>
              <a:t>Mai 9h họp chủ đầu tư, Lan chuẩn bị hồ sơ nhé</a:t>
            </a:r>
            <a:endParaRPr lang="en-US" sz="1100" dirty="0"/>
          </a:p>
        </p:txBody>
      </p:sp>
      <p:sp>
        <p:nvSpPr>
          <p:cNvPr id="12" name="bubble-21"/>
          <p:cNvSpPr/>
          <p:nvPr/>
        </p:nvSpPr>
        <p:spPr>
          <a:xfrm>
            <a:off x="640080" y="3529584"/>
            <a:ext cx="1097280" cy="292608"/>
          </a:xfrm>
          <a:prstGeom prst="roundRect">
            <a:avLst>
              <a:gd name="adj" fmla="val 31250"/>
            </a:avLst>
          </a:prstGeom>
          <a:solidFill>
            <a:schemeClr val="bg2"/>
          </a:solidFill>
          <a:ln/>
        </p:spPr>
        <p:txBody>
          <a:bodyPr wrap="square" lIns="63500" tIns="63500" rIns="63500" bIns="63500" rtlCol="0" anchor="ctr"/>
          <a:lstStyle/>
          <a:p>
            <a:pPr indent="0" marL="0">
              <a:buNone/>
            </a:pPr>
            <a:r>
              <a:rPr lang="en-US" sz="1100" dirty="0">
                <a:solidFill>
                  <a:schemeClr val="tx1"/>
                </a:solidFill>
              </a:rPr>
              <a:t>đã nhận</a:t>
            </a:r>
            <a:endParaRPr lang="en-US" sz="1100" dirty="0"/>
          </a:p>
        </p:txBody>
      </p:sp>
      <p:sp>
        <p:nvSpPr>
          <p:cNvPr id="13" name="bubble-22"/>
          <p:cNvSpPr/>
          <p:nvPr/>
        </p:nvSpPr>
        <p:spPr>
          <a:xfrm>
            <a:off x="640080" y="3913632"/>
            <a:ext cx="1097280" cy="292608"/>
          </a:xfrm>
          <a:prstGeom prst="roundRect">
            <a:avLst>
              <a:gd name="adj" fmla="val 31250"/>
            </a:avLst>
          </a:prstGeom>
          <a:solidFill>
            <a:schemeClr val="bg2"/>
          </a:solidFill>
          <a:ln/>
        </p:spPr>
        <p:txBody>
          <a:bodyPr wrap="square" lIns="63500" tIns="63500" rIns="63500" bIns="63500" rtlCol="0" anchor="ctr"/>
          <a:lstStyle/>
          <a:p>
            <a:pPr indent="0" marL="0">
              <a:buNone/>
            </a:pPr>
            <a:r>
              <a:rPr lang="en-US" sz="1100" dirty="0">
                <a:solidFill>
                  <a:schemeClr val="tx1"/>
                </a:solidFill>
              </a:rPr>
              <a:t>[Hình ảnh]</a:t>
            </a:r>
            <a:endParaRPr lang="en-US" sz="1100" dirty="0"/>
          </a:p>
        </p:txBody>
      </p:sp>
      <p:sp>
        <p:nvSpPr>
          <p:cNvPr id="14" name="text-23"/>
          <p:cNvSpPr txBox="1"/>
          <p:nvPr/>
        </p:nvSpPr>
        <p:spPr>
          <a:xfrm>
            <a:off x="640080" y="4206240"/>
            <a:ext cx="3200400" cy="274320"/>
          </a:xfrm>
          <a:prstGeom prst="rect">
            <a:avLst/>
          </a:prstGeom>
          <a:noFill/>
          <a:ln/>
        </p:spPr>
        <p:txBody>
          <a:bodyPr wrap="square" lIns="0" tIns="0" rIns="0" bIns="0" rtlCol="0" anchor="t"/>
          <a:lstStyle/>
          <a:p>
            <a:pPr indent="0" marL="0">
              <a:buNone/>
            </a:pPr>
            <a:r>
              <a:rPr lang="en-US" sz="1100" i="1" dirty="0">
                <a:solidFill>
                  <a:schemeClr val="accent2"/>
                </a:solidFill>
              </a:rPr>
              <a:t>Việc quan trọng bị chìm giữa tin nhắn phiếm</a:t>
            </a:r>
            <a:endParaRPr lang="en-US" sz="1100" dirty="0"/>
          </a:p>
        </p:txBody>
      </p:sp>
      <p:sp>
        <p:nvSpPr>
          <p:cNvPr id="15" name="icon-bg-24"/>
          <p:cNvSpPr/>
          <p:nvPr/>
        </p:nvSpPr>
        <p:spPr>
          <a:xfrm>
            <a:off x="4480560" y="1234440"/>
            <a:ext cx="685800" cy="685800"/>
          </a:xfrm>
          <a:prstGeom prst="ellipse">
            <a:avLst/>
          </a:prstGeom>
          <a:solidFill>
            <a:schemeClr val="accent2"/>
          </a:solidFill>
          <a:ln/>
        </p:spPr>
      </p:sp>
      <p:pic>
        <p:nvPicPr>
          <p:cNvPr id="16" name="icon-FaComments-25" descr="preencoded.png">    </p:cNvPr>
          <p:cNvPicPr>
            <a:picLocks noChangeAspect="1"/>
          </p:cNvPicPr>
          <p:nvPr/>
        </p:nvPicPr>
        <p:blipFill>
          <a:blip r:embed="rId2"/>
          <a:stretch>
            <a:fillRect/>
          </a:stretch>
        </p:blipFill>
        <p:spPr>
          <a:xfrm>
            <a:off x="4652010" y="1405890"/>
            <a:ext cx="342900" cy="342900"/>
          </a:xfrm>
          <a:prstGeom prst="rect">
            <a:avLst/>
          </a:prstGeom>
        </p:spPr>
      </p:pic>
      <p:sp>
        <p:nvSpPr>
          <p:cNvPr id="17" name="text-26"/>
          <p:cNvSpPr txBox="1"/>
          <p:nvPr/>
        </p:nvSpPr>
        <p:spPr>
          <a:xfrm>
            <a:off x="5349240" y="1252728"/>
            <a:ext cx="3337560" cy="320040"/>
          </a:xfrm>
          <a:prstGeom prst="rect">
            <a:avLst/>
          </a:prstGeom>
          <a:noFill/>
          <a:ln/>
        </p:spPr>
        <p:txBody>
          <a:bodyPr wrap="square" lIns="0" tIns="0" rIns="0" bIns="0" rtlCol="0" anchor="t"/>
          <a:lstStyle/>
          <a:p>
            <a:pPr indent="0" marL="0">
              <a:buNone/>
            </a:pPr>
            <a:r>
              <a:rPr lang="en-US" sz="1600" b="1" dirty="0">
                <a:solidFill>
                  <a:schemeClr val="tx1"/>
                </a:solidFill>
              </a:rPr>
              <a:t>Việc lẫn trong hàng trăm tin nhắn</a:t>
            </a:r>
            <a:endParaRPr lang="en-US" sz="1600" dirty="0"/>
          </a:p>
        </p:txBody>
      </p:sp>
      <p:sp>
        <p:nvSpPr>
          <p:cNvPr id="18" name="text-27"/>
          <p:cNvSpPr txBox="1"/>
          <p:nvPr/>
        </p:nvSpPr>
        <p:spPr>
          <a:xfrm>
            <a:off x="5349240" y="1600200"/>
            <a:ext cx="3337560" cy="320040"/>
          </a:xfrm>
          <a:prstGeom prst="rect">
            <a:avLst/>
          </a:prstGeom>
          <a:noFill/>
          <a:ln/>
        </p:spPr>
        <p:txBody>
          <a:bodyPr wrap="square" lIns="0" tIns="0" rIns="0" bIns="0" rtlCol="0" anchor="t"/>
          <a:lstStyle/>
          <a:p>
            <a:pPr indent="0" marL="0">
              <a:buNone/>
            </a:pPr>
            <a:r>
              <a:rPr lang="en-US" sz="1400" dirty="0">
                <a:solidFill>
                  <a:schemeClr val="tx2"/>
                </a:solidFill>
              </a:rPr>
              <a:t>Kéo lên tìm lại mất thời gian, dễ bỏ sót.</a:t>
            </a:r>
            <a:endParaRPr lang="en-US" sz="1400" dirty="0"/>
          </a:p>
        </p:txBody>
      </p:sp>
      <p:sp>
        <p:nvSpPr>
          <p:cNvPr id="19" name="icon-bg-28"/>
          <p:cNvSpPr/>
          <p:nvPr/>
        </p:nvSpPr>
        <p:spPr>
          <a:xfrm>
            <a:off x="4480560" y="2331720"/>
            <a:ext cx="685800" cy="685800"/>
          </a:xfrm>
          <a:prstGeom prst="ellipse">
            <a:avLst/>
          </a:prstGeom>
          <a:solidFill>
            <a:schemeClr val="accent4"/>
          </a:solidFill>
          <a:ln/>
        </p:spPr>
      </p:sp>
      <p:pic>
        <p:nvPicPr>
          <p:cNvPr id="20" name="icon-FaClock-29" descr="preencoded.png">    </p:cNvPr>
          <p:cNvPicPr>
            <a:picLocks noChangeAspect="1"/>
          </p:cNvPicPr>
          <p:nvPr/>
        </p:nvPicPr>
        <p:blipFill>
          <a:blip r:embed="rId3"/>
          <a:stretch>
            <a:fillRect/>
          </a:stretch>
        </p:blipFill>
        <p:spPr>
          <a:xfrm>
            <a:off x="4652010" y="2503170"/>
            <a:ext cx="342900" cy="342900"/>
          </a:xfrm>
          <a:prstGeom prst="rect">
            <a:avLst/>
          </a:prstGeom>
        </p:spPr>
      </p:pic>
      <p:sp>
        <p:nvSpPr>
          <p:cNvPr id="21" name="text-30"/>
          <p:cNvSpPr txBox="1"/>
          <p:nvPr/>
        </p:nvSpPr>
        <p:spPr>
          <a:xfrm>
            <a:off x="5349240" y="2350008"/>
            <a:ext cx="3337560" cy="320040"/>
          </a:xfrm>
          <a:prstGeom prst="rect">
            <a:avLst/>
          </a:prstGeom>
          <a:noFill/>
          <a:ln/>
        </p:spPr>
        <p:txBody>
          <a:bodyPr wrap="square" lIns="0" tIns="0" rIns="0" bIns="0" rtlCol="0" anchor="t"/>
          <a:lstStyle/>
          <a:p>
            <a:pPr indent="0" marL="0">
              <a:buNone/>
            </a:pPr>
            <a:r>
              <a:rPr lang="en-US" sz="1600" b="1" dirty="0">
                <a:solidFill>
                  <a:schemeClr val="tx1"/>
                </a:solidFill>
              </a:rPr>
              <a:t>Không ai theo dõi hạn chót</a:t>
            </a:r>
            <a:endParaRPr lang="en-US" sz="1600" dirty="0"/>
          </a:p>
        </p:txBody>
      </p:sp>
      <p:sp>
        <p:nvSpPr>
          <p:cNvPr id="22" name="text-31"/>
          <p:cNvSpPr txBox="1"/>
          <p:nvPr/>
        </p:nvSpPr>
        <p:spPr>
          <a:xfrm>
            <a:off x="5349240" y="2697480"/>
            <a:ext cx="3337560" cy="320040"/>
          </a:xfrm>
          <a:prstGeom prst="rect">
            <a:avLst/>
          </a:prstGeom>
          <a:noFill/>
          <a:ln/>
        </p:spPr>
        <p:txBody>
          <a:bodyPr wrap="square" lIns="0" tIns="0" rIns="0" bIns="0" rtlCol="0" anchor="t"/>
          <a:lstStyle/>
          <a:p>
            <a:pPr indent="0" marL="0">
              <a:buNone/>
            </a:pPr>
            <a:r>
              <a:rPr lang="en-US" sz="1400" dirty="0">
                <a:solidFill>
                  <a:schemeClr val="tx2"/>
                </a:solidFill>
              </a:rPr>
              <a:t>Đến hạn mới nhớ, hoặc quên luôn.</a:t>
            </a:r>
            <a:endParaRPr lang="en-US" sz="1400" dirty="0"/>
          </a:p>
        </p:txBody>
      </p:sp>
      <p:sp>
        <p:nvSpPr>
          <p:cNvPr id="23" name="icon-bg-32"/>
          <p:cNvSpPr/>
          <p:nvPr/>
        </p:nvSpPr>
        <p:spPr>
          <a:xfrm>
            <a:off x="4480560" y="3429000"/>
            <a:ext cx="685800" cy="685800"/>
          </a:xfrm>
          <a:prstGeom prst="ellipse">
            <a:avLst/>
          </a:prstGeom>
          <a:solidFill>
            <a:schemeClr val="tx2"/>
          </a:solidFill>
          <a:ln/>
        </p:spPr>
      </p:sp>
      <p:pic>
        <p:nvPicPr>
          <p:cNvPr id="24" name="icon-FaTable-33" descr="preencoded.png">    </p:cNvPr>
          <p:cNvPicPr>
            <a:picLocks noChangeAspect="1"/>
          </p:cNvPicPr>
          <p:nvPr/>
        </p:nvPicPr>
        <p:blipFill>
          <a:blip r:embed="rId4"/>
          <a:stretch>
            <a:fillRect/>
          </a:stretch>
        </p:blipFill>
        <p:spPr>
          <a:xfrm>
            <a:off x="4652010" y="3600450"/>
            <a:ext cx="342900" cy="342900"/>
          </a:xfrm>
          <a:prstGeom prst="rect">
            <a:avLst/>
          </a:prstGeom>
        </p:spPr>
      </p:pic>
      <p:sp>
        <p:nvSpPr>
          <p:cNvPr id="25" name="text-34"/>
          <p:cNvSpPr txBox="1"/>
          <p:nvPr/>
        </p:nvSpPr>
        <p:spPr>
          <a:xfrm>
            <a:off x="5349240" y="3447288"/>
            <a:ext cx="3337560" cy="320040"/>
          </a:xfrm>
          <a:prstGeom prst="rect">
            <a:avLst/>
          </a:prstGeom>
          <a:noFill/>
          <a:ln/>
        </p:spPr>
        <p:txBody>
          <a:bodyPr wrap="square" lIns="0" tIns="0" rIns="0" bIns="0" rtlCol="0" anchor="t"/>
          <a:lstStyle/>
          <a:p>
            <a:pPr indent="0" marL="0">
              <a:buNone/>
            </a:pPr>
            <a:r>
              <a:rPr lang="en-US" sz="1600" b="1" dirty="0">
                <a:solidFill>
                  <a:schemeClr val="tx1"/>
                </a:solidFill>
              </a:rPr>
              <a:t>Phần mềm quản lý thì phải nhập lại</a:t>
            </a:r>
            <a:endParaRPr lang="en-US" sz="1600" dirty="0"/>
          </a:p>
        </p:txBody>
      </p:sp>
      <p:sp>
        <p:nvSpPr>
          <p:cNvPr id="26" name="text-35"/>
          <p:cNvSpPr txBox="1"/>
          <p:nvPr/>
        </p:nvSpPr>
        <p:spPr>
          <a:xfrm>
            <a:off x="5349240" y="3794760"/>
            <a:ext cx="3337560" cy="320040"/>
          </a:xfrm>
          <a:prstGeom prst="rect">
            <a:avLst/>
          </a:prstGeom>
          <a:noFill/>
          <a:ln/>
        </p:spPr>
        <p:txBody>
          <a:bodyPr wrap="square" lIns="0" tIns="0" rIns="0" bIns="0" rtlCol="0" anchor="t"/>
          <a:lstStyle/>
          <a:p>
            <a:pPr indent="0" marL="0">
              <a:buNone/>
            </a:pPr>
            <a:r>
              <a:rPr lang="en-US" sz="1400" dirty="0">
                <a:solidFill>
                  <a:schemeClr val="tx2"/>
                </a:solidFill>
              </a:rPr>
              <a:t>Thêm việc nên đội nhỏ bỏ không dùng.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1"/>
                </a:solidFill>
              </a:rPr>
              <a:t>Vẫn nhắn Zalo như cũ, app lo phần còn lại</a:t>
            </a:r>
            <a:endParaRPr lang="en-US" sz="2600" dirty="0"/>
          </a:p>
        </p:txBody>
      </p:sp>
      <p:sp>
        <p:nvSpPr>
          <p:cNvPr id="3" name="icon-bg-36"/>
          <p:cNvSpPr/>
          <p:nvPr/>
        </p:nvSpPr>
        <p:spPr>
          <a:xfrm>
            <a:off x="914400" y="1188720"/>
            <a:ext cx="914400" cy="914400"/>
          </a:xfrm>
          <a:prstGeom prst="ellipse">
            <a:avLst/>
          </a:prstGeom>
          <a:solidFill>
            <a:schemeClr val="accent1"/>
          </a:solidFill>
          <a:ln/>
        </p:spPr>
      </p:sp>
      <p:pic>
        <p:nvPicPr>
          <p:cNvPr id="4" name="icon-FaShare-37" descr="preencoded.png">    </p:cNvPr>
          <p:cNvPicPr>
            <a:picLocks noChangeAspect="1"/>
          </p:cNvPicPr>
          <p:nvPr/>
        </p:nvPicPr>
        <p:blipFill>
          <a:blip r:embed="rId1"/>
          <a:stretch>
            <a:fillRect/>
          </a:stretch>
        </p:blipFill>
        <p:spPr>
          <a:xfrm>
            <a:off x="1143000" y="1417320"/>
            <a:ext cx="457200" cy="457200"/>
          </a:xfrm>
          <a:prstGeom prst="rect">
            <a:avLst/>
          </a:prstGeom>
        </p:spPr>
      </p:pic>
      <p:sp>
        <p:nvSpPr>
          <p:cNvPr id="5" name="pill-38"/>
          <p:cNvSpPr/>
          <p:nvPr/>
        </p:nvSpPr>
        <p:spPr>
          <a:xfrm>
            <a:off x="1645920" y="1143000"/>
            <a:ext cx="292608" cy="292608"/>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39"/>
          <p:cNvSpPr txBox="1"/>
          <p:nvPr/>
        </p:nvSpPr>
        <p:spPr>
          <a:xfrm>
            <a:off x="457200" y="2286000"/>
            <a:ext cx="1828800" cy="365760"/>
          </a:xfrm>
          <a:prstGeom prst="rect">
            <a:avLst/>
          </a:prstGeom>
          <a:noFill/>
          <a:ln/>
        </p:spPr>
        <p:txBody>
          <a:bodyPr wrap="square" lIns="0" tIns="0" rIns="0" bIns="0" rtlCol="0" anchor="t"/>
          <a:lstStyle/>
          <a:p>
            <a:pPr algn="ctr" indent="0" marL="0">
              <a:buNone/>
            </a:pPr>
            <a:r>
              <a:rPr lang="en-US" sz="1700" b="1" dirty="0">
                <a:solidFill>
                  <a:schemeClr val="tx1"/>
                </a:solidFill>
              </a:rPr>
              <a:t>Nhắn cho bot</a:t>
            </a:r>
            <a:endParaRPr lang="en-US" sz="1700" dirty="0"/>
          </a:p>
        </p:txBody>
      </p:sp>
      <p:sp>
        <p:nvSpPr>
          <p:cNvPr id="7" name="text-40"/>
          <p:cNvSpPr txBox="1"/>
          <p:nvPr/>
        </p:nvSpPr>
        <p:spPr>
          <a:xfrm>
            <a:off x="457200" y="2670048"/>
            <a:ext cx="1828800" cy="822960"/>
          </a:xfrm>
          <a:prstGeom prst="rect">
            <a:avLst/>
          </a:prstGeom>
          <a:noFill/>
          <a:ln/>
        </p:spPr>
        <p:txBody>
          <a:bodyPr wrap="square" lIns="0" tIns="0" rIns="0" bIns="0" rtlCol="0" anchor="t"/>
          <a:lstStyle/>
          <a:p>
            <a:pPr algn="ctr" indent="0" marL="0">
              <a:buNone/>
            </a:pPr>
            <a:r>
              <a:rPr lang="en-US" sz="1400" dirty="0">
                <a:solidFill>
                  <a:schemeClr val="tx2"/>
                </a:solidFill>
              </a:rPr>
              <a:t>Chuyển tiếp tin giao việc, dán chữ hoặc gửi ảnh chụp.</a:t>
            </a:r>
            <a:endParaRPr lang="en-US" sz="1400" dirty="0"/>
          </a:p>
        </p:txBody>
      </p:sp>
      <p:sp>
        <p:nvSpPr>
          <p:cNvPr id="8" name="arrow-41"/>
          <p:cNvSpPr/>
          <p:nvPr/>
        </p:nvSpPr>
        <p:spPr>
          <a:xfrm>
            <a:off x="1938528" y="1645920"/>
            <a:ext cx="1005840" cy="0"/>
          </a:xfrm>
          <a:prstGeom prst="line">
            <a:avLst/>
          </a:prstGeom>
          <a:noFill/>
          <a:ln w="25400">
            <a:solidFill>
              <a:schemeClr val="tx2"/>
            </a:solidFill>
            <a:prstDash val="solid"/>
            <a:tailEnd type="triangle"/>
          </a:ln>
        </p:spPr>
      </p:sp>
      <p:sp>
        <p:nvSpPr>
          <p:cNvPr id="9" name="icon-bg-42"/>
          <p:cNvSpPr/>
          <p:nvPr/>
        </p:nvSpPr>
        <p:spPr>
          <a:xfrm>
            <a:off x="3044952" y="1188720"/>
            <a:ext cx="914400" cy="914400"/>
          </a:xfrm>
          <a:prstGeom prst="ellipse">
            <a:avLst/>
          </a:prstGeom>
          <a:solidFill>
            <a:schemeClr val="accent5"/>
          </a:solidFill>
          <a:ln/>
        </p:spPr>
      </p:sp>
      <p:pic>
        <p:nvPicPr>
          <p:cNvPr id="10" name="icon-FaRobot-43" descr="preencoded.png">    </p:cNvPr>
          <p:cNvPicPr>
            <a:picLocks noChangeAspect="1"/>
          </p:cNvPicPr>
          <p:nvPr/>
        </p:nvPicPr>
        <p:blipFill>
          <a:blip r:embed="rId2"/>
          <a:stretch>
            <a:fillRect/>
          </a:stretch>
        </p:blipFill>
        <p:spPr>
          <a:xfrm>
            <a:off x="3273552" y="1417320"/>
            <a:ext cx="457200" cy="457200"/>
          </a:xfrm>
          <a:prstGeom prst="rect">
            <a:avLst/>
          </a:prstGeom>
        </p:spPr>
      </p:pic>
      <p:sp>
        <p:nvSpPr>
          <p:cNvPr id="11" name="pill-44"/>
          <p:cNvSpPr/>
          <p:nvPr/>
        </p:nvSpPr>
        <p:spPr>
          <a:xfrm>
            <a:off x="3776472" y="1143000"/>
            <a:ext cx="292608" cy="292608"/>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45"/>
          <p:cNvSpPr txBox="1"/>
          <p:nvPr/>
        </p:nvSpPr>
        <p:spPr>
          <a:xfrm>
            <a:off x="2587752" y="2286000"/>
            <a:ext cx="1828800" cy="365760"/>
          </a:xfrm>
          <a:prstGeom prst="rect">
            <a:avLst/>
          </a:prstGeom>
          <a:noFill/>
          <a:ln/>
        </p:spPr>
        <p:txBody>
          <a:bodyPr wrap="square" lIns="0" tIns="0" rIns="0" bIns="0" rtlCol="0" anchor="t"/>
          <a:lstStyle/>
          <a:p>
            <a:pPr algn="ctr" indent="0" marL="0">
              <a:buNone/>
            </a:pPr>
            <a:r>
              <a:rPr lang="en-US" sz="1700" b="1" dirty="0">
                <a:solidFill>
                  <a:schemeClr val="tx1"/>
                </a:solidFill>
              </a:rPr>
              <a:t>AI đọc và hiểu</a:t>
            </a:r>
            <a:endParaRPr lang="en-US" sz="1700" dirty="0"/>
          </a:p>
        </p:txBody>
      </p:sp>
      <p:sp>
        <p:nvSpPr>
          <p:cNvPr id="13" name="text-46"/>
          <p:cNvSpPr txBox="1"/>
          <p:nvPr/>
        </p:nvSpPr>
        <p:spPr>
          <a:xfrm>
            <a:off x="2587752" y="2670048"/>
            <a:ext cx="1828800" cy="822960"/>
          </a:xfrm>
          <a:prstGeom prst="rect">
            <a:avLst/>
          </a:prstGeom>
          <a:noFill/>
          <a:ln/>
        </p:spPr>
        <p:txBody>
          <a:bodyPr wrap="square" lIns="0" tIns="0" rIns="0" bIns="0" rtlCol="0" anchor="t"/>
          <a:lstStyle/>
          <a:p>
            <a:pPr algn="ctr" indent="0" marL="0">
              <a:buNone/>
            </a:pPr>
            <a:r>
              <a:rPr lang="en-US" sz="1400" dirty="0">
                <a:solidFill>
                  <a:schemeClr val="tx2"/>
                </a:solidFill>
              </a:rPr>
              <a:t>Tìm việc gì, ai làm, hạn khi nào, gấp hay không.</a:t>
            </a:r>
            <a:endParaRPr lang="en-US" sz="1400" dirty="0"/>
          </a:p>
        </p:txBody>
      </p:sp>
      <p:sp>
        <p:nvSpPr>
          <p:cNvPr id="14" name="arrow-47"/>
          <p:cNvSpPr/>
          <p:nvPr/>
        </p:nvSpPr>
        <p:spPr>
          <a:xfrm>
            <a:off x="4069080" y="1645920"/>
            <a:ext cx="1005840" cy="0"/>
          </a:xfrm>
          <a:prstGeom prst="line">
            <a:avLst/>
          </a:prstGeom>
          <a:noFill/>
          <a:ln w="25400">
            <a:solidFill>
              <a:schemeClr val="tx2"/>
            </a:solidFill>
            <a:prstDash val="solid"/>
            <a:tailEnd type="triangle"/>
          </a:ln>
        </p:spPr>
      </p:sp>
      <p:sp>
        <p:nvSpPr>
          <p:cNvPr id="15" name="icon-bg-48"/>
          <p:cNvSpPr/>
          <p:nvPr/>
        </p:nvSpPr>
        <p:spPr>
          <a:xfrm>
            <a:off x="5175504" y="1188720"/>
            <a:ext cx="914400" cy="914400"/>
          </a:xfrm>
          <a:prstGeom prst="ellipse">
            <a:avLst/>
          </a:prstGeom>
          <a:solidFill>
            <a:schemeClr val="accent3"/>
          </a:solidFill>
          <a:ln/>
        </p:spPr>
      </p:sp>
      <p:pic>
        <p:nvPicPr>
          <p:cNvPr id="16" name="icon-FaClipboardCheck-49" descr="preencoded.png">    </p:cNvPr>
          <p:cNvPicPr>
            <a:picLocks noChangeAspect="1"/>
          </p:cNvPicPr>
          <p:nvPr/>
        </p:nvPicPr>
        <p:blipFill>
          <a:blip r:embed="rId3"/>
          <a:stretch>
            <a:fillRect/>
          </a:stretch>
        </p:blipFill>
        <p:spPr>
          <a:xfrm>
            <a:off x="5404104" y="1417320"/>
            <a:ext cx="457200" cy="457200"/>
          </a:xfrm>
          <a:prstGeom prst="rect">
            <a:avLst/>
          </a:prstGeom>
        </p:spPr>
      </p:pic>
      <p:sp>
        <p:nvSpPr>
          <p:cNvPr id="17" name="pill-50"/>
          <p:cNvSpPr/>
          <p:nvPr/>
        </p:nvSpPr>
        <p:spPr>
          <a:xfrm>
            <a:off x="5907024" y="1143000"/>
            <a:ext cx="292608" cy="292608"/>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8" name="text-51"/>
          <p:cNvSpPr txBox="1"/>
          <p:nvPr/>
        </p:nvSpPr>
        <p:spPr>
          <a:xfrm>
            <a:off x="4718304" y="2286000"/>
            <a:ext cx="1828800" cy="365760"/>
          </a:xfrm>
          <a:prstGeom prst="rect">
            <a:avLst/>
          </a:prstGeom>
          <a:noFill/>
          <a:ln/>
        </p:spPr>
        <p:txBody>
          <a:bodyPr wrap="square" lIns="0" tIns="0" rIns="0" bIns="0" rtlCol="0" anchor="t"/>
          <a:lstStyle/>
          <a:p>
            <a:pPr algn="ctr" indent="0" marL="0">
              <a:buNone/>
            </a:pPr>
            <a:r>
              <a:rPr lang="en-US" sz="1700" b="1" dirty="0">
                <a:solidFill>
                  <a:schemeClr val="tx1"/>
                </a:solidFill>
              </a:rPr>
              <a:t>Thành thẻ việc</a:t>
            </a:r>
            <a:endParaRPr lang="en-US" sz="1700" dirty="0"/>
          </a:p>
        </p:txBody>
      </p:sp>
      <p:sp>
        <p:nvSpPr>
          <p:cNvPr id="19" name="text-52"/>
          <p:cNvSpPr txBox="1"/>
          <p:nvPr/>
        </p:nvSpPr>
        <p:spPr>
          <a:xfrm>
            <a:off x="4718304" y="2670048"/>
            <a:ext cx="1828800" cy="822960"/>
          </a:xfrm>
          <a:prstGeom prst="rect">
            <a:avLst/>
          </a:prstGeom>
          <a:noFill/>
          <a:ln/>
        </p:spPr>
        <p:txBody>
          <a:bodyPr wrap="square" lIns="0" tIns="0" rIns="0" bIns="0" rtlCol="0" anchor="t"/>
          <a:lstStyle/>
          <a:p>
            <a:pPr algn="ctr" indent="0" marL="0">
              <a:buNone/>
            </a:pPr>
            <a:r>
              <a:rPr lang="en-US" sz="1400" dirty="0">
                <a:solidFill>
                  <a:schemeClr val="tx2"/>
                </a:solidFill>
              </a:rPr>
              <a:t>Bạn bấm Lưu, Sửa hoặc Bỏ qua.</a:t>
            </a:r>
            <a:endParaRPr lang="en-US" sz="1400" dirty="0"/>
          </a:p>
        </p:txBody>
      </p:sp>
      <p:sp>
        <p:nvSpPr>
          <p:cNvPr id="20" name="arrow-53"/>
          <p:cNvSpPr/>
          <p:nvPr/>
        </p:nvSpPr>
        <p:spPr>
          <a:xfrm>
            <a:off x="6199632" y="1645920"/>
            <a:ext cx="1005840" cy="0"/>
          </a:xfrm>
          <a:prstGeom prst="line">
            <a:avLst/>
          </a:prstGeom>
          <a:noFill/>
          <a:ln w="25400">
            <a:solidFill>
              <a:schemeClr val="tx2"/>
            </a:solidFill>
            <a:prstDash val="solid"/>
            <a:tailEnd type="triangle"/>
          </a:ln>
        </p:spPr>
      </p:sp>
      <p:sp>
        <p:nvSpPr>
          <p:cNvPr id="21" name="icon-bg-54"/>
          <p:cNvSpPr/>
          <p:nvPr/>
        </p:nvSpPr>
        <p:spPr>
          <a:xfrm>
            <a:off x="7306056" y="1188720"/>
            <a:ext cx="914400" cy="914400"/>
          </a:xfrm>
          <a:prstGeom prst="ellipse">
            <a:avLst/>
          </a:prstGeom>
          <a:solidFill>
            <a:schemeClr val="accent2"/>
          </a:solidFill>
          <a:ln/>
        </p:spPr>
      </p:sp>
      <p:pic>
        <p:nvPicPr>
          <p:cNvPr id="22" name="icon-FaBell-55" descr="preencoded.png">    </p:cNvPr>
          <p:cNvPicPr>
            <a:picLocks noChangeAspect="1"/>
          </p:cNvPicPr>
          <p:nvPr/>
        </p:nvPicPr>
        <p:blipFill>
          <a:blip r:embed="rId4"/>
          <a:stretch>
            <a:fillRect/>
          </a:stretch>
        </p:blipFill>
        <p:spPr>
          <a:xfrm>
            <a:off x="7534656" y="1417320"/>
            <a:ext cx="457200" cy="457200"/>
          </a:xfrm>
          <a:prstGeom prst="rect">
            <a:avLst/>
          </a:prstGeom>
        </p:spPr>
      </p:pic>
      <p:sp>
        <p:nvSpPr>
          <p:cNvPr id="23" name="pill-56"/>
          <p:cNvSpPr/>
          <p:nvPr/>
        </p:nvSpPr>
        <p:spPr>
          <a:xfrm>
            <a:off x="8037576" y="1143000"/>
            <a:ext cx="292608" cy="292608"/>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4" name="text-57"/>
          <p:cNvSpPr txBox="1"/>
          <p:nvPr/>
        </p:nvSpPr>
        <p:spPr>
          <a:xfrm>
            <a:off x="6848856" y="2286000"/>
            <a:ext cx="1828800" cy="365760"/>
          </a:xfrm>
          <a:prstGeom prst="rect">
            <a:avLst/>
          </a:prstGeom>
          <a:noFill/>
          <a:ln/>
        </p:spPr>
        <p:txBody>
          <a:bodyPr wrap="square" lIns="0" tIns="0" rIns="0" bIns="0" rtlCol="0" anchor="t"/>
          <a:lstStyle/>
          <a:p>
            <a:pPr algn="ctr" indent="0" marL="0">
              <a:buNone/>
            </a:pPr>
            <a:r>
              <a:rPr lang="en-US" sz="1700" b="1" dirty="0">
                <a:solidFill>
                  <a:schemeClr val="tx1"/>
                </a:solidFill>
              </a:rPr>
              <a:t>Nhắc đúng giờ</a:t>
            </a:r>
            <a:endParaRPr lang="en-US" sz="1700" dirty="0"/>
          </a:p>
        </p:txBody>
      </p:sp>
      <p:sp>
        <p:nvSpPr>
          <p:cNvPr id="25" name="text-58"/>
          <p:cNvSpPr txBox="1"/>
          <p:nvPr/>
        </p:nvSpPr>
        <p:spPr>
          <a:xfrm>
            <a:off x="6848856" y="2670048"/>
            <a:ext cx="1828800" cy="822960"/>
          </a:xfrm>
          <a:prstGeom prst="rect">
            <a:avLst/>
          </a:prstGeom>
          <a:noFill/>
          <a:ln/>
        </p:spPr>
        <p:txBody>
          <a:bodyPr wrap="square" lIns="0" tIns="0" rIns="0" bIns="0" rtlCol="0" anchor="t"/>
          <a:lstStyle/>
          <a:p>
            <a:pPr algn="ctr" indent="0" marL="0">
              <a:buNone/>
            </a:pPr>
            <a:r>
              <a:rPr lang="en-US" sz="1400" dirty="0">
                <a:solidFill>
                  <a:schemeClr val="tx2"/>
                </a:solidFill>
              </a:rPr>
              <a:t>Nhắc trước hạn và tóm tắt việc mỗi sáng.</a:t>
            </a:r>
            <a:endParaRPr lang="en-US" sz="1400" dirty="0"/>
          </a:p>
        </p:txBody>
      </p:sp>
      <p:sp>
        <p:nvSpPr>
          <p:cNvPr id="26" name="card-59"/>
          <p:cNvSpPr/>
          <p:nvPr/>
        </p:nvSpPr>
        <p:spPr>
          <a:xfrm>
            <a:off x="457200" y="3703320"/>
            <a:ext cx="8229600" cy="777240"/>
          </a:xfrm>
          <a:prstGeom prst="roundRect">
            <a:avLst>
              <a:gd name="adj" fmla="val 14118"/>
            </a:avLst>
          </a:prstGeom>
          <a:solidFill>
            <a:schemeClr val="bg1"/>
          </a:solidFill>
          <a:ln/>
          <a:effectLst>
            <a:outerShdw sx="100000" sy="100000" kx="0" ky="0" algn="bl" rotWithShape="0" blurRad="101600" dist="25400" dir="5400000">
              <a:srgbClr val="0B1F4B">
                <a:alpha val="12000"/>
              </a:srgbClr>
            </a:outerShdw>
          </a:effectLst>
        </p:spPr>
      </p:sp>
      <p:sp>
        <p:nvSpPr>
          <p:cNvPr id="27" name="icon-bg-60"/>
          <p:cNvSpPr/>
          <p:nvPr/>
        </p:nvSpPr>
        <p:spPr>
          <a:xfrm>
            <a:off x="685800" y="3840480"/>
            <a:ext cx="502920" cy="502920"/>
          </a:xfrm>
          <a:prstGeom prst="ellipse">
            <a:avLst/>
          </a:prstGeom>
          <a:solidFill>
            <a:schemeClr val="accent1"/>
          </a:solidFill>
          <a:ln/>
        </p:spPr>
      </p:sp>
      <p:pic>
        <p:nvPicPr>
          <p:cNvPr id="28" name="icon-FaHandPointer-61" descr="preencoded.png">    </p:cNvPr>
          <p:cNvPicPr>
            <a:picLocks noChangeAspect="1"/>
          </p:cNvPicPr>
          <p:nvPr/>
        </p:nvPicPr>
        <p:blipFill>
          <a:blip r:embed="rId5"/>
          <a:stretch>
            <a:fillRect/>
          </a:stretch>
        </p:blipFill>
        <p:spPr>
          <a:xfrm>
            <a:off x="811530" y="3966210"/>
            <a:ext cx="251460" cy="251460"/>
          </a:xfrm>
          <a:prstGeom prst="rect">
            <a:avLst/>
          </a:prstGeom>
        </p:spPr>
      </p:pic>
      <p:sp>
        <p:nvSpPr>
          <p:cNvPr id="29" name="text-62"/>
          <p:cNvSpPr txBox="1"/>
          <p:nvPr/>
        </p:nvSpPr>
        <p:spPr>
          <a:xfrm>
            <a:off x="1371600" y="3794760"/>
            <a:ext cx="7132320" cy="594360"/>
          </a:xfrm>
          <a:prstGeom prst="rect">
            <a:avLst/>
          </a:prstGeom>
          <a:noFill/>
          <a:ln/>
        </p:spPr>
        <p:txBody>
          <a:bodyPr wrap="square" lIns="0" tIns="0" rIns="0" bIns="0" rtlCol="0" anchor="ctr"/>
          <a:lstStyle/>
          <a:p>
            <a:pPr indent="0" marL="0">
              <a:buNone/>
            </a:pPr>
            <a:r>
              <a:rPr lang="en-US" sz="1500" b="1" dirty="0">
                <a:solidFill>
                  <a:schemeClr val="tx1"/>
                </a:solidFill>
              </a:rPr>
              <a:t>AI chỉ đề xuất, bạn quyết định. </a:t>
            </a:r>
            <a:pPr indent="0" marL="0">
              <a:buNone/>
            </a:pPr>
            <a:r>
              <a:rPr lang="en-US" sz="1500" dirty="0">
                <a:solidFill>
                  <a:schemeClr val="tx1"/>
                </a:solidFill>
              </a:rPr>
              <a:t>Không có việc nào được lưu mà bạn không biết.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1"/>
                </a:solidFill>
              </a:rPr>
              <a:t>1 tin nhắn thành 1 công việc rõ ràng</a:t>
            </a:r>
            <a:endParaRPr lang="en-US" sz="2600" dirty="0"/>
          </a:p>
        </p:txBody>
      </p:sp>
      <p:sp>
        <p:nvSpPr>
          <p:cNvPr id="3" name="text-63"/>
          <p:cNvSpPr txBox="1"/>
          <p:nvPr/>
        </p:nvSpPr>
        <p:spPr>
          <a:xfrm>
            <a:off x="457200" y="1051560"/>
            <a:ext cx="3291840" cy="228600"/>
          </a:xfrm>
          <a:prstGeom prst="rect">
            <a:avLst/>
          </a:prstGeom>
          <a:noFill/>
          <a:ln/>
        </p:spPr>
        <p:txBody>
          <a:bodyPr wrap="square" lIns="0" tIns="0" rIns="0" bIns="0" rtlCol="0" anchor="t"/>
          <a:lstStyle/>
          <a:p>
            <a:pPr indent="0" marL="0">
              <a:buNone/>
            </a:pPr>
            <a:r>
              <a:rPr lang="en-US" sz="1200" dirty="0">
                <a:solidFill>
                  <a:schemeClr val="tx2"/>
                </a:solidFill>
              </a:rPr>
              <a:t>Tin nhắn gốc trên Zalo</a:t>
            </a:r>
            <a:endParaRPr lang="en-US" sz="1200" dirty="0"/>
          </a:p>
        </p:txBody>
      </p:sp>
      <p:sp>
        <p:nvSpPr>
          <p:cNvPr id="4" name="bubble-64"/>
          <p:cNvSpPr/>
          <p:nvPr/>
        </p:nvSpPr>
        <p:spPr>
          <a:xfrm>
            <a:off x="457200" y="1325880"/>
            <a:ext cx="3291840" cy="868680"/>
          </a:xfrm>
          <a:prstGeom prst="roundRect">
            <a:avLst>
              <a:gd name="adj" fmla="val 15789"/>
            </a:avLst>
          </a:prstGeom>
          <a:solidFill>
            <a:schemeClr val="accent1"/>
          </a:solidFill>
          <a:ln/>
        </p:spPr>
        <p:txBody>
          <a:bodyPr wrap="square" lIns="127000" tIns="127000" rIns="127000" bIns="127000" rtlCol="0" anchor="ctr"/>
          <a:lstStyle/>
          <a:p>
            <a:pPr indent="0" marL="0">
              <a:buNone/>
            </a:pPr>
            <a:r>
              <a:rPr lang="en-US" sz="1500" dirty="0">
                <a:solidFill>
                  <a:schemeClr val="bg1"/>
                </a:solidFill>
              </a:rPr>
              <a:t>Lan ơi chiều thứ 6 gửi anh báo giá thép hộp Q7 nhé, gấp!</a:t>
            </a:r>
            <a:endParaRPr lang="en-US" sz="1500" dirty="0"/>
          </a:p>
        </p:txBody>
      </p:sp>
      <p:sp>
        <p:nvSpPr>
          <p:cNvPr id="5" name="text-65"/>
          <p:cNvSpPr txBox="1"/>
          <p:nvPr/>
        </p:nvSpPr>
        <p:spPr>
          <a:xfrm>
            <a:off x="457200" y="2423160"/>
            <a:ext cx="3291840" cy="274320"/>
          </a:xfrm>
          <a:prstGeom prst="rect">
            <a:avLst/>
          </a:prstGeom>
          <a:noFill/>
          <a:ln/>
        </p:spPr>
        <p:txBody>
          <a:bodyPr wrap="square" lIns="0" tIns="0" rIns="0" bIns="0" rtlCol="0" anchor="t"/>
          <a:lstStyle/>
          <a:p>
            <a:pPr indent="0" marL="0">
              <a:buNone/>
            </a:pPr>
            <a:r>
              <a:rPr lang="en-US" sz="1400" b="1" dirty="0">
                <a:solidFill>
                  <a:schemeClr val="tx1"/>
                </a:solidFill>
              </a:rPr>
              <a:t>AI hiểu được:</a:t>
            </a:r>
            <a:endParaRPr lang="en-US" sz="1400" dirty="0"/>
          </a:p>
        </p:txBody>
      </p:sp>
      <p:sp>
        <p:nvSpPr>
          <p:cNvPr id="6" name="card-66"/>
          <p:cNvSpPr/>
          <p:nvPr/>
        </p:nvSpPr>
        <p:spPr>
          <a:xfrm>
            <a:off x="457200" y="2761488"/>
            <a:ext cx="3291840" cy="438912"/>
          </a:xfrm>
          <a:prstGeom prst="roundRect">
            <a:avLst>
              <a:gd name="adj" fmla="val 25000"/>
            </a:avLst>
          </a:prstGeom>
          <a:solidFill>
            <a:schemeClr val="bg1"/>
          </a:solidFill>
          <a:ln w="15875">
            <a:solidFill>
              <a:srgbClr val="E1E7F0"/>
            </a:solidFill>
            <a:prstDash val="solid"/>
          </a:ln>
        </p:spPr>
      </p:sp>
      <p:sp>
        <p:nvSpPr>
          <p:cNvPr id="7" name="text-67"/>
          <p:cNvSpPr txBox="1"/>
          <p:nvPr/>
        </p:nvSpPr>
        <p:spPr>
          <a:xfrm>
            <a:off x="640080" y="2761488"/>
            <a:ext cx="3017520" cy="438912"/>
          </a:xfrm>
          <a:prstGeom prst="rect">
            <a:avLst/>
          </a:prstGeom>
          <a:noFill/>
          <a:ln/>
        </p:spPr>
        <p:txBody>
          <a:bodyPr wrap="square" lIns="0" tIns="0" rIns="0" bIns="0" rtlCol="0" anchor="ctr"/>
          <a:lstStyle/>
          <a:p>
            <a:pPr indent="0" marL="0">
              <a:buNone/>
            </a:pPr>
            <a:r>
              <a:rPr lang="en-US" sz="1400" dirty="0">
                <a:solidFill>
                  <a:schemeClr val="tx2"/>
                </a:solidFill>
              </a:rPr>
              <a:t>“chiều thứ 6”  →  </a:t>
            </a:r>
            <a:pPr indent="0" marL="0">
              <a:buNone/>
            </a:pPr>
            <a:r>
              <a:rPr lang="en-US" sz="1400" b="1" dirty="0">
                <a:solidFill>
                  <a:schemeClr val="tx1"/>
                </a:solidFill>
              </a:rPr>
              <a:t>17:00, 16/10</a:t>
            </a:r>
            <a:endParaRPr lang="en-US" sz="1400" dirty="0"/>
          </a:p>
        </p:txBody>
      </p:sp>
      <p:sp>
        <p:nvSpPr>
          <p:cNvPr id="8" name="card-68"/>
          <p:cNvSpPr/>
          <p:nvPr/>
        </p:nvSpPr>
        <p:spPr>
          <a:xfrm>
            <a:off x="457200" y="3310128"/>
            <a:ext cx="3291840" cy="438912"/>
          </a:xfrm>
          <a:prstGeom prst="roundRect">
            <a:avLst>
              <a:gd name="adj" fmla="val 25000"/>
            </a:avLst>
          </a:prstGeom>
          <a:solidFill>
            <a:schemeClr val="bg1"/>
          </a:solidFill>
          <a:ln w="15875">
            <a:solidFill>
              <a:srgbClr val="E1E7F0"/>
            </a:solidFill>
            <a:prstDash val="solid"/>
          </a:ln>
        </p:spPr>
      </p:sp>
      <p:sp>
        <p:nvSpPr>
          <p:cNvPr id="9" name="text-69"/>
          <p:cNvSpPr txBox="1"/>
          <p:nvPr/>
        </p:nvSpPr>
        <p:spPr>
          <a:xfrm>
            <a:off x="640080" y="3310128"/>
            <a:ext cx="3017520" cy="438912"/>
          </a:xfrm>
          <a:prstGeom prst="rect">
            <a:avLst/>
          </a:prstGeom>
          <a:noFill/>
          <a:ln/>
        </p:spPr>
        <p:txBody>
          <a:bodyPr wrap="square" lIns="0" tIns="0" rIns="0" bIns="0" rtlCol="0" anchor="ctr"/>
          <a:lstStyle/>
          <a:p>
            <a:pPr indent="0" marL="0">
              <a:buNone/>
            </a:pPr>
            <a:r>
              <a:rPr lang="en-US" sz="1400" dirty="0">
                <a:solidFill>
                  <a:schemeClr val="tx2"/>
                </a:solidFill>
              </a:rPr>
              <a:t>“gấp”  →  </a:t>
            </a:r>
            <a:pPr indent="0" marL="0">
              <a:buNone/>
            </a:pPr>
            <a:r>
              <a:rPr lang="en-US" sz="1400" b="1" dirty="0">
                <a:solidFill>
                  <a:schemeClr val="tx1"/>
                </a:solidFill>
              </a:rPr>
              <a:t>Ưu tiên cao</a:t>
            </a:r>
            <a:endParaRPr lang="en-US" sz="1400" dirty="0"/>
          </a:p>
        </p:txBody>
      </p:sp>
      <p:sp>
        <p:nvSpPr>
          <p:cNvPr id="10" name="card-70"/>
          <p:cNvSpPr/>
          <p:nvPr/>
        </p:nvSpPr>
        <p:spPr>
          <a:xfrm>
            <a:off x="457200" y="3858768"/>
            <a:ext cx="3291840" cy="438912"/>
          </a:xfrm>
          <a:prstGeom prst="roundRect">
            <a:avLst>
              <a:gd name="adj" fmla="val 25000"/>
            </a:avLst>
          </a:prstGeom>
          <a:solidFill>
            <a:schemeClr val="bg1"/>
          </a:solidFill>
          <a:ln w="15875">
            <a:solidFill>
              <a:srgbClr val="E1E7F0"/>
            </a:solidFill>
            <a:prstDash val="solid"/>
          </a:ln>
        </p:spPr>
      </p:sp>
      <p:sp>
        <p:nvSpPr>
          <p:cNvPr id="11" name="text-71"/>
          <p:cNvSpPr txBox="1"/>
          <p:nvPr/>
        </p:nvSpPr>
        <p:spPr>
          <a:xfrm>
            <a:off x="640080" y="3858768"/>
            <a:ext cx="3017520" cy="438912"/>
          </a:xfrm>
          <a:prstGeom prst="rect">
            <a:avLst/>
          </a:prstGeom>
          <a:noFill/>
          <a:ln/>
        </p:spPr>
        <p:txBody>
          <a:bodyPr wrap="square" lIns="0" tIns="0" rIns="0" bIns="0" rtlCol="0" anchor="ctr"/>
          <a:lstStyle/>
          <a:p>
            <a:pPr indent="0" marL="0">
              <a:buNone/>
            </a:pPr>
            <a:r>
              <a:rPr lang="en-US" sz="1400" dirty="0">
                <a:solidFill>
                  <a:schemeClr val="tx2"/>
                </a:solidFill>
              </a:rPr>
              <a:t>“Lan ơi”  →  </a:t>
            </a:r>
            <a:pPr indent="0" marL="0">
              <a:buNone/>
            </a:pPr>
            <a:r>
              <a:rPr lang="en-US" sz="1400" b="1" dirty="0">
                <a:solidFill>
                  <a:schemeClr val="tx1"/>
                </a:solidFill>
              </a:rPr>
              <a:t>Lan là người làm</a:t>
            </a:r>
            <a:endParaRPr lang="en-US" sz="1400" dirty="0"/>
          </a:p>
        </p:txBody>
      </p:sp>
      <p:sp>
        <p:nvSpPr>
          <p:cNvPr id="12" name="icon-bg-72"/>
          <p:cNvSpPr/>
          <p:nvPr/>
        </p:nvSpPr>
        <p:spPr>
          <a:xfrm>
            <a:off x="4023360" y="1874520"/>
            <a:ext cx="548640" cy="548640"/>
          </a:xfrm>
          <a:prstGeom prst="ellipse">
            <a:avLst/>
          </a:prstGeom>
          <a:solidFill>
            <a:schemeClr val="accent5"/>
          </a:solidFill>
          <a:ln/>
        </p:spPr>
      </p:sp>
      <p:pic>
        <p:nvPicPr>
          <p:cNvPr id="13" name="icon-FaRobot-73" descr="preencoded.png">    </p:cNvPr>
          <p:cNvPicPr>
            <a:picLocks noChangeAspect="1"/>
          </p:cNvPicPr>
          <p:nvPr/>
        </p:nvPicPr>
        <p:blipFill>
          <a:blip r:embed="rId1"/>
          <a:stretch>
            <a:fillRect/>
          </a:stretch>
        </p:blipFill>
        <p:spPr>
          <a:xfrm>
            <a:off x="4160520" y="2011680"/>
            <a:ext cx="274320" cy="274320"/>
          </a:xfrm>
          <a:prstGeom prst="rect">
            <a:avLst/>
          </a:prstGeom>
        </p:spPr>
      </p:pic>
      <p:sp>
        <p:nvSpPr>
          <p:cNvPr id="14" name="arrow-74"/>
          <p:cNvSpPr/>
          <p:nvPr/>
        </p:nvSpPr>
        <p:spPr>
          <a:xfrm>
            <a:off x="3886200" y="2697480"/>
            <a:ext cx="731520" cy="0"/>
          </a:xfrm>
          <a:prstGeom prst="line">
            <a:avLst/>
          </a:prstGeom>
          <a:noFill/>
          <a:ln w="31750">
            <a:solidFill>
              <a:schemeClr val="accent5"/>
            </a:solidFill>
            <a:prstDash val="solid"/>
            <a:tailEnd type="triangle"/>
          </a:ln>
        </p:spPr>
      </p:sp>
      <p:sp>
        <p:nvSpPr>
          <p:cNvPr id="15" name="card-75"/>
          <p:cNvSpPr/>
          <p:nvPr/>
        </p:nvSpPr>
        <p:spPr>
          <a:xfrm>
            <a:off x="4846320" y="1051560"/>
            <a:ext cx="3840480" cy="3474720"/>
          </a:xfrm>
          <a:prstGeom prst="roundRect">
            <a:avLst>
              <a:gd name="adj" fmla="val 3158"/>
            </a:avLst>
          </a:prstGeom>
          <a:solidFill>
            <a:schemeClr val="bg1"/>
          </a:solidFill>
          <a:ln/>
          <a:effectLst>
            <a:outerShdw sx="100000" sy="100000" kx="0" ky="0" algn="bl" rotWithShape="0" blurRad="101600" dist="25400" dir="5400000">
              <a:srgbClr val="0B1F4B">
                <a:alpha val="12000"/>
              </a:srgbClr>
            </a:outerShdw>
          </a:effectLst>
        </p:spPr>
      </p:sp>
      <p:sp>
        <p:nvSpPr>
          <p:cNvPr id="16" name="icon-bg-76"/>
          <p:cNvSpPr/>
          <p:nvPr/>
        </p:nvSpPr>
        <p:spPr>
          <a:xfrm>
            <a:off x="5029200" y="1188720"/>
            <a:ext cx="411480" cy="411480"/>
          </a:xfrm>
          <a:prstGeom prst="ellipse">
            <a:avLst/>
          </a:prstGeom>
          <a:solidFill>
            <a:schemeClr val="accent3"/>
          </a:solidFill>
          <a:ln/>
        </p:spPr>
      </p:sp>
      <p:pic>
        <p:nvPicPr>
          <p:cNvPr id="17" name="icon-FaClipboardCheck-77" descr="preencoded.png">    </p:cNvPr>
          <p:cNvPicPr>
            <a:picLocks noChangeAspect="1"/>
          </p:cNvPicPr>
          <p:nvPr/>
        </p:nvPicPr>
        <p:blipFill>
          <a:blip r:embed="rId2"/>
          <a:stretch>
            <a:fillRect/>
          </a:stretch>
        </p:blipFill>
        <p:spPr>
          <a:xfrm>
            <a:off x="5132070" y="1291590"/>
            <a:ext cx="205740" cy="205740"/>
          </a:xfrm>
          <a:prstGeom prst="rect">
            <a:avLst/>
          </a:prstGeom>
        </p:spPr>
      </p:pic>
      <p:sp>
        <p:nvSpPr>
          <p:cNvPr id="18" name="text-78"/>
          <p:cNvSpPr txBox="1"/>
          <p:nvPr/>
        </p:nvSpPr>
        <p:spPr>
          <a:xfrm>
            <a:off x="5532120" y="1188720"/>
            <a:ext cx="2743200" cy="411480"/>
          </a:xfrm>
          <a:prstGeom prst="rect">
            <a:avLst/>
          </a:prstGeom>
          <a:noFill/>
          <a:ln/>
        </p:spPr>
        <p:txBody>
          <a:bodyPr wrap="square" lIns="0" tIns="0" rIns="0" bIns="0" rtlCol="0" anchor="ctr"/>
          <a:lstStyle/>
          <a:p>
            <a:pPr indent="0" marL="0">
              <a:buNone/>
            </a:pPr>
            <a:r>
              <a:rPr lang="en-US" sz="1700" b="1" dirty="0">
                <a:solidFill>
                  <a:schemeClr val="tx1"/>
                </a:solidFill>
              </a:rPr>
              <a:t>Việc mới</a:t>
            </a:r>
            <a:endParaRPr lang="en-US" sz="1700" dirty="0"/>
          </a:p>
        </p:txBody>
      </p:sp>
      <p:sp>
        <p:nvSpPr>
          <p:cNvPr id="19" name="text-79"/>
          <p:cNvSpPr txBox="1"/>
          <p:nvPr/>
        </p:nvSpPr>
        <p:spPr>
          <a:xfrm>
            <a:off x="5074920" y="1737360"/>
            <a:ext cx="1097280" cy="329184"/>
          </a:xfrm>
          <a:prstGeom prst="rect">
            <a:avLst/>
          </a:prstGeom>
          <a:noFill/>
          <a:ln/>
        </p:spPr>
        <p:txBody>
          <a:bodyPr wrap="square" lIns="0" tIns="0" rIns="0" bIns="0" rtlCol="0" anchor="ctr"/>
          <a:lstStyle/>
          <a:p>
            <a:pPr indent="0" marL="0">
              <a:buNone/>
            </a:pPr>
            <a:r>
              <a:rPr lang="en-US" sz="1300" dirty="0">
                <a:solidFill>
                  <a:schemeClr val="tx2"/>
                </a:solidFill>
              </a:rPr>
              <a:t>Việc</a:t>
            </a:r>
            <a:endParaRPr lang="en-US" sz="1300" dirty="0"/>
          </a:p>
        </p:txBody>
      </p:sp>
      <p:sp>
        <p:nvSpPr>
          <p:cNvPr id="20" name="text-80"/>
          <p:cNvSpPr txBox="1"/>
          <p:nvPr/>
        </p:nvSpPr>
        <p:spPr>
          <a:xfrm>
            <a:off x="6172200" y="1737360"/>
            <a:ext cx="2377440" cy="329184"/>
          </a:xfrm>
          <a:prstGeom prst="rect">
            <a:avLst/>
          </a:prstGeom>
          <a:noFill/>
          <a:ln/>
        </p:spPr>
        <p:txBody>
          <a:bodyPr wrap="square" lIns="0" tIns="0" rIns="0" bIns="0" rtlCol="0" anchor="ctr"/>
          <a:lstStyle/>
          <a:p>
            <a:pPr indent="0" marL="0">
              <a:buNone/>
            </a:pPr>
            <a:r>
              <a:rPr lang="en-US" sz="1400" b="1" dirty="0">
                <a:solidFill>
                  <a:schemeClr val="tx1"/>
                </a:solidFill>
              </a:rPr>
              <a:t>Gửi báo giá thép hộp</a:t>
            </a:r>
            <a:endParaRPr lang="en-US" sz="1400" dirty="0"/>
          </a:p>
        </p:txBody>
      </p:sp>
      <p:sp>
        <p:nvSpPr>
          <p:cNvPr id="21" name="text-81"/>
          <p:cNvSpPr txBox="1"/>
          <p:nvPr/>
        </p:nvSpPr>
        <p:spPr>
          <a:xfrm>
            <a:off x="5074920" y="2139696"/>
            <a:ext cx="1097280" cy="329184"/>
          </a:xfrm>
          <a:prstGeom prst="rect">
            <a:avLst/>
          </a:prstGeom>
          <a:noFill/>
          <a:ln/>
        </p:spPr>
        <p:txBody>
          <a:bodyPr wrap="square" lIns="0" tIns="0" rIns="0" bIns="0" rtlCol="0" anchor="ctr"/>
          <a:lstStyle/>
          <a:p>
            <a:pPr indent="0" marL="0">
              <a:buNone/>
            </a:pPr>
            <a:r>
              <a:rPr lang="en-US" sz="1300" dirty="0">
                <a:solidFill>
                  <a:schemeClr val="tx2"/>
                </a:solidFill>
              </a:rPr>
              <a:t>Người làm</a:t>
            </a:r>
            <a:endParaRPr lang="en-US" sz="1300" dirty="0"/>
          </a:p>
        </p:txBody>
      </p:sp>
      <p:sp>
        <p:nvSpPr>
          <p:cNvPr id="22" name="text-82"/>
          <p:cNvSpPr txBox="1"/>
          <p:nvPr/>
        </p:nvSpPr>
        <p:spPr>
          <a:xfrm>
            <a:off x="6172200" y="2139696"/>
            <a:ext cx="2377440" cy="329184"/>
          </a:xfrm>
          <a:prstGeom prst="rect">
            <a:avLst/>
          </a:prstGeom>
          <a:noFill/>
          <a:ln/>
        </p:spPr>
        <p:txBody>
          <a:bodyPr wrap="square" lIns="0" tIns="0" rIns="0" bIns="0" rtlCol="0" anchor="ctr"/>
          <a:lstStyle/>
          <a:p>
            <a:pPr indent="0" marL="0">
              <a:buNone/>
            </a:pPr>
            <a:r>
              <a:rPr lang="en-US" sz="1400" b="1" dirty="0">
                <a:solidFill>
                  <a:schemeClr val="tx1"/>
                </a:solidFill>
              </a:rPr>
              <a:t>Lan</a:t>
            </a:r>
            <a:endParaRPr lang="en-US" sz="1400" dirty="0"/>
          </a:p>
        </p:txBody>
      </p:sp>
      <p:sp>
        <p:nvSpPr>
          <p:cNvPr id="23" name="text-83"/>
          <p:cNvSpPr txBox="1"/>
          <p:nvPr/>
        </p:nvSpPr>
        <p:spPr>
          <a:xfrm>
            <a:off x="5074920" y="2542032"/>
            <a:ext cx="1097280" cy="329184"/>
          </a:xfrm>
          <a:prstGeom prst="rect">
            <a:avLst/>
          </a:prstGeom>
          <a:noFill/>
          <a:ln/>
        </p:spPr>
        <p:txBody>
          <a:bodyPr wrap="square" lIns="0" tIns="0" rIns="0" bIns="0" rtlCol="0" anchor="ctr"/>
          <a:lstStyle/>
          <a:p>
            <a:pPr indent="0" marL="0">
              <a:buNone/>
            </a:pPr>
            <a:r>
              <a:rPr lang="en-US" sz="1300" dirty="0">
                <a:solidFill>
                  <a:schemeClr val="tx2"/>
                </a:solidFill>
              </a:rPr>
              <a:t>Hạn chót</a:t>
            </a:r>
            <a:endParaRPr lang="en-US" sz="1300" dirty="0"/>
          </a:p>
        </p:txBody>
      </p:sp>
      <p:sp>
        <p:nvSpPr>
          <p:cNvPr id="24" name="text-84"/>
          <p:cNvSpPr txBox="1"/>
          <p:nvPr/>
        </p:nvSpPr>
        <p:spPr>
          <a:xfrm>
            <a:off x="6172200" y="2542032"/>
            <a:ext cx="2377440" cy="329184"/>
          </a:xfrm>
          <a:prstGeom prst="rect">
            <a:avLst/>
          </a:prstGeom>
          <a:noFill/>
          <a:ln/>
        </p:spPr>
        <p:txBody>
          <a:bodyPr wrap="square" lIns="0" tIns="0" rIns="0" bIns="0" rtlCol="0" anchor="ctr"/>
          <a:lstStyle/>
          <a:p>
            <a:pPr indent="0" marL="0">
              <a:buNone/>
            </a:pPr>
            <a:r>
              <a:rPr lang="en-US" sz="1400" b="1" dirty="0">
                <a:solidFill>
                  <a:schemeClr val="tx1"/>
                </a:solidFill>
              </a:rPr>
              <a:t>17:00 · Thứ 6, 16/10</a:t>
            </a:r>
            <a:endParaRPr lang="en-US" sz="1400" dirty="0"/>
          </a:p>
        </p:txBody>
      </p:sp>
      <p:sp>
        <p:nvSpPr>
          <p:cNvPr id="25" name="text-85"/>
          <p:cNvSpPr txBox="1"/>
          <p:nvPr/>
        </p:nvSpPr>
        <p:spPr>
          <a:xfrm>
            <a:off x="5074920" y="2944368"/>
            <a:ext cx="1097280" cy="329184"/>
          </a:xfrm>
          <a:prstGeom prst="rect">
            <a:avLst/>
          </a:prstGeom>
          <a:noFill/>
          <a:ln/>
        </p:spPr>
        <p:txBody>
          <a:bodyPr wrap="square" lIns="0" tIns="0" rIns="0" bIns="0" rtlCol="0" anchor="ctr"/>
          <a:lstStyle/>
          <a:p>
            <a:pPr indent="0" marL="0">
              <a:buNone/>
            </a:pPr>
            <a:r>
              <a:rPr lang="en-US" sz="1300" dirty="0">
                <a:solidFill>
                  <a:schemeClr val="tx2"/>
                </a:solidFill>
              </a:rPr>
              <a:t>Ưu tiên</a:t>
            </a:r>
            <a:endParaRPr lang="en-US" sz="1300" dirty="0"/>
          </a:p>
        </p:txBody>
      </p:sp>
      <p:sp>
        <p:nvSpPr>
          <p:cNvPr id="26" name="text-86"/>
          <p:cNvSpPr txBox="1"/>
          <p:nvPr/>
        </p:nvSpPr>
        <p:spPr>
          <a:xfrm>
            <a:off x="6172200" y="2944368"/>
            <a:ext cx="2377440" cy="329184"/>
          </a:xfrm>
          <a:prstGeom prst="rect">
            <a:avLst/>
          </a:prstGeom>
          <a:noFill/>
          <a:ln/>
        </p:spPr>
        <p:txBody>
          <a:bodyPr wrap="square" lIns="0" tIns="0" rIns="0" bIns="0" rtlCol="0" anchor="ctr"/>
          <a:lstStyle/>
          <a:p>
            <a:pPr indent="0" marL="0">
              <a:buNone/>
            </a:pPr>
            <a:r>
              <a:rPr lang="en-US" sz="1400" b="1" dirty="0">
                <a:solidFill>
                  <a:schemeClr val="accent2"/>
                </a:solidFill>
              </a:rPr>
              <a:t>Cao</a:t>
            </a:r>
            <a:endParaRPr lang="en-US" sz="1400" dirty="0"/>
          </a:p>
        </p:txBody>
      </p:sp>
      <p:sp>
        <p:nvSpPr>
          <p:cNvPr id="27" name="text-87"/>
          <p:cNvSpPr txBox="1"/>
          <p:nvPr/>
        </p:nvSpPr>
        <p:spPr>
          <a:xfrm>
            <a:off x="5074920" y="3346704"/>
            <a:ext cx="1097280" cy="329184"/>
          </a:xfrm>
          <a:prstGeom prst="rect">
            <a:avLst/>
          </a:prstGeom>
          <a:noFill/>
          <a:ln/>
        </p:spPr>
        <p:txBody>
          <a:bodyPr wrap="square" lIns="0" tIns="0" rIns="0" bIns="0" rtlCol="0" anchor="ctr"/>
          <a:lstStyle/>
          <a:p>
            <a:pPr indent="0" marL="0">
              <a:buNone/>
            </a:pPr>
            <a:r>
              <a:rPr lang="en-US" sz="1300" dirty="0">
                <a:solidFill>
                  <a:schemeClr val="tx2"/>
                </a:solidFill>
              </a:rPr>
              <a:t>Dự án</a:t>
            </a:r>
            <a:endParaRPr lang="en-US" sz="1300" dirty="0"/>
          </a:p>
        </p:txBody>
      </p:sp>
      <p:sp>
        <p:nvSpPr>
          <p:cNvPr id="28" name="text-88"/>
          <p:cNvSpPr txBox="1"/>
          <p:nvPr/>
        </p:nvSpPr>
        <p:spPr>
          <a:xfrm>
            <a:off x="6172200" y="3346704"/>
            <a:ext cx="2377440" cy="329184"/>
          </a:xfrm>
          <a:prstGeom prst="rect">
            <a:avLst/>
          </a:prstGeom>
          <a:noFill/>
          <a:ln/>
        </p:spPr>
        <p:txBody>
          <a:bodyPr wrap="square" lIns="0" tIns="0" rIns="0" bIns="0" rtlCol="0" anchor="ctr"/>
          <a:lstStyle/>
          <a:p>
            <a:pPr indent="0" marL="0">
              <a:buNone/>
            </a:pPr>
            <a:r>
              <a:rPr lang="en-US" sz="1400" b="1" dirty="0">
                <a:solidFill>
                  <a:schemeClr val="tx1"/>
                </a:solidFill>
              </a:rPr>
              <a:t>Công trình Q7</a:t>
            </a:r>
            <a:endParaRPr lang="en-US" sz="1400" dirty="0"/>
          </a:p>
        </p:txBody>
      </p:sp>
      <p:sp>
        <p:nvSpPr>
          <p:cNvPr id="29" name="pill-89"/>
          <p:cNvSpPr/>
          <p:nvPr/>
        </p:nvSpPr>
        <p:spPr>
          <a:xfrm>
            <a:off x="5074920" y="3931920"/>
            <a:ext cx="1005840" cy="384048"/>
          </a:xfrm>
          <a:prstGeom prst="roundRect">
            <a:avLst>
              <a:gd name="adj" fmla="val 50000"/>
            </a:avLst>
          </a:prstGeom>
          <a:solidFill>
            <a:schemeClr val="accent3"/>
          </a:solidFill>
          <a:ln/>
        </p:spPr>
        <p:txBody>
          <a:bodyPr wrap="square" lIns="0" tIns="0" rIns="0" bIns="0" rtlCol="0" anchor="ctr"/>
          <a:lstStyle/>
          <a:p>
            <a:pPr algn="ctr" indent="0" marL="0">
              <a:buNone/>
            </a:pPr>
            <a:r>
              <a:rPr lang="en-US" sz="1300" b="1" dirty="0">
                <a:solidFill>
                  <a:schemeClr val="bg1"/>
                </a:solidFill>
              </a:rPr>
              <a:t>Lưu</a:t>
            </a:r>
            <a:endParaRPr lang="en-US" sz="1300" dirty="0"/>
          </a:p>
        </p:txBody>
      </p:sp>
      <p:sp>
        <p:nvSpPr>
          <p:cNvPr id="30" name="pill-90"/>
          <p:cNvSpPr/>
          <p:nvPr/>
        </p:nvSpPr>
        <p:spPr>
          <a:xfrm>
            <a:off x="6217920" y="3931920"/>
            <a:ext cx="1005840" cy="384048"/>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bg1"/>
                </a:solidFill>
              </a:rPr>
              <a:t>Sửa</a:t>
            </a:r>
            <a:endParaRPr lang="en-US" sz="1300" dirty="0"/>
          </a:p>
        </p:txBody>
      </p:sp>
      <p:sp>
        <p:nvSpPr>
          <p:cNvPr id="31" name="pill-91"/>
          <p:cNvSpPr/>
          <p:nvPr/>
        </p:nvSpPr>
        <p:spPr>
          <a:xfrm>
            <a:off x="7360920" y="3931920"/>
            <a:ext cx="1097280" cy="384048"/>
          </a:xfrm>
          <a:prstGeom prst="roundRect">
            <a:avLst>
              <a:gd name="adj" fmla="val 50000"/>
            </a:avLst>
          </a:prstGeom>
          <a:solidFill>
            <a:srgbClr val="E1E7F0"/>
          </a:solidFill>
          <a:ln/>
        </p:spPr>
        <p:txBody>
          <a:bodyPr wrap="square" lIns="0" tIns="0" rIns="0" bIns="0" rtlCol="0" anchor="ctr"/>
          <a:lstStyle/>
          <a:p>
            <a:pPr algn="ctr" indent="0" marL="0">
              <a:buNone/>
            </a:pPr>
            <a:r>
              <a:rPr lang="en-US" sz="1300" b="1" dirty="0">
                <a:solidFill>
                  <a:schemeClr val="tx1"/>
                </a:solidFill>
              </a:rPr>
              <a:t>Bỏ qua</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1"/>
                </a:solidFill>
              </a:rPr>
              <a:t>Ai sẽ dùng ZaloPlan?</a:t>
            </a:r>
            <a:endParaRPr lang="en-US" sz="2600" dirty="0"/>
          </a:p>
        </p:txBody>
      </p:sp>
      <p:sp>
        <p:nvSpPr>
          <p:cNvPr id="3" name="card-92"/>
          <p:cNvSpPr/>
          <p:nvPr/>
        </p:nvSpPr>
        <p:spPr>
          <a:xfrm>
            <a:off x="457200" y="1097280"/>
            <a:ext cx="1920240" cy="3017520"/>
          </a:xfrm>
          <a:prstGeom prst="roundRect">
            <a:avLst>
              <a:gd name="adj" fmla="val 5714"/>
            </a:avLst>
          </a:prstGeom>
          <a:solidFill>
            <a:schemeClr val="bg1"/>
          </a:solidFill>
          <a:ln/>
          <a:effectLst>
            <a:outerShdw sx="100000" sy="100000" kx="0" ky="0" algn="bl" rotWithShape="0" blurRad="101600" dist="25400" dir="5400000">
              <a:srgbClr val="0B1F4B">
                <a:alpha val="12000"/>
              </a:srgbClr>
            </a:outerShdw>
          </a:effectLst>
        </p:spPr>
      </p:sp>
      <p:sp>
        <p:nvSpPr>
          <p:cNvPr id="4" name="icon-bg-93"/>
          <p:cNvSpPr/>
          <p:nvPr/>
        </p:nvSpPr>
        <p:spPr>
          <a:xfrm>
            <a:off x="685800" y="1325880"/>
            <a:ext cx="777240" cy="777240"/>
          </a:xfrm>
          <a:prstGeom prst="ellipse">
            <a:avLst/>
          </a:prstGeom>
          <a:solidFill>
            <a:schemeClr val="accent1"/>
          </a:solidFill>
          <a:ln/>
        </p:spPr>
      </p:sp>
      <p:pic>
        <p:nvPicPr>
          <p:cNvPr id="5" name="icon-FaUserTie-94" descr="preencoded.png">    </p:cNvPr>
          <p:cNvPicPr>
            <a:picLocks noChangeAspect="1"/>
          </p:cNvPicPr>
          <p:nvPr/>
        </p:nvPicPr>
        <p:blipFill>
          <a:blip r:embed="rId1"/>
          <a:stretch>
            <a:fillRect/>
          </a:stretch>
        </p:blipFill>
        <p:spPr>
          <a:xfrm>
            <a:off x="880110" y="1520190"/>
            <a:ext cx="388620" cy="388620"/>
          </a:xfrm>
          <a:prstGeom prst="rect">
            <a:avLst/>
          </a:prstGeom>
        </p:spPr>
      </p:pic>
      <p:sp>
        <p:nvSpPr>
          <p:cNvPr id="6" name="text-95"/>
          <p:cNvSpPr txBox="1"/>
          <p:nvPr/>
        </p:nvSpPr>
        <p:spPr>
          <a:xfrm>
            <a:off x="685800" y="2286000"/>
            <a:ext cx="1554480" cy="594360"/>
          </a:xfrm>
          <a:prstGeom prst="rect">
            <a:avLst/>
          </a:prstGeom>
          <a:noFill/>
          <a:ln/>
        </p:spPr>
        <p:txBody>
          <a:bodyPr wrap="square" lIns="0" tIns="0" rIns="0" bIns="0" rtlCol="0" anchor="t"/>
          <a:lstStyle/>
          <a:p>
            <a:pPr indent="0" marL="0">
              <a:buNone/>
            </a:pPr>
            <a:r>
              <a:rPr lang="en-US" sz="1600" b="1" dirty="0">
                <a:solidFill>
                  <a:schemeClr val="tx1"/>
                </a:solidFill>
              </a:rPr>
              <a:t>Chủ SME, quản lý nhóm</a:t>
            </a:r>
            <a:endParaRPr lang="en-US" sz="1600" dirty="0"/>
          </a:p>
        </p:txBody>
      </p:sp>
      <p:sp>
        <p:nvSpPr>
          <p:cNvPr id="7" name="text-96"/>
          <p:cNvSpPr txBox="1"/>
          <p:nvPr/>
        </p:nvSpPr>
        <p:spPr>
          <a:xfrm>
            <a:off x="685800" y="2926080"/>
            <a:ext cx="1554480" cy="1371600"/>
          </a:xfrm>
          <a:prstGeom prst="rect">
            <a:avLst/>
          </a:prstGeom>
          <a:noFill/>
          <a:ln/>
        </p:spPr>
        <p:txBody>
          <a:bodyPr wrap="square" lIns="0" tIns="0" rIns="0" bIns="0" rtlCol="0" anchor="t"/>
          <a:lstStyle/>
          <a:p>
            <a:pPr indent="0" marL="0">
              <a:buNone/>
            </a:pPr>
            <a:r>
              <a:rPr lang="en-US" sz="1400" dirty="0">
                <a:solidFill>
                  <a:schemeClr val="tx2"/>
                </a:solidFill>
              </a:rPr>
              <a:t>Giao việc trong nhóm Zalo, muốn biết ai đang làm gì, việc nào trễ.</a:t>
            </a:r>
            <a:endParaRPr lang="en-US" sz="1400" dirty="0"/>
          </a:p>
        </p:txBody>
      </p:sp>
      <p:sp>
        <p:nvSpPr>
          <p:cNvPr id="8" name="card-97"/>
          <p:cNvSpPr/>
          <p:nvPr/>
        </p:nvSpPr>
        <p:spPr>
          <a:xfrm>
            <a:off x="2560320" y="1097280"/>
            <a:ext cx="1920240" cy="3017520"/>
          </a:xfrm>
          <a:prstGeom prst="roundRect">
            <a:avLst>
              <a:gd name="adj" fmla="val 5714"/>
            </a:avLst>
          </a:prstGeom>
          <a:solidFill>
            <a:schemeClr val="bg1"/>
          </a:solidFill>
          <a:ln/>
          <a:effectLst>
            <a:outerShdw sx="100000" sy="100000" kx="0" ky="0" algn="bl" rotWithShape="0" blurRad="101600" dist="25400" dir="5400000">
              <a:srgbClr val="0B1F4B">
                <a:alpha val="12000"/>
              </a:srgbClr>
            </a:outerShdw>
          </a:effectLst>
        </p:spPr>
      </p:sp>
      <p:sp>
        <p:nvSpPr>
          <p:cNvPr id="9" name="icon-bg-98"/>
          <p:cNvSpPr/>
          <p:nvPr/>
        </p:nvSpPr>
        <p:spPr>
          <a:xfrm>
            <a:off x="2788920" y="1325880"/>
            <a:ext cx="777240" cy="777240"/>
          </a:xfrm>
          <a:prstGeom prst="ellipse">
            <a:avLst/>
          </a:prstGeom>
          <a:solidFill>
            <a:schemeClr val="accent5"/>
          </a:solidFill>
          <a:ln/>
        </p:spPr>
      </p:sp>
      <p:pic>
        <p:nvPicPr>
          <p:cNvPr id="10" name="icon-FaUser-99" descr="preencoded.png">    </p:cNvPr>
          <p:cNvPicPr>
            <a:picLocks noChangeAspect="1"/>
          </p:cNvPicPr>
          <p:nvPr/>
        </p:nvPicPr>
        <p:blipFill>
          <a:blip r:embed="rId2"/>
          <a:stretch>
            <a:fillRect/>
          </a:stretch>
        </p:blipFill>
        <p:spPr>
          <a:xfrm>
            <a:off x="2983230" y="1520190"/>
            <a:ext cx="388620" cy="388620"/>
          </a:xfrm>
          <a:prstGeom prst="rect">
            <a:avLst/>
          </a:prstGeom>
        </p:spPr>
      </p:pic>
      <p:sp>
        <p:nvSpPr>
          <p:cNvPr id="11" name="text-100"/>
          <p:cNvSpPr txBox="1"/>
          <p:nvPr/>
        </p:nvSpPr>
        <p:spPr>
          <a:xfrm>
            <a:off x="2788920" y="2286000"/>
            <a:ext cx="1554480" cy="594360"/>
          </a:xfrm>
          <a:prstGeom prst="rect">
            <a:avLst/>
          </a:prstGeom>
          <a:noFill/>
          <a:ln/>
        </p:spPr>
        <p:txBody>
          <a:bodyPr wrap="square" lIns="0" tIns="0" rIns="0" bIns="0" rtlCol="0" anchor="t"/>
          <a:lstStyle/>
          <a:p>
            <a:pPr indent="0" marL="0">
              <a:buNone/>
            </a:pPr>
            <a:r>
              <a:rPr lang="en-US" sz="1600" b="1" dirty="0">
                <a:solidFill>
                  <a:schemeClr val="tx1"/>
                </a:solidFill>
              </a:rPr>
              <a:t>Nhân viên, cá nhân</a:t>
            </a:r>
            <a:endParaRPr lang="en-US" sz="1600" dirty="0"/>
          </a:p>
        </p:txBody>
      </p:sp>
      <p:sp>
        <p:nvSpPr>
          <p:cNvPr id="12" name="text-101"/>
          <p:cNvSpPr txBox="1"/>
          <p:nvPr/>
        </p:nvSpPr>
        <p:spPr>
          <a:xfrm>
            <a:off x="2788920" y="2926080"/>
            <a:ext cx="1554480" cy="1371600"/>
          </a:xfrm>
          <a:prstGeom prst="rect">
            <a:avLst/>
          </a:prstGeom>
          <a:noFill/>
          <a:ln/>
        </p:spPr>
        <p:txBody>
          <a:bodyPr wrap="square" lIns="0" tIns="0" rIns="0" bIns="0" rtlCol="0" anchor="t"/>
          <a:lstStyle/>
          <a:p>
            <a:pPr indent="0" marL="0">
              <a:buNone/>
            </a:pPr>
            <a:r>
              <a:rPr lang="en-US" sz="1400" dirty="0">
                <a:solidFill>
                  <a:schemeClr val="tx2"/>
                </a:solidFill>
              </a:rPr>
              <a:t>Mỗi sáng nhận danh sách “việc của tôi hôm nay” từ mọi nhóm chat.</a:t>
            </a:r>
            <a:endParaRPr lang="en-US" sz="1400" dirty="0"/>
          </a:p>
        </p:txBody>
      </p:sp>
      <p:sp>
        <p:nvSpPr>
          <p:cNvPr id="13" name="card-102"/>
          <p:cNvSpPr/>
          <p:nvPr/>
        </p:nvSpPr>
        <p:spPr>
          <a:xfrm>
            <a:off x="4663440" y="1097280"/>
            <a:ext cx="1920240" cy="3017520"/>
          </a:xfrm>
          <a:prstGeom prst="roundRect">
            <a:avLst>
              <a:gd name="adj" fmla="val 5714"/>
            </a:avLst>
          </a:prstGeom>
          <a:solidFill>
            <a:schemeClr val="bg1"/>
          </a:solidFill>
          <a:ln/>
          <a:effectLst>
            <a:outerShdw sx="100000" sy="100000" kx="0" ky="0" algn="bl" rotWithShape="0" blurRad="101600" dist="25400" dir="5400000">
              <a:srgbClr val="0B1F4B">
                <a:alpha val="12000"/>
              </a:srgbClr>
            </a:outerShdw>
          </a:effectLst>
        </p:spPr>
      </p:sp>
      <p:sp>
        <p:nvSpPr>
          <p:cNvPr id="14" name="icon-bg-103"/>
          <p:cNvSpPr/>
          <p:nvPr/>
        </p:nvSpPr>
        <p:spPr>
          <a:xfrm>
            <a:off x="4892040" y="1325880"/>
            <a:ext cx="777240" cy="777240"/>
          </a:xfrm>
          <a:prstGeom prst="ellipse">
            <a:avLst/>
          </a:prstGeom>
          <a:solidFill>
            <a:schemeClr val="accent2"/>
          </a:solidFill>
          <a:ln/>
        </p:spPr>
      </p:sp>
      <p:pic>
        <p:nvPicPr>
          <p:cNvPr id="15" name="icon-FaStore-104" descr="preencoded.png">    </p:cNvPr>
          <p:cNvPicPr>
            <a:picLocks noChangeAspect="1"/>
          </p:cNvPicPr>
          <p:nvPr/>
        </p:nvPicPr>
        <p:blipFill>
          <a:blip r:embed="rId3"/>
          <a:stretch>
            <a:fillRect/>
          </a:stretch>
        </p:blipFill>
        <p:spPr>
          <a:xfrm>
            <a:off x="5086350" y="1520190"/>
            <a:ext cx="388620" cy="388620"/>
          </a:xfrm>
          <a:prstGeom prst="rect">
            <a:avLst/>
          </a:prstGeom>
        </p:spPr>
      </p:pic>
      <p:sp>
        <p:nvSpPr>
          <p:cNvPr id="16" name="text-105"/>
          <p:cNvSpPr txBox="1"/>
          <p:nvPr/>
        </p:nvSpPr>
        <p:spPr>
          <a:xfrm>
            <a:off x="4892040" y="2286000"/>
            <a:ext cx="1554480" cy="594360"/>
          </a:xfrm>
          <a:prstGeom prst="rect">
            <a:avLst/>
          </a:prstGeom>
          <a:noFill/>
          <a:ln/>
        </p:spPr>
        <p:txBody>
          <a:bodyPr wrap="square" lIns="0" tIns="0" rIns="0" bIns="0" rtlCol="0" anchor="t"/>
          <a:lstStyle/>
          <a:p>
            <a:pPr indent="0" marL="0">
              <a:buNone/>
            </a:pPr>
            <a:r>
              <a:rPr lang="en-US" sz="1600" b="1" dirty="0">
                <a:solidFill>
                  <a:schemeClr val="tx1"/>
                </a:solidFill>
              </a:rPr>
              <a:t>Shop bán hàng qua Zalo OA</a:t>
            </a:r>
            <a:endParaRPr lang="en-US" sz="1600" dirty="0"/>
          </a:p>
        </p:txBody>
      </p:sp>
      <p:sp>
        <p:nvSpPr>
          <p:cNvPr id="17" name="text-106"/>
          <p:cNvSpPr txBox="1"/>
          <p:nvPr/>
        </p:nvSpPr>
        <p:spPr>
          <a:xfrm>
            <a:off x="4892040" y="2926080"/>
            <a:ext cx="1554480" cy="1371600"/>
          </a:xfrm>
          <a:prstGeom prst="rect">
            <a:avLst/>
          </a:prstGeom>
          <a:noFill/>
          <a:ln/>
        </p:spPr>
        <p:txBody>
          <a:bodyPr wrap="square" lIns="0" tIns="0" rIns="0" bIns="0" rtlCol="0" anchor="t"/>
          <a:lstStyle/>
          <a:p>
            <a:pPr indent="0" marL="0">
              <a:buNone/>
            </a:pPr>
            <a:r>
              <a:rPr lang="en-US" sz="1400" dirty="0">
                <a:solidFill>
                  <a:schemeClr val="tx2"/>
                </a:solidFill>
              </a:rPr>
              <a:t>Tin đặt hàng, hỏi giá của khách tự thành việc cần xử lý.</a:t>
            </a:r>
            <a:endParaRPr lang="en-US" sz="1400" dirty="0"/>
          </a:p>
        </p:txBody>
      </p:sp>
      <p:sp>
        <p:nvSpPr>
          <p:cNvPr id="18" name="card-107"/>
          <p:cNvSpPr/>
          <p:nvPr/>
        </p:nvSpPr>
        <p:spPr>
          <a:xfrm>
            <a:off x="6766560" y="1097280"/>
            <a:ext cx="1920240" cy="3017520"/>
          </a:xfrm>
          <a:prstGeom prst="roundRect">
            <a:avLst>
              <a:gd name="adj" fmla="val 5714"/>
            </a:avLst>
          </a:prstGeom>
          <a:solidFill>
            <a:schemeClr val="bg1"/>
          </a:solidFill>
          <a:ln/>
          <a:effectLst>
            <a:outerShdw sx="100000" sy="100000" kx="0" ky="0" algn="bl" rotWithShape="0" blurRad="101600" dist="25400" dir="5400000">
              <a:srgbClr val="0B1F4B">
                <a:alpha val="12000"/>
              </a:srgbClr>
            </a:outerShdw>
          </a:effectLst>
        </p:spPr>
      </p:sp>
      <p:sp>
        <p:nvSpPr>
          <p:cNvPr id="19" name="icon-bg-108"/>
          <p:cNvSpPr/>
          <p:nvPr/>
        </p:nvSpPr>
        <p:spPr>
          <a:xfrm>
            <a:off x="6995160" y="1325880"/>
            <a:ext cx="777240" cy="777240"/>
          </a:xfrm>
          <a:prstGeom prst="ellipse">
            <a:avLst/>
          </a:prstGeom>
          <a:solidFill>
            <a:schemeClr val="accent3"/>
          </a:solidFill>
          <a:ln/>
        </p:spPr>
      </p:sp>
      <p:pic>
        <p:nvPicPr>
          <p:cNvPr id="20" name="icon-FaHardHat-109" descr="preencoded.png">    </p:cNvPr>
          <p:cNvPicPr>
            <a:picLocks noChangeAspect="1"/>
          </p:cNvPicPr>
          <p:nvPr/>
        </p:nvPicPr>
        <p:blipFill>
          <a:blip r:embed="rId4"/>
          <a:stretch>
            <a:fillRect/>
          </a:stretch>
        </p:blipFill>
        <p:spPr>
          <a:xfrm>
            <a:off x="7189470" y="1520190"/>
            <a:ext cx="388620" cy="388620"/>
          </a:xfrm>
          <a:prstGeom prst="rect">
            <a:avLst/>
          </a:prstGeom>
        </p:spPr>
      </p:pic>
      <p:sp>
        <p:nvSpPr>
          <p:cNvPr id="21" name="text-110"/>
          <p:cNvSpPr txBox="1"/>
          <p:nvPr/>
        </p:nvSpPr>
        <p:spPr>
          <a:xfrm>
            <a:off x="6995160" y="2286000"/>
            <a:ext cx="1554480" cy="594360"/>
          </a:xfrm>
          <a:prstGeom prst="rect">
            <a:avLst/>
          </a:prstGeom>
          <a:noFill/>
          <a:ln/>
        </p:spPr>
        <p:txBody>
          <a:bodyPr wrap="square" lIns="0" tIns="0" rIns="0" bIns="0" rtlCol="0" anchor="t"/>
          <a:lstStyle/>
          <a:p>
            <a:pPr indent="0" marL="0">
              <a:buNone/>
            </a:pPr>
            <a:r>
              <a:rPr lang="en-US" sz="1600" b="1" dirty="0">
                <a:solidFill>
                  <a:schemeClr val="tx1"/>
                </a:solidFill>
              </a:rPr>
              <a:t>Kỹ sư, QS công trường</a:t>
            </a:r>
            <a:endParaRPr lang="en-US" sz="1600" dirty="0"/>
          </a:p>
        </p:txBody>
      </p:sp>
      <p:sp>
        <p:nvSpPr>
          <p:cNvPr id="22" name="text-111"/>
          <p:cNvSpPr txBox="1"/>
          <p:nvPr/>
        </p:nvSpPr>
        <p:spPr>
          <a:xfrm>
            <a:off x="6995160" y="2926080"/>
            <a:ext cx="1554480" cy="1371600"/>
          </a:xfrm>
          <a:prstGeom prst="rect">
            <a:avLst/>
          </a:prstGeom>
          <a:noFill/>
          <a:ln/>
        </p:spPr>
        <p:txBody>
          <a:bodyPr wrap="square" lIns="0" tIns="0" rIns="0" bIns="0" rtlCol="0" anchor="t"/>
          <a:lstStyle/>
          <a:p>
            <a:pPr indent="0" marL="0">
              <a:buNone/>
            </a:pPr>
            <a:r>
              <a:rPr lang="en-US" sz="1400" dirty="0">
                <a:solidFill>
                  <a:schemeClr val="tx2"/>
                </a:solidFill>
              </a:rPr>
              <a:t>Yêu cầu của chủ đầu tư, tư vấn giám sát thành checklist có hạn.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1"/>
                </a:solidFill>
              </a:rPr>
              <a:t>Một ngày làm việc với ZaloPlan</a:t>
            </a:r>
            <a:endParaRPr lang="en-US" sz="2600" dirty="0"/>
          </a:p>
        </p:txBody>
      </p:sp>
      <p:sp>
        <p:nvSpPr>
          <p:cNvPr id="3" name="line-112"/>
          <p:cNvSpPr/>
          <p:nvPr/>
        </p:nvSpPr>
        <p:spPr>
          <a:xfrm>
            <a:off x="822960" y="1874520"/>
            <a:ext cx="7498080" cy="0"/>
          </a:xfrm>
          <a:prstGeom prst="line">
            <a:avLst/>
          </a:prstGeom>
          <a:noFill/>
          <a:ln w="19050">
            <a:solidFill>
              <a:schemeClr val="tx2"/>
            </a:solidFill>
            <a:prstDash val="solid"/>
          </a:ln>
        </p:spPr>
      </p:sp>
      <p:sp>
        <p:nvSpPr>
          <p:cNvPr id="4" name="text-113"/>
          <p:cNvSpPr txBox="1"/>
          <p:nvPr/>
        </p:nvSpPr>
        <p:spPr>
          <a:xfrm>
            <a:off x="548640" y="1051560"/>
            <a:ext cx="1828800" cy="365760"/>
          </a:xfrm>
          <a:prstGeom prst="rect">
            <a:avLst/>
          </a:prstGeom>
          <a:noFill/>
          <a:ln/>
        </p:spPr>
        <p:txBody>
          <a:bodyPr wrap="square" lIns="0" tIns="0" rIns="0" bIns="0" rtlCol="0" anchor="t"/>
          <a:lstStyle/>
          <a:p>
            <a:pPr algn="ctr" indent="0" marL="0">
              <a:buNone/>
            </a:pPr>
            <a:r>
              <a:rPr lang="en-US" sz="2000" b="1" dirty="0">
                <a:solidFill>
                  <a:schemeClr val="tx1"/>
                </a:solidFill>
              </a:rPr>
              <a:t>8:00</a:t>
            </a:r>
            <a:endParaRPr lang="en-US" sz="2000" dirty="0"/>
          </a:p>
        </p:txBody>
      </p:sp>
      <p:sp>
        <p:nvSpPr>
          <p:cNvPr id="5" name="icon-bg-114"/>
          <p:cNvSpPr/>
          <p:nvPr/>
        </p:nvSpPr>
        <p:spPr>
          <a:xfrm>
            <a:off x="1188720" y="1600200"/>
            <a:ext cx="548640" cy="548640"/>
          </a:xfrm>
          <a:prstGeom prst="ellipse">
            <a:avLst/>
          </a:prstGeom>
          <a:solidFill>
            <a:schemeClr val="accent6"/>
          </a:solidFill>
          <a:ln/>
        </p:spPr>
      </p:sp>
      <p:pic>
        <p:nvPicPr>
          <p:cNvPr id="6" name="icon-FaSun-115" descr="preencoded.png">    </p:cNvPr>
          <p:cNvPicPr>
            <a:picLocks noChangeAspect="1"/>
          </p:cNvPicPr>
          <p:nvPr/>
        </p:nvPicPr>
        <p:blipFill>
          <a:blip r:embed="rId1"/>
          <a:stretch>
            <a:fillRect/>
          </a:stretch>
        </p:blipFill>
        <p:spPr>
          <a:xfrm>
            <a:off x="1325880" y="1737360"/>
            <a:ext cx="274320" cy="274320"/>
          </a:xfrm>
          <a:prstGeom prst="rect">
            <a:avLst/>
          </a:prstGeom>
        </p:spPr>
      </p:pic>
      <p:sp>
        <p:nvSpPr>
          <p:cNvPr id="7" name="card-116"/>
          <p:cNvSpPr/>
          <p:nvPr/>
        </p:nvSpPr>
        <p:spPr>
          <a:xfrm>
            <a:off x="502920" y="2423160"/>
            <a:ext cx="1920240" cy="1828800"/>
          </a:xfrm>
          <a:prstGeom prst="roundRect">
            <a:avLst>
              <a:gd name="adj" fmla="val 6000"/>
            </a:avLst>
          </a:prstGeom>
          <a:solidFill>
            <a:schemeClr val="bg1"/>
          </a:solidFill>
          <a:ln/>
          <a:effectLst>
            <a:outerShdw sx="100000" sy="100000" kx="0" ky="0" algn="bl" rotWithShape="0" blurRad="101600" dist="25400" dir="5400000">
              <a:srgbClr val="0B1F4B">
                <a:alpha val="12000"/>
              </a:srgbClr>
            </a:outerShdw>
          </a:effectLst>
        </p:spPr>
      </p:sp>
      <p:sp>
        <p:nvSpPr>
          <p:cNvPr id="8" name="text-117"/>
          <p:cNvSpPr txBox="1"/>
          <p:nvPr/>
        </p:nvSpPr>
        <p:spPr>
          <a:xfrm>
            <a:off x="685800" y="2606040"/>
            <a:ext cx="1554480" cy="594360"/>
          </a:xfrm>
          <a:prstGeom prst="rect">
            <a:avLst/>
          </a:prstGeom>
          <a:noFill/>
          <a:ln/>
        </p:spPr>
        <p:txBody>
          <a:bodyPr wrap="square" lIns="0" tIns="0" rIns="0" bIns="0" rtlCol="0" anchor="t"/>
          <a:lstStyle/>
          <a:p>
            <a:pPr indent="0" marL="0">
              <a:buNone/>
            </a:pPr>
            <a:r>
              <a:rPr lang="en-US" sz="1500" b="1" dirty="0">
                <a:solidFill>
                  <a:schemeClr val="tx1"/>
                </a:solidFill>
              </a:rPr>
              <a:t>Tóm tắt buổi sáng</a:t>
            </a:r>
            <a:endParaRPr lang="en-US" sz="1500" dirty="0"/>
          </a:p>
        </p:txBody>
      </p:sp>
      <p:sp>
        <p:nvSpPr>
          <p:cNvPr id="9" name="text-118"/>
          <p:cNvSpPr txBox="1"/>
          <p:nvPr/>
        </p:nvSpPr>
        <p:spPr>
          <a:xfrm>
            <a:off x="685800" y="3200400"/>
            <a:ext cx="1554480" cy="1188720"/>
          </a:xfrm>
          <a:prstGeom prst="rect">
            <a:avLst/>
          </a:prstGeom>
          <a:noFill/>
          <a:ln/>
        </p:spPr>
        <p:txBody>
          <a:bodyPr wrap="square" lIns="0" tIns="0" rIns="0" bIns="0" rtlCol="0" anchor="t"/>
          <a:lstStyle/>
          <a:p>
            <a:pPr indent="0" marL="0">
              <a:buNone/>
            </a:pPr>
            <a:r>
              <a:rPr lang="en-US" sz="1400" dirty="0">
                <a:solidFill>
                  <a:schemeClr val="tx2"/>
                </a:solidFill>
              </a:rPr>
              <a:t>Bot gửi: hôm nay có 3 việc, 1 việc đang trễ hạn.</a:t>
            </a:r>
            <a:endParaRPr lang="en-US" sz="1400" dirty="0"/>
          </a:p>
        </p:txBody>
      </p:sp>
      <p:sp>
        <p:nvSpPr>
          <p:cNvPr id="10" name="text-119"/>
          <p:cNvSpPr txBox="1"/>
          <p:nvPr/>
        </p:nvSpPr>
        <p:spPr>
          <a:xfrm>
            <a:off x="2624328" y="1051560"/>
            <a:ext cx="1828800" cy="365760"/>
          </a:xfrm>
          <a:prstGeom prst="rect">
            <a:avLst/>
          </a:prstGeom>
          <a:noFill/>
          <a:ln/>
        </p:spPr>
        <p:txBody>
          <a:bodyPr wrap="square" lIns="0" tIns="0" rIns="0" bIns="0" rtlCol="0" anchor="t"/>
          <a:lstStyle/>
          <a:p>
            <a:pPr algn="ctr" indent="0" marL="0">
              <a:buNone/>
            </a:pPr>
            <a:r>
              <a:rPr lang="en-US" sz="2000" b="1" dirty="0">
                <a:solidFill>
                  <a:schemeClr val="tx1"/>
                </a:solidFill>
              </a:rPr>
              <a:t>10:15</a:t>
            </a:r>
            <a:endParaRPr lang="en-US" sz="2000" dirty="0"/>
          </a:p>
        </p:txBody>
      </p:sp>
      <p:sp>
        <p:nvSpPr>
          <p:cNvPr id="11" name="icon-bg-120"/>
          <p:cNvSpPr/>
          <p:nvPr/>
        </p:nvSpPr>
        <p:spPr>
          <a:xfrm>
            <a:off x="3264408" y="1600200"/>
            <a:ext cx="548640" cy="548640"/>
          </a:xfrm>
          <a:prstGeom prst="ellipse">
            <a:avLst/>
          </a:prstGeom>
          <a:solidFill>
            <a:schemeClr val="accent1"/>
          </a:solidFill>
          <a:ln/>
        </p:spPr>
      </p:sp>
      <p:pic>
        <p:nvPicPr>
          <p:cNvPr id="12" name="icon-FaShare-121" descr="preencoded.png">    </p:cNvPr>
          <p:cNvPicPr>
            <a:picLocks noChangeAspect="1"/>
          </p:cNvPicPr>
          <p:nvPr/>
        </p:nvPicPr>
        <p:blipFill>
          <a:blip r:embed="rId2"/>
          <a:stretch>
            <a:fillRect/>
          </a:stretch>
        </p:blipFill>
        <p:spPr>
          <a:xfrm>
            <a:off x="3401568" y="1737360"/>
            <a:ext cx="274320" cy="274320"/>
          </a:xfrm>
          <a:prstGeom prst="rect">
            <a:avLst/>
          </a:prstGeom>
        </p:spPr>
      </p:pic>
      <p:sp>
        <p:nvSpPr>
          <p:cNvPr id="13" name="card-122"/>
          <p:cNvSpPr/>
          <p:nvPr/>
        </p:nvSpPr>
        <p:spPr>
          <a:xfrm>
            <a:off x="2578608" y="2423160"/>
            <a:ext cx="1920240" cy="1828800"/>
          </a:xfrm>
          <a:prstGeom prst="roundRect">
            <a:avLst>
              <a:gd name="adj" fmla="val 6000"/>
            </a:avLst>
          </a:prstGeom>
          <a:solidFill>
            <a:schemeClr val="bg1"/>
          </a:solidFill>
          <a:ln/>
          <a:effectLst>
            <a:outerShdw sx="100000" sy="100000" kx="0" ky="0" algn="bl" rotWithShape="0" blurRad="101600" dist="25400" dir="5400000">
              <a:srgbClr val="0B1F4B">
                <a:alpha val="12000"/>
              </a:srgbClr>
            </a:outerShdw>
          </a:effectLst>
        </p:spPr>
      </p:sp>
      <p:sp>
        <p:nvSpPr>
          <p:cNvPr id="14" name="text-123"/>
          <p:cNvSpPr txBox="1"/>
          <p:nvPr/>
        </p:nvSpPr>
        <p:spPr>
          <a:xfrm>
            <a:off x="2761488" y="2606040"/>
            <a:ext cx="1554480" cy="594360"/>
          </a:xfrm>
          <a:prstGeom prst="rect">
            <a:avLst/>
          </a:prstGeom>
          <a:noFill/>
          <a:ln/>
        </p:spPr>
        <p:txBody>
          <a:bodyPr wrap="square" lIns="0" tIns="0" rIns="0" bIns="0" rtlCol="0" anchor="t"/>
          <a:lstStyle/>
          <a:p>
            <a:pPr indent="0" marL="0">
              <a:buNone/>
            </a:pPr>
            <a:r>
              <a:rPr lang="en-US" sz="1500" b="1" dirty="0">
                <a:solidFill>
                  <a:schemeClr val="tx1"/>
                </a:solidFill>
              </a:rPr>
              <a:t>Chuyển tiếp tin giao việc</a:t>
            </a:r>
            <a:endParaRPr lang="en-US" sz="1500" dirty="0"/>
          </a:p>
        </p:txBody>
      </p:sp>
      <p:sp>
        <p:nvSpPr>
          <p:cNvPr id="15" name="text-124"/>
          <p:cNvSpPr txBox="1"/>
          <p:nvPr/>
        </p:nvSpPr>
        <p:spPr>
          <a:xfrm>
            <a:off x="2761488" y="3200400"/>
            <a:ext cx="1554480" cy="1188720"/>
          </a:xfrm>
          <a:prstGeom prst="rect">
            <a:avLst/>
          </a:prstGeom>
          <a:noFill/>
          <a:ln/>
        </p:spPr>
        <p:txBody>
          <a:bodyPr wrap="square" lIns="0" tIns="0" rIns="0" bIns="0" rtlCol="0" anchor="t"/>
          <a:lstStyle/>
          <a:p>
            <a:pPr indent="0" marL="0">
              <a:buNone/>
            </a:pPr>
            <a:r>
              <a:rPr lang="en-US" sz="1400" dirty="0">
                <a:solidFill>
                  <a:schemeClr val="tx2"/>
                </a:solidFill>
              </a:rPr>
              <a:t>Forward tin của sếp cho bot, bấm Lưu là xong.</a:t>
            </a:r>
            <a:endParaRPr lang="en-US" sz="1400" dirty="0"/>
          </a:p>
        </p:txBody>
      </p:sp>
      <p:sp>
        <p:nvSpPr>
          <p:cNvPr id="16" name="text-125"/>
          <p:cNvSpPr txBox="1"/>
          <p:nvPr/>
        </p:nvSpPr>
        <p:spPr>
          <a:xfrm>
            <a:off x="4700016" y="1051560"/>
            <a:ext cx="1828800" cy="365760"/>
          </a:xfrm>
          <a:prstGeom prst="rect">
            <a:avLst/>
          </a:prstGeom>
          <a:noFill/>
          <a:ln/>
        </p:spPr>
        <p:txBody>
          <a:bodyPr wrap="square" lIns="0" tIns="0" rIns="0" bIns="0" rtlCol="0" anchor="t"/>
          <a:lstStyle/>
          <a:p>
            <a:pPr algn="ctr" indent="0" marL="0">
              <a:buNone/>
            </a:pPr>
            <a:r>
              <a:rPr lang="en-US" sz="2000" b="1" dirty="0">
                <a:solidFill>
                  <a:schemeClr val="tx1"/>
                </a:solidFill>
              </a:rPr>
              <a:t>16:00</a:t>
            </a:r>
            <a:endParaRPr lang="en-US" sz="2000" dirty="0"/>
          </a:p>
        </p:txBody>
      </p:sp>
      <p:sp>
        <p:nvSpPr>
          <p:cNvPr id="17" name="icon-bg-126"/>
          <p:cNvSpPr/>
          <p:nvPr/>
        </p:nvSpPr>
        <p:spPr>
          <a:xfrm>
            <a:off x="5340096" y="1600200"/>
            <a:ext cx="548640" cy="548640"/>
          </a:xfrm>
          <a:prstGeom prst="ellipse">
            <a:avLst/>
          </a:prstGeom>
          <a:solidFill>
            <a:schemeClr val="accent2"/>
          </a:solidFill>
          <a:ln/>
        </p:spPr>
      </p:sp>
      <p:pic>
        <p:nvPicPr>
          <p:cNvPr id="18" name="icon-FaBell-127" descr="preencoded.png">    </p:cNvPr>
          <p:cNvPicPr>
            <a:picLocks noChangeAspect="1"/>
          </p:cNvPicPr>
          <p:nvPr/>
        </p:nvPicPr>
        <p:blipFill>
          <a:blip r:embed="rId3"/>
          <a:stretch>
            <a:fillRect/>
          </a:stretch>
        </p:blipFill>
        <p:spPr>
          <a:xfrm>
            <a:off x="5477256" y="1737360"/>
            <a:ext cx="274320" cy="274320"/>
          </a:xfrm>
          <a:prstGeom prst="rect">
            <a:avLst/>
          </a:prstGeom>
        </p:spPr>
      </p:pic>
      <p:sp>
        <p:nvSpPr>
          <p:cNvPr id="19" name="card-128"/>
          <p:cNvSpPr/>
          <p:nvPr/>
        </p:nvSpPr>
        <p:spPr>
          <a:xfrm>
            <a:off x="4654296" y="2423160"/>
            <a:ext cx="1920240" cy="1828800"/>
          </a:xfrm>
          <a:prstGeom prst="roundRect">
            <a:avLst>
              <a:gd name="adj" fmla="val 6000"/>
            </a:avLst>
          </a:prstGeom>
          <a:solidFill>
            <a:schemeClr val="bg1"/>
          </a:solidFill>
          <a:ln/>
          <a:effectLst>
            <a:outerShdw sx="100000" sy="100000" kx="0" ky="0" algn="bl" rotWithShape="0" blurRad="101600" dist="25400" dir="5400000">
              <a:srgbClr val="0B1F4B">
                <a:alpha val="12000"/>
              </a:srgbClr>
            </a:outerShdw>
          </a:effectLst>
        </p:spPr>
      </p:sp>
      <p:sp>
        <p:nvSpPr>
          <p:cNvPr id="20" name="text-129"/>
          <p:cNvSpPr txBox="1"/>
          <p:nvPr/>
        </p:nvSpPr>
        <p:spPr>
          <a:xfrm>
            <a:off x="4837176" y="2606040"/>
            <a:ext cx="1554480" cy="594360"/>
          </a:xfrm>
          <a:prstGeom prst="rect">
            <a:avLst/>
          </a:prstGeom>
          <a:noFill/>
          <a:ln/>
        </p:spPr>
        <p:txBody>
          <a:bodyPr wrap="square" lIns="0" tIns="0" rIns="0" bIns="0" rtlCol="0" anchor="t"/>
          <a:lstStyle/>
          <a:p>
            <a:pPr indent="0" marL="0">
              <a:buNone/>
            </a:pPr>
            <a:r>
              <a:rPr lang="en-US" sz="1500" b="1" dirty="0">
                <a:solidFill>
                  <a:schemeClr val="tx1"/>
                </a:solidFill>
              </a:rPr>
              <a:t>Nhắc trước hạn</a:t>
            </a:r>
            <a:endParaRPr lang="en-US" sz="1500" dirty="0"/>
          </a:p>
        </p:txBody>
      </p:sp>
      <p:sp>
        <p:nvSpPr>
          <p:cNvPr id="21" name="text-130"/>
          <p:cNvSpPr txBox="1"/>
          <p:nvPr/>
        </p:nvSpPr>
        <p:spPr>
          <a:xfrm>
            <a:off x="4837176" y="3200400"/>
            <a:ext cx="1554480" cy="1188720"/>
          </a:xfrm>
          <a:prstGeom prst="rect">
            <a:avLst/>
          </a:prstGeom>
          <a:noFill/>
          <a:ln/>
        </p:spPr>
        <p:txBody>
          <a:bodyPr wrap="square" lIns="0" tIns="0" rIns="0" bIns="0" rtlCol="0" anchor="t"/>
          <a:lstStyle/>
          <a:p>
            <a:pPr indent="0" marL="0">
              <a:buNone/>
            </a:pPr>
            <a:r>
              <a:rPr lang="en-US" sz="1400" dirty="0">
                <a:solidFill>
                  <a:schemeClr val="tx2"/>
                </a:solidFill>
              </a:rPr>
              <a:t>“Còn 1 tiếng: gửi báo giá Q7.”</a:t>
            </a:r>
            <a:endParaRPr lang="en-US" sz="1400" dirty="0"/>
          </a:p>
        </p:txBody>
      </p:sp>
      <p:sp>
        <p:nvSpPr>
          <p:cNvPr id="22" name="text-131"/>
          <p:cNvSpPr txBox="1"/>
          <p:nvPr/>
        </p:nvSpPr>
        <p:spPr>
          <a:xfrm>
            <a:off x="6775704" y="1051560"/>
            <a:ext cx="1828800" cy="365760"/>
          </a:xfrm>
          <a:prstGeom prst="rect">
            <a:avLst/>
          </a:prstGeom>
          <a:noFill/>
          <a:ln/>
        </p:spPr>
        <p:txBody>
          <a:bodyPr wrap="square" lIns="0" tIns="0" rIns="0" bIns="0" rtlCol="0" anchor="t"/>
          <a:lstStyle/>
          <a:p>
            <a:pPr algn="ctr" indent="0" marL="0">
              <a:buNone/>
            </a:pPr>
            <a:r>
              <a:rPr lang="en-US" sz="2000" b="1" dirty="0">
                <a:solidFill>
                  <a:schemeClr val="tx1"/>
                </a:solidFill>
              </a:rPr>
              <a:t>17:30</a:t>
            </a:r>
            <a:endParaRPr lang="en-US" sz="2000" dirty="0"/>
          </a:p>
        </p:txBody>
      </p:sp>
      <p:sp>
        <p:nvSpPr>
          <p:cNvPr id="23" name="icon-bg-132"/>
          <p:cNvSpPr/>
          <p:nvPr/>
        </p:nvSpPr>
        <p:spPr>
          <a:xfrm>
            <a:off x="7415784" y="1600200"/>
            <a:ext cx="548640" cy="548640"/>
          </a:xfrm>
          <a:prstGeom prst="ellipse">
            <a:avLst/>
          </a:prstGeom>
          <a:solidFill>
            <a:schemeClr val="accent3"/>
          </a:solidFill>
          <a:ln/>
        </p:spPr>
      </p:sp>
      <p:pic>
        <p:nvPicPr>
          <p:cNvPr id="24" name="icon-FaCheckCircle-133" descr="preencoded.png">    </p:cNvPr>
          <p:cNvPicPr>
            <a:picLocks noChangeAspect="1"/>
          </p:cNvPicPr>
          <p:nvPr/>
        </p:nvPicPr>
        <p:blipFill>
          <a:blip r:embed="rId4"/>
          <a:stretch>
            <a:fillRect/>
          </a:stretch>
        </p:blipFill>
        <p:spPr>
          <a:xfrm>
            <a:off x="7552944" y="1737360"/>
            <a:ext cx="274320" cy="274320"/>
          </a:xfrm>
          <a:prstGeom prst="rect">
            <a:avLst/>
          </a:prstGeom>
        </p:spPr>
      </p:pic>
      <p:sp>
        <p:nvSpPr>
          <p:cNvPr id="25" name="card-134"/>
          <p:cNvSpPr/>
          <p:nvPr/>
        </p:nvSpPr>
        <p:spPr>
          <a:xfrm>
            <a:off x="6729984" y="2423160"/>
            <a:ext cx="1920240" cy="1828800"/>
          </a:xfrm>
          <a:prstGeom prst="roundRect">
            <a:avLst>
              <a:gd name="adj" fmla="val 6000"/>
            </a:avLst>
          </a:prstGeom>
          <a:solidFill>
            <a:schemeClr val="bg1"/>
          </a:solidFill>
          <a:ln/>
          <a:effectLst>
            <a:outerShdw sx="100000" sy="100000" kx="0" ky="0" algn="bl" rotWithShape="0" blurRad="101600" dist="25400" dir="5400000">
              <a:srgbClr val="0B1F4B">
                <a:alpha val="12000"/>
              </a:srgbClr>
            </a:outerShdw>
          </a:effectLst>
        </p:spPr>
      </p:sp>
      <p:sp>
        <p:nvSpPr>
          <p:cNvPr id="26" name="text-135"/>
          <p:cNvSpPr txBox="1"/>
          <p:nvPr/>
        </p:nvSpPr>
        <p:spPr>
          <a:xfrm>
            <a:off x="6912864" y="2606040"/>
            <a:ext cx="1554480" cy="594360"/>
          </a:xfrm>
          <a:prstGeom prst="rect">
            <a:avLst/>
          </a:prstGeom>
          <a:noFill/>
          <a:ln/>
        </p:spPr>
        <p:txBody>
          <a:bodyPr wrap="square" lIns="0" tIns="0" rIns="0" bIns="0" rtlCol="0" anchor="t"/>
          <a:lstStyle/>
          <a:p>
            <a:pPr indent="0" marL="0">
              <a:buNone/>
            </a:pPr>
            <a:r>
              <a:rPr lang="en-US" sz="1500" b="1" dirty="0">
                <a:solidFill>
                  <a:schemeClr val="tx1"/>
                </a:solidFill>
              </a:rPr>
              <a:t>Báo xong việc</a:t>
            </a:r>
            <a:endParaRPr lang="en-US" sz="1500" dirty="0"/>
          </a:p>
        </p:txBody>
      </p:sp>
      <p:sp>
        <p:nvSpPr>
          <p:cNvPr id="27" name="text-136"/>
          <p:cNvSpPr txBox="1"/>
          <p:nvPr/>
        </p:nvSpPr>
        <p:spPr>
          <a:xfrm>
            <a:off x="6912864" y="3200400"/>
            <a:ext cx="1554480" cy="1188720"/>
          </a:xfrm>
          <a:prstGeom prst="rect">
            <a:avLst/>
          </a:prstGeom>
          <a:noFill/>
          <a:ln/>
        </p:spPr>
        <p:txBody>
          <a:bodyPr wrap="square" lIns="0" tIns="0" rIns="0" bIns="0" rtlCol="0" anchor="t"/>
          <a:lstStyle/>
          <a:p>
            <a:pPr indent="0" marL="0">
              <a:buNone/>
            </a:pPr>
            <a:r>
              <a:rPr lang="en-US" sz="1400" dirty="0">
                <a:solidFill>
                  <a:schemeClr val="tx2"/>
                </a:solidFill>
              </a:rPr>
              <a:t>Trả lời “xong 1”, quản lý thấy ngay trên bảng.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1"/>
                </a:solidFill>
              </a:rPr>
              <a:t>Lấy tin nhắn từ Zalo: chọn cách an toàn</a:t>
            </a:r>
            <a:endParaRPr lang="en-US" sz="2600" dirty="0"/>
          </a:p>
        </p:txBody>
      </p:sp>
      <p:sp>
        <p:nvSpPr>
          <p:cNvPr id="3" name="card-137"/>
          <p:cNvSpPr/>
          <p:nvPr/>
        </p:nvSpPr>
        <p:spPr>
          <a:xfrm>
            <a:off x="457200" y="1051560"/>
            <a:ext cx="4023360" cy="1463040"/>
          </a:xfrm>
          <a:prstGeom prst="roundRect">
            <a:avLst>
              <a:gd name="adj" fmla="val 7500"/>
            </a:avLst>
          </a:prstGeom>
          <a:solidFill>
            <a:schemeClr val="bg1"/>
          </a:solidFill>
          <a:ln/>
          <a:effectLst>
            <a:outerShdw sx="100000" sy="100000" kx="0" ky="0" algn="bl" rotWithShape="0" blurRad="101600" dist="25400" dir="5400000">
              <a:srgbClr val="0B1F4B">
                <a:alpha val="12000"/>
              </a:srgbClr>
            </a:outerShdw>
          </a:effectLst>
        </p:spPr>
      </p:sp>
      <p:sp>
        <p:nvSpPr>
          <p:cNvPr id="4" name="icon-bg-138"/>
          <p:cNvSpPr/>
          <p:nvPr/>
        </p:nvSpPr>
        <p:spPr>
          <a:xfrm>
            <a:off x="685800" y="1280160"/>
            <a:ext cx="594360" cy="594360"/>
          </a:xfrm>
          <a:prstGeom prst="ellipse">
            <a:avLst/>
          </a:prstGeom>
          <a:solidFill>
            <a:schemeClr val="accent1"/>
          </a:solidFill>
          <a:ln/>
        </p:spPr>
      </p:sp>
      <p:pic>
        <p:nvPicPr>
          <p:cNvPr id="5" name="icon-FaRobot-139" descr="preencoded.png">    </p:cNvPr>
          <p:cNvPicPr>
            <a:picLocks noChangeAspect="1"/>
          </p:cNvPicPr>
          <p:nvPr/>
        </p:nvPicPr>
        <p:blipFill>
          <a:blip r:embed="rId1"/>
          <a:stretch>
            <a:fillRect/>
          </a:stretch>
        </p:blipFill>
        <p:spPr>
          <a:xfrm>
            <a:off x="834390" y="1428750"/>
            <a:ext cx="297180" cy="297180"/>
          </a:xfrm>
          <a:prstGeom prst="rect">
            <a:avLst/>
          </a:prstGeom>
        </p:spPr>
      </p:pic>
      <p:sp>
        <p:nvSpPr>
          <p:cNvPr id="6" name="text-140"/>
          <p:cNvSpPr txBox="1"/>
          <p:nvPr/>
        </p:nvSpPr>
        <p:spPr>
          <a:xfrm>
            <a:off x="1463040" y="1216152"/>
            <a:ext cx="2880360" cy="347472"/>
          </a:xfrm>
          <a:prstGeom prst="rect">
            <a:avLst/>
          </a:prstGeom>
          <a:noFill/>
          <a:ln/>
        </p:spPr>
        <p:txBody>
          <a:bodyPr wrap="square" lIns="0" tIns="0" rIns="0" bIns="0" rtlCol="0" anchor="ctr"/>
          <a:lstStyle/>
          <a:p>
            <a:pPr indent="0" marL="0">
              <a:buNone/>
            </a:pPr>
            <a:r>
              <a:rPr lang="en-US" sz="1600" b="1" dirty="0">
                <a:solidFill>
                  <a:schemeClr val="tx1"/>
                </a:solidFill>
              </a:rPr>
              <a:t>Bot Zalo chính thức</a:t>
            </a:r>
            <a:endParaRPr lang="en-US" sz="1600" dirty="0"/>
          </a:p>
        </p:txBody>
      </p:sp>
      <p:sp>
        <p:nvSpPr>
          <p:cNvPr id="7" name="pill-141"/>
          <p:cNvSpPr/>
          <p:nvPr/>
        </p:nvSpPr>
        <p:spPr>
          <a:xfrm>
            <a:off x="1463040" y="1600200"/>
            <a:ext cx="160020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Làm ngay (bản đầu)</a:t>
            </a:r>
            <a:endParaRPr lang="en-US" sz="1100" dirty="0"/>
          </a:p>
        </p:txBody>
      </p:sp>
      <p:sp>
        <p:nvSpPr>
          <p:cNvPr id="8" name="text-142"/>
          <p:cNvSpPr txBox="1"/>
          <p:nvPr/>
        </p:nvSpPr>
        <p:spPr>
          <a:xfrm>
            <a:off x="1463040" y="1947672"/>
            <a:ext cx="2880360" cy="502920"/>
          </a:xfrm>
          <a:prstGeom prst="rect">
            <a:avLst/>
          </a:prstGeom>
          <a:noFill/>
          <a:ln/>
        </p:spPr>
        <p:txBody>
          <a:bodyPr wrap="square" lIns="0" tIns="0" rIns="0" bIns="0" rtlCol="0" anchor="t"/>
          <a:lstStyle/>
          <a:p>
            <a:pPr indent="0" marL="0">
              <a:buNone/>
            </a:pPr>
            <a:r>
              <a:rPr lang="en-US" sz="1400" dirty="0">
                <a:solidFill>
                  <a:schemeClr val="tx2"/>
                </a:solidFill>
              </a:rPr>
              <a:t>Người dùng nhắn hoặc chuyển tiếp tin cho bot. Hợp lệ, dễ làm.</a:t>
            </a:r>
            <a:endParaRPr lang="en-US" sz="1400" dirty="0"/>
          </a:p>
        </p:txBody>
      </p:sp>
      <p:sp>
        <p:nvSpPr>
          <p:cNvPr id="9" name="card-143"/>
          <p:cNvSpPr/>
          <p:nvPr/>
        </p:nvSpPr>
        <p:spPr>
          <a:xfrm>
            <a:off x="4663440" y="1051560"/>
            <a:ext cx="4023360" cy="1463040"/>
          </a:xfrm>
          <a:prstGeom prst="roundRect">
            <a:avLst>
              <a:gd name="adj" fmla="val 7500"/>
            </a:avLst>
          </a:prstGeom>
          <a:solidFill>
            <a:schemeClr val="bg1"/>
          </a:solidFill>
          <a:ln/>
          <a:effectLst>
            <a:outerShdw sx="100000" sy="100000" kx="0" ky="0" algn="bl" rotWithShape="0" blurRad="101600" dist="25400" dir="5400000">
              <a:srgbClr val="0B1F4B">
                <a:alpha val="12000"/>
              </a:srgbClr>
            </a:outerShdw>
          </a:effectLst>
        </p:spPr>
      </p:sp>
      <p:sp>
        <p:nvSpPr>
          <p:cNvPr id="10" name="icon-bg-144"/>
          <p:cNvSpPr/>
          <p:nvPr/>
        </p:nvSpPr>
        <p:spPr>
          <a:xfrm>
            <a:off x="4892040" y="1280160"/>
            <a:ext cx="594360" cy="594360"/>
          </a:xfrm>
          <a:prstGeom prst="ellipse">
            <a:avLst/>
          </a:prstGeom>
          <a:solidFill>
            <a:schemeClr val="accent5"/>
          </a:solidFill>
          <a:ln/>
        </p:spPr>
      </p:sp>
      <p:pic>
        <p:nvPicPr>
          <p:cNvPr id="11" name="icon-FaBuilding-145" descr="preencoded.png">    </p:cNvPr>
          <p:cNvPicPr>
            <a:picLocks noChangeAspect="1"/>
          </p:cNvPicPr>
          <p:nvPr/>
        </p:nvPicPr>
        <p:blipFill>
          <a:blip r:embed="rId2"/>
          <a:stretch>
            <a:fillRect/>
          </a:stretch>
        </p:blipFill>
        <p:spPr>
          <a:xfrm>
            <a:off x="5040630" y="1428750"/>
            <a:ext cx="297180" cy="297180"/>
          </a:xfrm>
          <a:prstGeom prst="rect">
            <a:avLst/>
          </a:prstGeom>
        </p:spPr>
      </p:pic>
      <p:sp>
        <p:nvSpPr>
          <p:cNvPr id="12" name="text-146"/>
          <p:cNvSpPr txBox="1"/>
          <p:nvPr/>
        </p:nvSpPr>
        <p:spPr>
          <a:xfrm>
            <a:off x="5669280" y="1216152"/>
            <a:ext cx="2880360" cy="347472"/>
          </a:xfrm>
          <a:prstGeom prst="rect">
            <a:avLst/>
          </a:prstGeom>
          <a:noFill/>
          <a:ln/>
        </p:spPr>
        <p:txBody>
          <a:bodyPr wrap="square" lIns="0" tIns="0" rIns="0" bIns="0" rtlCol="0" anchor="ctr"/>
          <a:lstStyle/>
          <a:p>
            <a:pPr indent="0" marL="0">
              <a:buNone/>
            </a:pPr>
            <a:r>
              <a:rPr lang="en-US" sz="1600" b="1" dirty="0">
                <a:solidFill>
                  <a:schemeClr val="tx1"/>
                </a:solidFill>
              </a:rPr>
              <a:t>Zalo Official Account (OA)</a:t>
            </a:r>
            <a:endParaRPr lang="en-US" sz="1600" dirty="0"/>
          </a:p>
        </p:txBody>
      </p:sp>
      <p:sp>
        <p:nvSpPr>
          <p:cNvPr id="13" name="pill-147"/>
          <p:cNvSpPr/>
          <p:nvPr/>
        </p:nvSpPr>
        <p:spPr>
          <a:xfrm>
            <a:off x="5669280" y="1600200"/>
            <a:ext cx="160020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Giai đoạn 2</a:t>
            </a:r>
            <a:endParaRPr lang="en-US" sz="1100" dirty="0"/>
          </a:p>
        </p:txBody>
      </p:sp>
      <p:sp>
        <p:nvSpPr>
          <p:cNvPr id="14" name="text-148"/>
          <p:cNvSpPr txBox="1"/>
          <p:nvPr/>
        </p:nvSpPr>
        <p:spPr>
          <a:xfrm>
            <a:off x="5669280" y="1947672"/>
            <a:ext cx="2880360" cy="502920"/>
          </a:xfrm>
          <a:prstGeom prst="rect">
            <a:avLst/>
          </a:prstGeom>
          <a:noFill/>
          <a:ln/>
        </p:spPr>
        <p:txBody>
          <a:bodyPr wrap="square" lIns="0" tIns="0" rIns="0" bIns="0" rtlCol="0" anchor="t"/>
          <a:lstStyle/>
          <a:p>
            <a:pPr indent="0" marL="0">
              <a:buNone/>
            </a:pPr>
            <a:r>
              <a:rPr lang="en-US" sz="1400" dirty="0">
                <a:solidFill>
                  <a:schemeClr val="tx2"/>
                </a:solidFill>
              </a:rPr>
              <a:t>Tin khách hàng gửi tới OA của doanh nghiệp tự thành việc.</a:t>
            </a:r>
            <a:endParaRPr lang="en-US" sz="1400" dirty="0"/>
          </a:p>
        </p:txBody>
      </p:sp>
      <p:sp>
        <p:nvSpPr>
          <p:cNvPr id="15" name="card-149"/>
          <p:cNvSpPr/>
          <p:nvPr/>
        </p:nvSpPr>
        <p:spPr>
          <a:xfrm>
            <a:off x="457200" y="2651760"/>
            <a:ext cx="4023360" cy="1463040"/>
          </a:xfrm>
          <a:prstGeom prst="roundRect">
            <a:avLst>
              <a:gd name="adj" fmla="val 7500"/>
            </a:avLst>
          </a:prstGeom>
          <a:solidFill>
            <a:schemeClr val="bg1"/>
          </a:solidFill>
          <a:ln/>
          <a:effectLst>
            <a:outerShdw sx="100000" sy="100000" kx="0" ky="0" algn="bl" rotWithShape="0" blurRad="101600" dist="25400" dir="5400000">
              <a:srgbClr val="0B1F4B">
                <a:alpha val="12000"/>
              </a:srgbClr>
            </a:outerShdw>
          </a:effectLst>
        </p:spPr>
      </p:sp>
      <p:sp>
        <p:nvSpPr>
          <p:cNvPr id="16" name="icon-bg-150"/>
          <p:cNvSpPr/>
          <p:nvPr/>
        </p:nvSpPr>
        <p:spPr>
          <a:xfrm>
            <a:off x="685800" y="2880360"/>
            <a:ext cx="594360" cy="594360"/>
          </a:xfrm>
          <a:prstGeom prst="ellipse">
            <a:avLst/>
          </a:prstGeom>
          <a:solidFill>
            <a:schemeClr val="accent2"/>
          </a:solidFill>
          <a:ln/>
        </p:spPr>
      </p:sp>
      <p:pic>
        <p:nvPicPr>
          <p:cNvPr id="17" name="icon-FaCamera-151" descr="preencoded.png">    </p:cNvPr>
          <p:cNvPicPr>
            <a:picLocks noChangeAspect="1"/>
          </p:cNvPicPr>
          <p:nvPr/>
        </p:nvPicPr>
        <p:blipFill>
          <a:blip r:embed="rId3"/>
          <a:stretch>
            <a:fillRect/>
          </a:stretch>
        </p:blipFill>
        <p:spPr>
          <a:xfrm>
            <a:off x="834390" y="3028950"/>
            <a:ext cx="297180" cy="297180"/>
          </a:xfrm>
          <a:prstGeom prst="rect">
            <a:avLst/>
          </a:prstGeom>
        </p:spPr>
      </p:pic>
      <p:sp>
        <p:nvSpPr>
          <p:cNvPr id="18" name="text-152"/>
          <p:cNvSpPr txBox="1"/>
          <p:nvPr/>
        </p:nvSpPr>
        <p:spPr>
          <a:xfrm>
            <a:off x="1463040" y="2816352"/>
            <a:ext cx="2880360" cy="347472"/>
          </a:xfrm>
          <a:prstGeom prst="rect">
            <a:avLst/>
          </a:prstGeom>
          <a:noFill/>
          <a:ln/>
        </p:spPr>
        <p:txBody>
          <a:bodyPr wrap="square" lIns="0" tIns="0" rIns="0" bIns="0" rtlCol="0" anchor="ctr"/>
          <a:lstStyle/>
          <a:p>
            <a:pPr indent="0" marL="0">
              <a:buNone/>
            </a:pPr>
            <a:r>
              <a:rPr lang="en-US" sz="1600" b="1" dirty="0">
                <a:solidFill>
                  <a:schemeClr val="tx1"/>
                </a:solidFill>
              </a:rPr>
              <a:t>Dán chữ, chụp màn hình</a:t>
            </a:r>
            <a:endParaRPr lang="en-US" sz="1600" dirty="0"/>
          </a:p>
        </p:txBody>
      </p:sp>
      <p:sp>
        <p:nvSpPr>
          <p:cNvPr id="19" name="pill-153"/>
          <p:cNvSpPr/>
          <p:nvPr/>
        </p:nvSpPr>
        <p:spPr>
          <a:xfrm>
            <a:off x="1463040" y="3200400"/>
            <a:ext cx="160020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Luôn dùng được</a:t>
            </a:r>
            <a:endParaRPr lang="en-US" sz="1100" dirty="0"/>
          </a:p>
        </p:txBody>
      </p:sp>
      <p:sp>
        <p:nvSpPr>
          <p:cNvPr id="20" name="text-154"/>
          <p:cNvSpPr txBox="1"/>
          <p:nvPr/>
        </p:nvSpPr>
        <p:spPr>
          <a:xfrm>
            <a:off x="1463040" y="3547872"/>
            <a:ext cx="2880360" cy="502920"/>
          </a:xfrm>
          <a:prstGeom prst="rect">
            <a:avLst/>
          </a:prstGeom>
          <a:noFill/>
          <a:ln/>
        </p:spPr>
        <p:txBody>
          <a:bodyPr wrap="square" lIns="0" tIns="0" rIns="0" bIns="0" rtlCol="0" anchor="t"/>
          <a:lstStyle/>
          <a:p>
            <a:pPr indent="0" marL="0">
              <a:buNone/>
            </a:pPr>
            <a:r>
              <a:rPr lang="en-US" sz="1400" dirty="0">
                <a:solidFill>
                  <a:schemeClr val="tx2"/>
                </a:solidFill>
              </a:rPr>
              <a:t>Dán tin hoặc gửi ảnh chụp, AI tự đọc chữ trong ảnh.</a:t>
            </a:r>
            <a:endParaRPr lang="en-US" sz="1400" dirty="0"/>
          </a:p>
        </p:txBody>
      </p:sp>
      <p:sp>
        <p:nvSpPr>
          <p:cNvPr id="21" name="card-155"/>
          <p:cNvSpPr/>
          <p:nvPr/>
        </p:nvSpPr>
        <p:spPr>
          <a:xfrm>
            <a:off x="4663440" y="2651760"/>
            <a:ext cx="4023360" cy="1463040"/>
          </a:xfrm>
          <a:prstGeom prst="roundRect">
            <a:avLst>
              <a:gd name="adj" fmla="val 7500"/>
            </a:avLst>
          </a:prstGeom>
          <a:solidFill>
            <a:schemeClr val="bg1"/>
          </a:solidFill>
          <a:ln/>
          <a:effectLst>
            <a:outerShdw sx="100000" sy="100000" kx="0" ky="0" algn="bl" rotWithShape="0" blurRad="101600" dist="25400" dir="5400000">
              <a:srgbClr val="0B1F4B">
                <a:alpha val="12000"/>
              </a:srgbClr>
            </a:outerShdw>
          </a:effectLst>
        </p:spPr>
      </p:sp>
      <p:sp>
        <p:nvSpPr>
          <p:cNvPr id="22" name="icon-bg-156"/>
          <p:cNvSpPr/>
          <p:nvPr/>
        </p:nvSpPr>
        <p:spPr>
          <a:xfrm>
            <a:off x="4892040" y="2880360"/>
            <a:ext cx="594360" cy="594360"/>
          </a:xfrm>
          <a:prstGeom prst="ellipse">
            <a:avLst/>
          </a:prstGeom>
          <a:solidFill>
            <a:schemeClr val="accent4"/>
          </a:solidFill>
          <a:ln/>
        </p:spPr>
      </p:sp>
      <p:pic>
        <p:nvPicPr>
          <p:cNvPr id="23" name="icon-FaUserSecret-157" descr="preencoded.png">    </p:cNvPr>
          <p:cNvPicPr>
            <a:picLocks noChangeAspect="1"/>
          </p:cNvPicPr>
          <p:nvPr/>
        </p:nvPicPr>
        <p:blipFill>
          <a:blip r:embed="rId4"/>
          <a:stretch>
            <a:fillRect/>
          </a:stretch>
        </p:blipFill>
        <p:spPr>
          <a:xfrm>
            <a:off x="5040630" y="3028950"/>
            <a:ext cx="297180" cy="297180"/>
          </a:xfrm>
          <a:prstGeom prst="rect">
            <a:avLst/>
          </a:prstGeom>
        </p:spPr>
      </p:pic>
      <p:sp>
        <p:nvSpPr>
          <p:cNvPr id="24" name="text-158"/>
          <p:cNvSpPr txBox="1"/>
          <p:nvPr/>
        </p:nvSpPr>
        <p:spPr>
          <a:xfrm>
            <a:off x="5669280" y="2816352"/>
            <a:ext cx="2880360" cy="347472"/>
          </a:xfrm>
          <a:prstGeom prst="rect">
            <a:avLst/>
          </a:prstGeom>
          <a:noFill/>
          <a:ln/>
        </p:spPr>
        <p:txBody>
          <a:bodyPr wrap="square" lIns="0" tIns="0" rIns="0" bIns="0" rtlCol="0" anchor="ctr"/>
          <a:lstStyle/>
          <a:p>
            <a:pPr indent="0" marL="0">
              <a:buNone/>
            </a:pPr>
            <a:r>
              <a:rPr lang="en-US" sz="1600" b="1" dirty="0">
                <a:solidFill>
                  <a:schemeClr val="tx1"/>
                </a:solidFill>
              </a:rPr>
              <a:t>Đọc lén tài khoản cá nhân</a:t>
            </a:r>
            <a:endParaRPr lang="en-US" sz="1600" dirty="0"/>
          </a:p>
        </p:txBody>
      </p:sp>
      <p:sp>
        <p:nvSpPr>
          <p:cNvPr id="25" name="pill-159"/>
          <p:cNvSpPr/>
          <p:nvPr/>
        </p:nvSpPr>
        <p:spPr>
          <a:xfrm>
            <a:off x="5669280" y="3200400"/>
            <a:ext cx="1600200"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Không dùng</a:t>
            </a:r>
            <a:endParaRPr lang="en-US" sz="1100" dirty="0"/>
          </a:p>
        </p:txBody>
      </p:sp>
      <p:sp>
        <p:nvSpPr>
          <p:cNvPr id="26" name="text-160"/>
          <p:cNvSpPr txBox="1"/>
          <p:nvPr/>
        </p:nvSpPr>
        <p:spPr>
          <a:xfrm>
            <a:off x="5669280" y="3547872"/>
            <a:ext cx="2880360" cy="502920"/>
          </a:xfrm>
          <a:prstGeom prst="rect">
            <a:avLst/>
          </a:prstGeom>
          <a:noFill/>
          <a:ln/>
        </p:spPr>
        <p:txBody>
          <a:bodyPr wrap="square" lIns="0" tIns="0" rIns="0" bIns="0" rtlCol="0" anchor="t"/>
          <a:lstStyle/>
          <a:p>
            <a:pPr indent="0" marL="0">
              <a:buNone/>
            </a:pPr>
            <a:r>
              <a:rPr lang="en-US" sz="1400" dirty="0">
                <a:solidFill>
                  <a:schemeClr val="tx2"/>
                </a:solidFill>
              </a:rPr>
              <a:t>Vi phạm điều khoản Zalo, có thể bị khóa tài khoản.</a:t>
            </a:r>
            <a:endParaRPr lang="en-US" sz="1400" dirty="0"/>
          </a:p>
        </p:txBody>
      </p:sp>
      <p:sp>
        <p:nvSpPr>
          <p:cNvPr id="27" name="text-161"/>
          <p:cNvSpPr txBox="1"/>
          <p:nvPr/>
        </p:nvSpPr>
        <p:spPr>
          <a:xfrm>
            <a:off x="457200" y="4279392"/>
            <a:ext cx="8229600" cy="365760"/>
          </a:xfrm>
          <a:prstGeom prst="rect">
            <a:avLst/>
          </a:prstGeom>
          <a:noFill/>
          <a:ln/>
        </p:spPr>
        <p:txBody>
          <a:bodyPr wrap="square" lIns="0" tIns="0" rIns="0" bIns="0" rtlCol="0" anchor="t"/>
          <a:lstStyle/>
          <a:p>
            <a:pPr indent="0" marL="0">
              <a:buNone/>
            </a:pPr>
            <a:r>
              <a:rPr lang="en-US" sz="1200" i="1" dirty="0">
                <a:solidFill>
                  <a:schemeClr val="tx2"/>
                </a:solidFill>
              </a:rPr>
              <a:t>Lưu ý: Zalo không cho app đọc tin của tài khoản cá nhân. Tuần đầu cần kiểm tra bot có vào được nhóm chat không.</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1"/>
                </a:solidFill>
              </a:rPr>
              <a:t>App hoạt động thế nào?</a:t>
            </a:r>
            <a:endParaRPr lang="en-US" sz="2600" dirty="0"/>
          </a:p>
        </p:txBody>
      </p:sp>
      <p:sp>
        <p:nvSpPr>
          <p:cNvPr id="3" name="card-162"/>
          <p:cNvSpPr/>
          <p:nvPr/>
        </p:nvSpPr>
        <p:spPr>
          <a:xfrm>
            <a:off x="457200" y="1097280"/>
            <a:ext cx="1389888" cy="1828800"/>
          </a:xfrm>
          <a:prstGeom prst="roundRect">
            <a:avLst>
              <a:gd name="adj" fmla="val 7895"/>
            </a:avLst>
          </a:prstGeom>
          <a:solidFill>
            <a:schemeClr val="bg1"/>
          </a:solidFill>
          <a:ln/>
          <a:effectLst>
            <a:outerShdw sx="100000" sy="100000" kx="0" ky="0" algn="bl" rotWithShape="0" blurRad="101600" dist="25400" dir="5400000">
              <a:srgbClr val="0B1F4B">
                <a:alpha val="12000"/>
              </a:srgbClr>
            </a:outerShdw>
          </a:effectLst>
        </p:spPr>
      </p:sp>
      <p:sp>
        <p:nvSpPr>
          <p:cNvPr id="4" name="icon-bg-163"/>
          <p:cNvSpPr/>
          <p:nvPr/>
        </p:nvSpPr>
        <p:spPr>
          <a:xfrm>
            <a:off x="877824" y="1234440"/>
            <a:ext cx="548640" cy="548640"/>
          </a:xfrm>
          <a:prstGeom prst="ellipse">
            <a:avLst/>
          </a:prstGeom>
          <a:solidFill>
            <a:schemeClr val="accent1"/>
          </a:solidFill>
          <a:ln/>
        </p:spPr>
      </p:sp>
      <p:pic>
        <p:nvPicPr>
          <p:cNvPr id="5" name="icon-FaInbox-164" descr="preencoded.png">    </p:cNvPr>
          <p:cNvPicPr>
            <a:picLocks noChangeAspect="1"/>
          </p:cNvPicPr>
          <p:nvPr/>
        </p:nvPicPr>
        <p:blipFill>
          <a:blip r:embed="rId1"/>
          <a:stretch>
            <a:fillRect/>
          </a:stretch>
        </p:blipFill>
        <p:spPr>
          <a:xfrm>
            <a:off x="1014984" y="1371600"/>
            <a:ext cx="274320" cy="274320"/>
          </a:xfrm>
          <a:prstGeom prst="rect">
            <a:avLst/>
          </a:prstGeom>
        </p:spPr>
      </p:pic>
      <p:sp>
        <p:nvSpPr>
          <p:cNvPr id="6" name="text-165"/>
          <p:cNvSpPr txBox="1"/>
          <p:nvPr/>
        </p:nvSpPr>
        <p:spPr>
          <a:xfrm>
            <a:off x="548640" y="1874520"/>
            <a:ext cx="1207008" cy="320040"/>
          </a:xfrm>
          <a:prstGeom prst="rect">
            <a:avLst/>
          </a:prstGeom>
          <a:noFill/>
          <a:ln/>
        </p:spPr>
        <p:txBody>
          <a:bodyPr wrap="square" lIns="0" tIns="0" rIns="0" bIns="0" rtlCol="0" anchor="t"/>
          <a:lstStyle/>
          <a:p>
            <a:pPr algn="ctr" indent="0" marL="0">
              <a:buNone/>
            </a:pPr>
            <a:r>
              <a:rPr lang="en-US" sz="1500" b="1" dirty="0">
                <a:solidFill>
                  <a:schemeClr val="tx1"/>
                </a:solidFill>
              </a:rPr>
              <a:t>Nhận tin</a:t>
            </a:r>
            <a:endParaRPr lang="en-US" sz="1500" dirty="0"/>
          </a:p>
        </p:txBody>
      </p:sp>
      <p:sp>
        <p:nvSpPr>
          <p:cNvPr id="7" name="text-166"/>
          <p:cNvSpPr txBox="1"/>
          <p:nvPr/>
        </p:nvSpPr>
        <p:spPr>
          <a:xfrm>
            <a:off x="548640" y="2194560"/>
            <a:ext cx="1207008" cy="685800"/>
          </a:xfrm>
          <a:prstGeom prst="rect">
            <a:avLst/>
          </a:prstGeom>
          <a:noFill/>
          <a:ln/>
        </p:spPr>
        <p:txBody>
          <a:bodyPr wrap="square" lIns="0" tIns="0" rIns="0" bIns="0" rtlCol="0" anchor="t"/>
          <a:lstStyle/>
          <a:p>
            <a:pPr algn="ctr" indent="0" marL="0">
              <a:buNone/>
            </a:pPr>
            <a:r>
              <a:rPr lang="en-US" sz="1200" dirty="0">
                <a:solidFill>
                  <a:schemeClr val="tx2"/>
                </a:solidFill>
              </a:rPr>
              <a:t>Từ bot, OA hoặc ảnh chụp</a:t>
            </a:r>
            <a:endParaRPr lang="en-US" sz="1200" dirty="0"/>
          </a:p>
        </p:txBody>
      </p:sp>
      <p:sp>
        <p:nvSpPr>
          <p:cNvPr id="8" name="arrow-167"/>
          <p:cNvSpPr/>
          <p:nvPr/>
        </p:nvSpPr>
        <p:spPr>
          <a:xfrm>
            <a:off x="1883664" y="2011680"/>
            <a:ext cx="246888" cy="0"/>
          </a:xfrm>
          <a:prstGeom prst="line">
            <a:avLst/>
          </a:prstGeom>
          <a:noFill/>
          <a:ln w="22225">
            <a:solidFill>
              <a:schemeClr val="tx2"/>
            </a:solidFill>
            <a:prstDash val="solid"/>
            <a:tailEnd type="triangle"/>
          </a:ln>
        </p:spPr>
      </p:sp>
      <p:sp>
        <p:nvSpPr>
          <p:cNvPr id="9" name="card-168"/>
          <p:cNvSpPr/>
          <p:nvPr/>
        </p:nvSpPr>
        <p:spPr>
          <a:xfrm>
            <a:off x="2167128" y="1097280"/>
            <a:ext cx="1389888" cy="1828800"/>
          </a:xfrm>
          <a:prstGeom prst="roundRect">
            <a:avLst>
              <a:gd name="adj" fmla="val 7895"/>
            </a:avLst>
          </a:prstGeom>
          <a:solidFill>
            <a:schemeClr val="bg1"/>
          </a:solidFill>
          <a:ln/>
          <a:effectLst>
            <a:outerShdw sx="100000" sy="100000" kx="0" ky="0" algn="bl" rotWithShape="0" blurRad="101600" dist="25400" dir="5400000">
              <a:srgbClr val="0B1F4B">
                <a:alpha val="12000"/>
              </a:srgbClr>
            </a:outerShdw>
          </a:effectLst>
        </p:spPr>
      </p:sp>
      <p:sp>
        <p:nvSpPr>
          <p:cNvPr id="10" name="icon-bg-169"/>
          <p:cNvSpPr/>
          <p:nvPr/>
        </p:nvSpPr>
        <p:spPr>
          <a:xfrm>
            <a:off x="2587752" y="1234440"/>
            <a:ext cx="548640" cy="548640"/>
          </a:xfrm>
          <a:prstGeom prst="ellipse">
            <a:avLst/>
          </a:prstGeom>
          <a:solidFill>
            <a:schemeClr val="tx2"/>
          </a:solidFill>
          <a:ln/>
        </p:spPr>
      </p:sp>
      <p:pic>
        <p:nvPicPr>
          <p:cNvPr id="11" name="icon-FaFilter-170" descr="preencoded.png">    </p:cNvPr>
          <p:cNvPicPr>
            <a:picLocks noChangeAspect="1"/>
          </p:cNvPicPr>
          <p:nvPr/>
        </p:nvPicPr>
        <p:blipFill>
          <a:blip r:embed="rId2"/>
          <a:stretch>
            <a:fillRect/>
          </a:stretch>
        </p:blipFill>
        <p:spPr>
          <a:xfrm>
            <a:off x="2724912" y="1371600"/>
            <a:ext cx="274320" cy="274320"/>
          </a:xfrm>
          <a:prstGeom prst="rect">
            <a:avLst/>
          </a:prstGeom>
        </p:spPr>
      </p:pic>
      <p:sp>
        <p:nvSpPr>
          <p:cNvPr id="12" name="text-171"/>
          <p:cNvSpPr txBox="1"/>
          <p:nvPr/>
        </p:nvSpPr>
        <p:spPr>
          <a:xfrm>
            <a:off x="2258568" y="1874520"/>
            <a:ext cx="1207008" cy="320040"/>
          </a:xfrm>
          <a:prstGeom prst="rect">
            <a:avLst/>
          </a:prstGeom>
          <a:noFill/>
          <a:ln/>
        </p:spPr>
        <p:txBody>
          <a:bodyPr wrap="square" lIns="0" tIns="0" rIns="0" bIns="0" rtlCol="0" anchor="t"/>
          <a:lstStyle/>
          <a:p>
            <a:pPr algn="ctr" indent="0" marL="0">
              <a:buNone/>
            </a:pPr>
            <a:r>
              <a:rPr lang="en-US" sz="1500" b="1" dirty="0">
                <a:solidFill>
                  <a:schemeClr val="tx1"/>
                </a:solidFill>
              </a:rPr>
              <a:t>Lọc tin</a:t>
            </a:r>
            <a:endParaRPr lang="en-US" sz="1500" dirty="0"/>
          </a:p>
        </p:txBody>
      </p:sp>
      <p:sp>
        <p:nvSpPr>
          <p:cNvPr id="13" name="text-172"/>
          <p:cNvSpPr txBox="1"/>
          <p:nvPr/>
        </p:nvSpPr>
        <p:spPr>
          <a:xfrm>
            <a:off x="2258568" y="2194560"/>
            <a:ext cx="1207008" cy="685800"/>
          </a:xfrm>
          <a:prstGeom prst="rect">
            <a:avLst/>
          </a:prstGeom>
          <a:noFill/>
          <a:ln/>
        </p:spPr>
        <p:txBody>
          <a:bodyPr wrap="square" lIns="0" tIns="0" rIns="0" bIns="0" rtlCol="0" anchor="t"/>
          <a:lstStyle/>
          <a:p>
            <a:pPr algn="ctr" indent="0" marL="0">
              <a:buNone/>
            </a:pPr>
            <a:r>
              <a:rPr lang="en-US" sz="1200" dirty="0">
                <a:solidFill>
                  <a:schemeClr val="tx2"/>
                </a:solidFill>
              </a:rPr>
              <a:t>Bỏ “ok”, sticker, chào hỏi</a:t>
            </a:r>
            <a:endParaRPr lang="en-US" sz="1200" dirty="0"/>
          </a:p>
        </p:txBody>
      </p:sp>
      <p:sp>
        <p:nvSpPr>
          <p:cNvPr id="14" name="arrow-173"/>
          <p:cNvSpPr/>
          <p:nvPr/>
        </p:nvSpPr>
        <p:spPr>
          <a:xfrm>
            <a:off x="3593592" y="2011680"/>
            <a:ext cx="246888" cy="0"/>
          </a:xfrm>
          <a:prstGeom prst="line">
            <a:avLst/>
          </a:prstGeom>
          <a:noFill/>
          <a:ln w="22225">
            <a:solidFill>
              <a:schemeClr val="tx2"/>
            </a:solidFill>
            <a:prstDash val="solid"/>
            <a:tailEnd type="triangle"/>
          </a:ln>
        </p:spPr>
      </p:sp>
      <p:sp>
        <p:nvSpPr>
          <p:cNvPr id="15" name="card-174"/>
          <p:cNvSpPr/>
          <p:nvPr/>
        </p:nvSpPr>
        <p:spPr>
          <a:xfrm>
            <a:off x="3877056" y="1097280"/>
            <a:ext cx="1389888" cy="1828800"/>
          </a:xfrm>
          <a:prstGeom prst="roundRect">
            <a:avLst>
              <a:gd name="adj" fmla="val 7895"/>
            </a:avLst>
          </a:prstGeom>
          <a:solidFill>
            <a:schemeClr val="bg1"/>
          </a:solidFill>
          <a:ln/>
          <a:effectLst>
            <a:outerShdw sx="100000" sy="100000" kx="0" ky="0" algn="bl" rotWithShape="0" blurRad="101600" dist="25400" dir="5400000">
              <a:srgbClr val="0B1F4B">
                <a:alpha val="12000"/>
              </a:srgbClr>
            </a:outerShdw>
          </a:effectLst>
        </p:spPr>
      </p:sp>
      <p:sp>
        <p:nvSpPr>
          <p:cNvPr id="16" name="icon-bg-175"/>
          <p:cNvSpPr/>
          <p:nvPr/>
        </p:nvSpPr>
        <p:spPr>
          <a:xfrm>
            <a:off x="4297680" y="1234440"/>
            <a:ext cx="548640" cy="548640"/>
          </a:xfrm>
          <a:prstGeom prst="ellipse">
            <a:avLst/>
          </a:prstGeom>
          <a:solidFill>
            <a:schemeClr val="accent5"/>
          </a:solidFill>
          <a:ln/>
        </p:spPr>
      </p:sp>
      <p:pic>
        <p:nvPicPr>
          <p:cNvPr id="17" name="icon-FaRobot-176" descr="preencoded.png">    </p:cNvPr>
          <p:cNvPicPr>
            <a:picLocks noChangeAspect="1"/>
          </p:cNvPicPr>
          <p:nvPr/>
        </p:nvPicPr>
        <p:blipFill>
          <a:blip r:embed="rId3"/>
          <a:stretch>
            <a:fillRect/>
          </a:stretch>
        </p:blipFill>
        <p:spPr>
          <a:xfrm>
            <a:off x="4434840" y="1371600"/>
            <a:ext cx="274320" cy="274320"/>
          </a:xfrm>
          <a:prstGeom prst="rect">
            <a:avLst/>
          </a:prstGeom>
        </p:spPr>
      </p:pic>
      <p:sp>
        <p:nvSpPr>
          <p:cNvPr id="18" name="text-177"/>
          <p:cNvSpPr txBox="1"/>
          <p:nvPr/>
        </p:nvSpPr>
        <p:spPr>
          <a:xfrm>
            <a:off x="3968496" y="1874520"/>
            <a:ext cx="1207008" cy="320040"/>
          </a:xfrm>
          <a:prstGeom prst="rect">
            <a:avLst/>
          </a:prstGeom>
          <a:noFill/>
          <a:ln/>
        </p:spPr>
        <p:txBody>
          <a:bodyPr wrap="square" lIns="0" tIns="0" rIns="0" bIns="0" rtlCol="0" anchor="t"/>
          <a:lstStyle/>
          <a:p>
            <a:pPr algn="ctr" indent="0" marL="0">
              <a:buNone/>
            </a:pPr>
            <a:r>
              <a:rPr lang="en-US" sz="1500" b="1" dirty="0">
                <a:solidFill>
                  <a:schemeClr val="tx1"/>
                </a:solidFill>
              </a:rPr>
              <a:t>AI đọc hiểu</a:t>
            </a:r>
            <a:endParaRPr lang="en-US" sz="1500" dirty="0"/>
          </a:p>
        </p:txBody>
      </p:sp>
      <p:sp>
        <p:nvSpPr>
          <p:cNvPr id="19" name="text-178"/>
          <p:cNvSpPr txBox="1"/>
          <p:nvPr/>
        </p:nvSpPr>
        <p:spPr>
          <a:xfrm>
            <a:off x="3968496" y="2194560"/>
            <a:ext cx="1207008" cy="685800"/>
          </a:xfrm>
          <a:prstGeom prst="rect">
            <a:avLst/>
          </a:prstGeom>
          <a:noFill/>
          <a:ln/>
        </p:spPr>
        <p:txBody>
          <a:bodyPr wrap="square" lIns="0" tIns="0" rIns="0" bIns="0" rtlCol="0" anchor="t"/>
          <a:lstStyle/>
          <a:p>
            <a:pPr algn="ctr" indent="0" marL="0">
              <a:buNone/>
            </a:pPr>
            <a:r>
              <a:rPr lang="en-US" sz="1200" dirty="0">
                <a:solidFill>
                  <a:schemeClr val="tx2"/>
                </a:solidFill>
              </a:rPr>
              <a:t>Tìm việc, người làm, hạn</a:t>
            </a:r>
            <a:endParaRPr lang="en-US" sz="1200" dirty="0"/>
          </a:p>
        </p:txBody>
      </p:sp>
      <p:sp>
        <p:nvSpPr>
          <p:cNvPr id="20" name="arrow-179"/>
          <p:cNvSpPr/>
          <p:nvPr/>
        </p:nvSpPr>
        <p:spPr>
          <a:xfrm>
            <a:off x="5303520" y="2011680"/>
            <a:ext cx="246888" cy="0"/>
          </a:xfrm>
          <a:prstGeom prst="line">
            <a:avLst/>
          </a:prstGeom>
          <a:noFill/>
          <a:ln w="22225">
            <a:solidFill>
              <a:schemeClr val="tx2"/>
            </a:solidFill>
            <a:prstDash val="solid"/>
            <a:tailEnd type="triangle"/>
          </a:ln>
        </p:spPr>
      </p:sp>
      <p:sp>
        <p:nvSpPr>
          <p:cNvPr id="21" name="card-180"/>
          <p:cNvSpPr/>
          <p:nvPr/>
        </p:nvSpPr>
        <p:spPr>
          <a:xfrm>
            <a:off x="5586984" y="1097280"/>
            <a:ext cx="1389888" cy="1828800"/>
          </a:xfrm>
          <a:prstGeom prst="roundRect">
            <a:avLst>
              <a:gd name="adj" fmla="val 7895"/>
            </a:avLst>
          </a:prstGeom>
          <a:solidFill>
            <a:schemeClr val="bg1"/>
          </a:solidFill>
          <a:ln/>
          <a:effectLst>
            <a:outerShdw sx="100000" sy="100000" kx="0" ky="0" algn="bl" rotWithShape="0" blurRad="101600" dist="25400" dir="5400000">
              <a:srgbClr val="0B1F4B">
                <a:alpha val="12000"/>
              </a:srgbClr>
            </a:outerShdw>
          </a:effectLst>
        </p:spPr>
      </p:sp>
      <p:sp>
        <p:nvSpPr>
          <p:cNvPr id="22" name="icon-bg-181"/>
          <p:cNvSpPr/>
          <p:nvPr/>
        </p:nvSpPr>
        <p:spPr>
          <a:xfrm>
            <a:off x="6007608" y="1234440"/>
            <a:ext cx="548640" cy="548640"/>
          </a:xfrm>
          <a:prstGeom prst="ellipse">
            <a:avLst/>
          </a:prstGeom>
          <a:solidFill>
            <a:schemeClr val="accent3"/>
          </a:solidFill>
          <a:ln/>
        </p:spPr>
      </p:sp>
      <p:pic>
        <p:nvPicPr>
          <p:cNvPr id="23" name="icon-FaDatabase-182" descr="preencoded.png">    </p:cNvPr>
          <p:cNvPicPr>
            <a:picLocks noChangeAspect="1"/>
          </p:cNvPicPr>
          <p:nvPr/>
        </p:nvPicPr>
        <p:blipFill>
          <a:blip r:embed="rId4"/>
          <a:stretch>
            <a:fillRect/>
          </a:stretch>
        </p:blipFill>
        <p:spPr>
          <a:xfrm>
            <a:off x="6144768" y="1371600"/>
            <a:ext cx="274320" cy="274320"/>
          </a:xfrm>
          <a:prstGeom prst="rect">
            <a:avLst/>
          </a:prstGeom>
        </p:spPr>
      </p:pic>
      <p:sp>
        <p:nvSpPr>
          <p:cNvPr id="24" name="text-183"/>
          <p:cNvSpPr txBox="1"/>
          <p:nvPr/>
        </p:nvSpPr>
        <p:spPr>
          <a:xfrm>
            <a:off x="5678424" y="1874520"/>
            <a:ext cx="1207008" cy="320040"/>
          </a:xfrm>
          <a:prstGeom prst="rect">
            <a:avLst/>
          </a:prstGeom>
          <a:noFill/>
          <a:ln/>
        </p:spPr>
        <p:txBody>
          <a:bodyPr wrap="square" lIns="0" tIns="0" rIns="0" bIns="0" rtlCol="0" anchor="t"/>
          <a:lstStyle/>
          <a:p>
            <a:pPr algn="ctr" indent="0" marL="0">
              <a:buNone/>
            </a:pPr>
            <a:r>
              <a:rPr lang="en-US" sz="1500" b="1" dirty="0">
                <a:solidFill>
                  <a:schemeClr val="tx1"/>
                </a:solidFill>
              </a:rPr>
              <a:t>Lưu việc</a:t>
            </a:r>
            <a:endParaRPr lang="en-US" sz="1500" dirty="0"/>
          </a:p>
        </p:txBody>
      </p:sp>
      <p:sp>
        <p:nvSpPr>
          <p:cNvPr id="25" name="text-184"/>
          <p:cNvSpPr txBox="1"/>
          <p:nvPr/>
        </p:nvSpPr>
        <p:spPr>
          <a:xfrm>
            <a:off x="5678424" y="2194560"/>
            <a:ext cx="1207008" cy="685800"/>
          </a:xfrm>
          <a:prstGeom prst="rect">
            <a:avLst/>
          </a:prstGeom>
          <a:noFill/>
          <a:ln/>
        </p:spPr>
        <p:txBody>
          <a:bodyPr wrap="square" lIns="0" tIns="0" rIns="0" bIns="0" rtlCol="0" anchor="t"/>
          <a:lstStyle/>
          <a:p>
            <a:pPr algn="ctr" indent="0" marL="0">
              <a:buNone/>
            </a:pPr>
            <a:r>
              <a:rPr lang="en-US" sz="1200" dirty="0">
                <a:solidFill>
                  <a:schemeClr val="tx2"/>
                </a:solidFill>
              </a:rPr>
              <a:t>Sau khi bạn bấm Lưu</a:t>
            </a:r>
            <a:endParaRPr lang="en-US" sz="1200" dirty="0"/>
          </a:p>
        </p:txBody>
      </p:sp>
      <p:sp>
        <p:nvSpPr>
          <p:cNvPr id="26" name="arrow-185"/>
          <p:cNvSpPr/>
          <p:nvPr/>
        </p:nvSpPr>
        <p:spPr>
          <a:xfrm>
            <a:off x="7013448" y="2011680"/>
            <a:ext cx="246888" cy="0"/>
          </a:xfrm>
          <a:prstGeom prst="line">
            <a:avLst/>
          </a:prstGeom>
          <a:noFill/>
          <a:ln w="22225">
            <a:solidFill>
              <a:schemeClr val="tx2"/>
            </a:solidFill>
            <a:prstDash val="solid"/>
            <a:tailEnd type="triangle"/>
          </a:ln>
        </p:spPr>
      </p:sp>
      <p:sp>
        <p:nvSpPr>
          <p:cNvPr id="27" name="card-186"/>
          <p:cNvSpPr/>
          <p:nvPr/>
        </p:nvSpPr>
        <p:spPr>
          <a:xfrm>
            <a:off x="7296912" y="1097280"/>
            <a:ext cx="1389888" cy="1828800"/>
          </a:xfrm>
          <a:prstGeom prst="roundRect">
            <a:avLst>
              <a:gd name="adj" fmla="val 7895"/>
            </a:avLst>
          </a:prstGeom>
          <a:solidFill>
            <a:schemeClr val="bg1"/>
          </a:solidFill>
          <a:ln/>
          <a:effectLst>
            <a:outerShdw sx="100000" sy="100000" kx="0" ky="0" algn="bl" rotWithShape="0" blurRad="101600" dist="25400" dir="5400000">
              <a:srgbClr val="0B1F4B">
                <a:alpha val="12000"/>
              </a:srgbClr>
            </a:outerShdw>
          </a:effectLst>
        </p:spPr>
      </p:sp>
      <p:sp>
        <p:nvSpPr>
          <p:cNvPr id="28" name="icon-bg-187"/>
          <p:cNvSpPr/>
          <p:nvPr/>
        </p:nvSpPr>
        <p:spPr>
          <a:xfrm>
            <a:off x="7717536" y="1234440"/>
            <a:ext cx="548640" cy="548640"/>
          </a:xfrm>
          <a:prstGeom prst="ellipse">
            <a:avLst/>
          </a:prstGeom>
          <a:solidFill>
            <a:schemeClr val="accent2"/>
          </a:solidFill>
          <a:ln/>
        </p:spPr>
      </p:sp>
      <p:pic>
        <p:nvPicPr>
          <p:cNvPr id="29" name="icon-FaBell-188" descr="preencoded.png">    </p:cNvPr>
          <p:cNvPicPr>
            <a:picLocks noChangeAspect="1"/>
          </p:cNvPicPr>
          <p:nvPr/>
        </p:nvPicPr>
        <p:blipFill>
          <a:blip r:embed="rId5"/>
          <a:stretch>
            <a:fillRect/>
          </a:stretch>
        </p:blipFill>
        <p:spPr>
          <a:xfrm>
            <a:off x="7854696" y="1371600"/>
            <a:ext cx="274320" cy="274320"/>
          </a:xfrm>
          <a:prstGeom prst="rect">
            <a:avLst/>
          </a:prstGeom>
        </p:spPr>
      </p:pic>
      <p:sp>
        <p:nvSpPr>
          <p:cNvPr id="30" name="text-189"/>
          <p:cNvSpPr txBox="1"/>
          <p:nvPr/>
        </p:nvSpPr>
        <p:spPr>
          <a:xfrm>
            <a:off x="7388352" y="1874520"/>
            <a:ext cx="1207008" cy="320040"/>
          </a:xfrm>
          <a:prstGeom prst="rect">
            <a:avLst/>
          </a:prstGeom>
          <a:noFill/>
          <a:ln/>
        </p:spPr>
        <p:txBody>
          <a:bodyPr wrap="square" lIns="0" tIns="0" rIns="0" bIns="0" rtlCol="0" anchor="t"/>
          <a:lstStyle/>
          <a:p>
            <a:pPr algn="ctr" indent="0" marL="0">
              <a:buNone/>
            </a:pPr>
            <a:r>
              <a:rPr lang="en-US" sz="1500" b="1" dirty="0">
                <a:solidFill>
                  <a:schemeClr val="tx1"/>
                </a:solidFill>
              </a:rPr>
              <a:t>Nhắc, theo dõi</a:t>
            </a:r>
            <a:endParaRPr lang="en-US" sz="1500" dirty="0"/>
          </a:p>
        </p:txBody>
      </p:sp>
      <p:sp>
        <p:nvSpPr>
          <p:cNvPr id="31" name="text-190"/>
          <p:cNvSpPr txBox="1"/>
          <p:nvPr/>
        </p:nvSpPr>
        <p:spPr>
          <a:xfrm>
            <a:off x="7388352" y="2194560"/>
            <a:ext cx="1207008" cy="685800"/>
          </a:xfrm>
          <a:prstGeom prst="rect">
            <a:avLst/>
          </a:prstGeom>
          <a:noFill/>
          <a:ln/>
        </p:spPr>
        <p:txBody>
          <a:bodyPr wrap="square" lIns="0" tIns="0" rIns="0" bIns="0" rtlCol="0" anchor="t"/>
          <a:lstStyle/>
          <a:p>
            <a:pPr algn="ctr" indent="0" marL="0">
              <a:buNone/>
            </a:pPr>
            <a:r>
              <a:rPr lang="en-US" sz="1200" dirty="0">
                <a:solidFill>
                  <a:schemeClr val="tx2"/>
                </a:solidFill>
              </a:rPr>
              <a:t>Nhắc qua Zalo, có bảng tổng hợp</a:t>
            </a:r>
            <a:endParaRPr lang="en-US" sz="1200" dirty="0"/>
          </a:p>
        </p:txBody>
      </p:sp>
      <p:sp>
        <p:nvSpPr>
          <p:cNvPr id="32" name="card-191"/>
          <p:cNvSpPr/>
          <p:nvPr/>
        </p:nvSpPr>
        <p:spPr>
          <a:xfrm>
            <a:off x="457200" y="3200400"/>
            <a:ext cx="8229600" cy="1280160"/>
          </a:xfrm>
          <a:prstGeom prst="roundRect">
            <a:avLst>
              <a:gd name="adj" fmla="val 8571"/>
            </a:avLst>
          </a:prstGeom>
          <a:solidFill>
            <a:schemeClr val="bg1"/>
          </a:solidFill>
          <a:ln/>
          <a:effectLst>
            <a:outerShdw sx="100000" sy="100000" kx="0" ky="0" algn="bl" rotWithShape="0" blurRad="101600" dist="25400" dir="5400000">
              <a:srgbClr val="0B1F4B">
                <a:alpha val="12000"/>
              </a:srgbClr>
            </a:outerShdw>
          </a:effectLst>
        </p:spPr>
      </p:sp>
      <p:sp>
        <p:nvSpPr>
          <p:cNvPr id="33" name="text-192"/>
          <p:cNvSpPr txBox="1"/>
          <p:nvPr/>
        </p:nvSpPr>
        <p:spPr>
          <a:xfrm>
            <a:off x="731520" y="3291840"/>
            <a:ext cx="1737360" cy="1097280"/>
          </a:xfrm>
          <a:prstGeom prst="rect">
            <a:avLst/>
          </a:prstGeom>
          <a:noFill/>
          <a:ln/>
        </p:spPr>
        <p:txBody>
          <a:bodyPr wrap="square" lIns="0" tIns="0" rIns="0" bIns="0" rtlCol="0" anchor="ctr"/>
          <a:lstStyle/>
          <a:p>
            <a:pPr indent="0" marL="0">
              <a:buNone/>
            </a:pPr>
            <a:r>
              <a:rPr lang="en-US" sz="4400" b="1" dirty="0">
                <a:solidFill>
                  <a:schemeClr val="accent2"/>
                </a:solidFill>
              </a:rPr>
              <a:t>~80%</a:t>
            </a:r>
            <a:endParaRPr lang="en-US" sz="4400" dirty="0"/>
          </a:p>
        </p:txBody>
      </p:sp>
      <p:sp>
        <p:nvSpPr>
          <p:cNvPr id="34" name="text-193"/>
          <p:cNvSpPr txBox="1"/>
          <p:nvPr/>
        </p:nvSpPr>
        <p:spPr>
          <a:xfrm>
            <a:off x="2560320" y="3291840"/>
            <a:ext cx="5943600" cy="1097280"/>
          </a:xfrm>
          <a:prstGeom prst="rect">
            <a:avLst/>
          </a:prstGeom>
          <a:noFill/>
          <a:ln/>
        </p:spPr>
        <p:txBody>
          <a:bodyPr wrap="square" lIns="0" tIns="0" rIns="0" bIns="0" rtlCol="0" anchor="ctr"/>
          <a:lstStyle/>
          <a:p>
            <a:pPr indent="0" marL="0">
              <a:buNone/>
            </a:pPr>
            <a:r>
              <a:rPr lang="en-US" sz="1500" b="1" dirty="0">
                <a:solidFill>
                  <a:schemeClr val="tx1"/>
                </a:solidFill>
              </a:rPr>
              <a:t>tin nhắn trong nhóm chat là chuyện phiếm</a:t>
            </a:r>
            <a:endParaRPr lang="en-US" sz="1500" dirty="0"/>
          </a:p>
          <a:p>
            <a:pPr indent="0" marL="0">
              <a:buNone/>
            </a:pPr>
            <a:r>
              <a:rPr lang="en-US" sz="1500" dirty="0">
                <a:solidFill>
                  <a:schemeClr val="tx1"/>
                </a:solidFill>
              </a:rPr>
              <a:t>Chúng bị loại ngay ở bước lọc, nên chi phí AI thấp và bạn chỉ thấy những thẻ việc thật sự cần xác nhận.</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1"/>
                </a:solidFill>
              </a:rPr>
              <a:t>Tính năng chia 3 giai đoạn</a:t>
            </a:r>
            <a:endParaRPr lang="en-US" sz="2600" dirty="0"/>
          </a:p>
        </p:txBody>
      </p:sp>
      <p:sp>
        <p:nvSpPr>
          <p:cNvPr id="3" name="card-194"/>
          <p:cNvSpPr/>
          <p:nvPr/>
        </p:nvSpPr>
        <p:spPr>
          <a:xfrm>
            <a:off x="457200" y="1097280"/>
            <a:ext cx="2615184" cy="3383280"/>
          </a:xfrm>
          <a:prstGeom prst="roundRect">
            <a:avLst>
              <a:gd name="adj" fmla="val 4196"/>
            </a:avLst>
          </a:prstGeom>
          <a:solidFill>
            <a:schemeClr val="bg1"/>
          </a:solidFill>
          <a:ln/>
          <a:effectLst>
            <a:outerShdw sx="100000" sy="100000" kx="0" ky="0" algn="bl" rotWithShape="0" blurRad="101600" dist="25400" dir="5400000">
              <a:srgbClr val="0B1F4B">
                <a:alpha val="12000"/>
              </a:srgbClr>
            </a:outerShdw>
          </a:effectLst>
        </p:spPr>
      </p:sp>
      <p:sp>
        <p:nvSpPr>
          <p:cNvPr id="4" name="pill-195"/>
          <p:cNvSpPr/>
          <p:nvPr/>
        </p:nvSpPr>
        <p:spPr>
          <a:xfrm>
            <a:off x="685800" y="1280160"/>
            <a:ext cx="1828800" cy="329184"/>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Giai đoạn 1 · Bản đầu</a:t>
            </a:r>
            <a:endParaRPr lang="en-US" sz="1200" dirty="0"/>
          </a:p>
        </p:txBody>
      </p:sp>
      <p:sp>
        <p:nvSpPr>
          <p:cNvPr id="5" name="text-196"/>
          <p:cNvSpPr txBox="1"/>
          <p:nvPr/>
        </p:nvSpPr>
        <p:spPr>
          <a:xfrm>
            <a:off x="685800" y="1691640"/>
            <a:ext cx="2103120" cy="274320"/>
          </a:xfrm>
          <a:prstGeom prst="rect">
            <a:avLst/>
          </a:prstGeom>
          <a:noFill/>
          <a:ln/>
        </p:spPr>
        <p:txBody>
          <a:bodyPr wrap="square" lIns="0" tIns="0" rIns="0" bIns="0" rtlCol="0" anchor="t"/>
          <a:lstStyle/>
          <a:p>
            <a:pPr indent="0" marL="0">
              <a:buNone/>
            </a:pPr>
            <a:r>
              <a:rPr lang="en-US" sz="1300" dirty="0">
                <a:solidFill>
                  <a:schemeClr val="tx2"/>
                </a:solidFill>
              </a:rPr>
              <a:t>Tháng 1–3</a:t>
            </a:r>
            <a:endParaRPr lang="en-US" sz="1300" dirty="0"/>
          </a:p>
        </p:txBody>
      </p:sp>
      <p:sp>
        <p:nvSpPr>
          <p:cNvPr id="6" name="text-197"/>
          <p:cNvSpPr txBox="1"/>
          <p:nvPr/>
        </p:nvSpPr>
        <p:spPr>
          <a:xfrm>
            <a:off x="685800" y="2103120"/>
            <a:ext cx="224028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Nhận tin qua bot, dán chữ, ảnh</a:t>
            </a:r>
            <a:endParaRPr lang="en-US" sz="1400" dirty="0"/>
          </a:p>
          <a:p>
            <a:pPr marL="342900" indent="-342900">
              <a:spcAft>
                <a:spcPts val="600"/>
              </a:spcAft>
              <a:buSzPct val="100000"/>
              <a:buChar char="•"/>
            </a:pPr>
            <a:r>
              <a:rPr lang="en-US" sz="1400" dirty="0">
                <a:solidFill>
                  <a:schemeClr val="tx1"/>
                </a:solidFill>
              </a:rPr>
              <a:t>AI tạo thẻ việc</a:t>
            </a:r>
            <a:endParaRPr lang="en-US" sz="1400" dirty="0"/>
          </a:p>
          <a:p>
            <a:pPr marL="342900" indent="-342900">
              <a:spcAft>
                <a:spcPts val="600"/>
              </a:spcAft>
              <a:buSzPct val="100000"/>
              <a:buChar char="•"/>
            </a:pPr>
            <a:r>
              <a:rPr lang="en-US" sz="1400" dirty="0">
                <a:solidFill>
                  <a:schemeClr val="tx1"/>
                </a:solidFill>
              </a:rPr>
              <a:t>Bấm Lưu, Sửa, Bỏ qua</a:t>
            </a:r>
            <a:endParaRPr lang="en-US" sz="1400" dirty="0"/>
          </a:p>
          <a:p>
            <a:pPr marL="342900" indent="-342900">
              <a:spcAft>
                <a:spcPts val="600"/>
              </a:spcAft>
              <a:buSzPct val="100000"/>
              <a:buChar char="•"/>
            </a:pPr>
            <a:r>
              <a:rPr lang="en-US" sz="1400" dirty="0">
                <a:solidFill>
                  <a:schemeClr val="tx1"/>
                </a:solidFill>
              </a:rPr>
              <a:t>Nhắc việc, tóm tắt 8h</a:t>
            </a:r>
            <a:endParaRPr lang="en-US" sz="1400" dirty="0"/>
          </a:p>
          <a:p>
            <a:pPr marL="342900" indent="-342900">
              <a:spcAft>
                <a:spcPts val="600"/>
              </a:spcAft>
              <a:buSzPct val="100000"/>
              <a:buChar char="•"/>
            </a:pPr>
            <a:r>
              <a:rPr lang="en-US" sz="1400" dirty="0">
                <a:solidFill>
                  <a:schemeClr val="tx1"/>
                </a:solidFill>
              </a:rPr>
              <a:t>Bảng việc trên web</a:t>
            </a:r>
            <a:endParaRPr lang="en-US" sz="1400" dirty="0"/>
          </a:p>
        </p:txBody>
      </p:sp>
      <p:sp>
        <p:nvSpPr>
          <p:cNvPr id="7" name="card-198"/>
          <p:cNvSpPr/>
          <p:nvPr/>
        </p:nvSpPr>
        <p:spPr>
          <a:xfrm>
            <a:off x="3264408" y="1097280"/>
            <a:ext cx="2615184" cy="3383280"/>
          </a:xfrm>
          <a:prstGeom prst="roundRect">
            <a:avLst>
              <a:gd name="adj" fmla="val 4196"/>
            </a:avLst>
          </a:prstGeom>
          <a:solidFill>
            <a:schemeClr val="bg1"/>
          </a:solidFill>
          <a:ln/>
          <a:effectLst>
            <a:outerShdw sx="100000" sy="100000" kx="0" ky="0" algn="bl" rotWithShape="0" blurRad="101600" dist="25400" dir="5400000">
              <a:srgbClr val="0B1F4B">
                <a:alpha val="12000"/>
              </a:srgbClr>
            </a:outerShdw>
          </a:effectLst>
        </p:spPr>
      </p:sp>
      <p:sp>
        <p:nvSpPr>
          <p:cNvPr id="8" name="pill-199"/>
          <p:cNvSpPr/>
          <p:nvPr/>
        </p:nvSpPr>
        <p:spPr>
          <a:xfrm>
            <a:off x="3493008" y="1280160"/>
            <a:ext cx="1828800" cy="329184"/>
          </a:xfrm>
          <a:prstGeom prst="roundRect">
            <a:avLst>
              <a:gd name="adj" fmla="val 50000"/>
            </a:avLst>
          </a:prstGeom>
          <a:solidFill>
            <a:schemeClr val="accent5"/>
          </a:solidFill>
          <a:ln/>
        </p:spPr>
        <p:txBody>
          <a:bodyPr wrap="square" lIns="0" tIns="0" rIns="0" bIns="0" rtlCol="0" anchor="ctr"/>
          <a:lstStyle/>
          <a:p>
            <a:pPr algn="ctr" indent="0" marL="0">
              <a:buNone/>
            </a:pPr>
            <a:r>
              <a:rPr lang="en-US" sz="1200" b="1" dirty="0">
                <a:solidFill>
                  <a:schemeClr val="bg1"/>
                </a:solidFill>
              </a:rPr>
              <a:t>Giai đoạn 2</a:t>
            </a:r>
            <a:endParaRPr lang="en-US" sz="1200" dirty="0"/>
          </a:p>
        </p:txBody>
      </p:sp>
      <p:sp>
        <p:nvSpPr>
          <p:cNvPr id="9" name="text-200"/>
          <p:cNvSpPr txBox="1"/>
          <p:nvPr/>
        </p:nvSpPr>
        <p:spPr>
          <a:xfrm>
            <a:off x="3493008" y="1691640"/>
            <a:ext cx="2103120" cy="274320"/>
          </a:xfrm>
          <a:prstGeom prst="rect">
            <a:avLst/>
          </a:prstGeom>
          <a:noFill/>
          <a:ln/>
        </p:spPr>
        <p:txBody>
          <a:bodyPr wrap="square" lIns="0" tIns="0" rIns="0" bIns="0" rtlCol="0" anchor="t"/>
          <a:lstStyle/>
          <a:p>
            <a:pPr indent="0" marL="0">
              <a:buNone/>
            </a:pPr>
            <a:r>
              <a:rPr lang="en-US" sz="1300" dirty="0">
                <a:solidFill>
                  <a:schemeClr val="tx2"/>
                </a:solidFill>
              </a:rPr>
              <a:t>Tháng 4–6</a:t>
            </a:r>
            <a:endParaRPr lang="en-US" sz="1300" dirty="0"/>
          </a:p>
        </p:txBody>
      </p:sp>
      <p:sp>
        <p:nvSpPr>
          <p:cNvPr id="10" name="text-201"/>
          <p:cNvSpPr txBox="1"/>
          <p:nvPr/>
        </p:nvSpPr>
        <p:spPr>
          <a:xfrm>
            <a:off x="3493008" y="2103120"/>
            <a:ext cx="224028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Kết nối Zalo OA</a:t>
            </a:r>
            <a:endParaRPr lang="en-US" sz="1400" dirty="0"/>
          </a:p>
          <a:p>
            <a:pPr marL="342900" indent="-342900">
              <a:spcAft>
                <a:spcPts val="600"/>
              </a:spcAft>
              <a:buSzPct val="100000"/>
              <a:buChar char="•"/>
            </a:pPr>
            <a:r>
              <a:rPr lang="en-US" sz="1400" dirty="0">
                <a:solidFill>
                  <a:schemeClr val="tx1"/>
                </a:solidFill>
              </a:rPr>
              <a:t>Zalo Mini App</a:t>
            </a:r>
            <a:endParaRPr lang="en-US" sz="1400" dirty="0"/>
          </a:p>
          <a:p>
            <a:pPr marL="342900" indent="-342900">
              <a:spcAft>
                <a:spcPts val="600"/>
              </a:spcAft>
              <a:buSzPct val="100000"/>
              <a:buChar char="•"/>
            </a:pPr>
            <a:r>
              <a:rPr lang="en-US" sz="1400" dirty="0">
                <a:solidFill>
                  <a:schemeClr val="tx1"/>
                </a:solidFill>
              </a:rPr>
              <a:t>Lịch, Google Calendar</a:t>
            </a:r>
            <a:endParaRPr lang="en-US" sz="1400" dirty="0"/>
          </a:p>
          <a:p>
            <a:pPr marL="342900" indent="-342900">
              <a:spcAft>
                <a:spcPts val="600"/>
              </a:spcAft>
              <a:buSzPct val="100000"/>
              <a:buChar char="•"/>
            </a:pPr>
            <a:r>
              <a:rPr lang="en-US" sz="1400" dirty="0">
                <a:solidFill>
                  <a:schemeClr val="tx1"/>
                </a:solidFill>
              </a:rPr>
              <a:t>Gộp việc bị trùng</a:t>
            </a:r>
            <a:endParaRPr lang="en-US" sz="1400" dirty="0"/>
          </a:p>
          <a:p>
            <a:pPr marL="342900" indent="-342900">
              <a:spcAft>
                <a:spcPts val="600"/>
              </a:spcAft>
              <a:buSzPct val="100000"/>
              <a:buChar char="•"/>
            </a:pPr>
            <a:r>
              <a:rPr lang="en-US" sz="1400" dirty="0">
                <a:solidFill>
                  <a:schemeClr val="tx1"/>
                </a:solidFill>
              </a:rPr>
              <a:t>Báo cáo tuần</a:t>
            </a:r>
            <a:endParaRPr lang="en-US" sz="1400" dirty="0"/>
          </a:p>
        </p:txBody>
      </p:sp>
      <p:sp>
        <p:nvSpPr>
          <p:cNvPr id="11" name="card-202"/>
          <p:cNvSpPr/>
          <p:nvPr/>
        </p:nvSpPr>
        <p:spPr>
          <a:xfrm>
            <a:off x="6071616" y="1097280"/>
            <a:ext cx="2615184" cy="3383280"/>
          </a:xfrm>
          <a:prstGeom prst="roundRect">
            <a:avLst>
              <a:gd name="adj" fmla="val 4196"/>
            </a:avLst>
          </a:prstGeom>
          <a:solidFill>
            <a:schemeClr val="bg1"/>
          </a:solidFill>
          <a:ln/>
          <a:effectLst>
            <a:outerShdw sx="100000" sy="100000" kx="0" ky="0" algn="bl" rotWithShape="0" blurRad="101600" dist="25400" dir="5400000">
              <a:srgbClr val="0B1F4B">
                <a:alpha val="12000"/>
              </a:srgbClr>
            </a:outerShdw>
          </a:effectLst>
        </p:spPr>
      </p:sp>
      <p:sp>
        <p:nvSpPr>
          <p:cNvPr id="12" name="pill-203"/>
          <p:cNvSpPr/>
          <p:nvPr/>
        </p:nvSpPr>
        <p:spPr>
          <a:xfrm>
            <a:off x="6300216" y="1280160"/>
            <a:ext cx="182880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Giai đoạn 3</a:t>
            </a:r>
            <a:endParaRPr lang="en-US" sz="1200" dirty="0"/>
          </a:p>
        </p:txBody>
      </p:sp>
      <p:sp>
        <p:nvSpPr>
          <p:cNvPr id="13" name="text-204"/>
          <p:cNvSpPr txBox="1"/>
          <p:nvPr/>
        </p:nvSpPr>
        <p:spPr>
          <a:xfrm>
            <a:off x="6300216" y="1691640"/>
            <a:ext cx="2103120" cy="274320"/>
          </a:xfrm>
          <a:prstGeom prst="rect">
            <a:avLst/>
          </a:prstGeom>
          <a:noFill/>
          <a:ln/>
        </p:spPr>
        <p:txBody>
          <a:bodyPr wrap="square" lIns="0" tIns="0" rIns="0" bIns="0" rtlCol="0" anchor="t"/>
          <a:lstStyle/>
          <a:p>
            <a:pPr indent="0" marL="0">
              <a:buNone/>
            </a:pPr>
            <a:r>
              <a:rPr lang="en-US" sz="1300" dirty="0">
                <a:solidFill>
                  <a:schemeClr val="tx2"/>
                </a:solidFill>
              </a:rPr>
              <a:t>Sau tháng 6</a:t>
            </a:r>
            <a:endParaRPr lang="en-US" sz="1300" dirty="0"/>
          </a:p>
        </p:txBody>
      </p:sp>
      <p:sp>
        <p:nvSpPr>
          <p:cNvPr id="14" name="text-205"/>
          <p:cNvSpPr txBox="1"/>
          <p:nvPr/>
        </p:nvSpPr>
        <p:spPr>
          <a:xfrm>
            <a:off x="6300216" y="2103120"/>
            <a:ext cx="224028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Gợi ý xếp lịch</a:t>
            </a:r>
            <a:endParaRPr lang="en-US" sz="1400" dirty="0"/>
          </a:p>
          <a:p>
            <a:pPr marL="342900" indent="-342900">
              <a:spcAft>
                <a:spcPts val="600"/>
              </a:spcAft>
              <a:buSzPct val="100000"/>
              <a:buChar char="•"/>
            </a:pPr>
            <a:r>
              <a:rPr lang="en-US" sz="1400" dirty="0">
                <a:solidFill>
                  <a:schemeClr val="tx1"/>
                </a:solidFill>
              </a:rPr>
              <a:t>Cảnh báo quá tải</a:t>
            </a:r>
            <a:endParaRPr lang="en-US" sz="1400" dirty="0"/>
          </a:p>
          <a:p>
            <a:pPr marL="342900" indent="-342900">
              <a:spcAft>
                <a:spcPts val="600"/>
              </a:spcAft>
              <a:buSzPct val="100000"/>
              <a:buChar char="•"/>
            </a:pPr>
            <a:r>
              <a:rPr lang="en-US" sz="1400" dirty="0">
                <a:solidFill>
                  <a:schemeClr val="tx1"/>
                </a:solidFill>
              </a:rPr>
              <a:t>Việc lặp lại hằng tuần</a:t>
            </a:r>
            <a:endParaRPr lang="en-US" sz="1400" dirty="0"/>
          </a:p>
          <a:p>
            <a:pPr marL="342900" indent="-342900">
              <a:spcAft>
                <a:spcPts val="600"/>
              </a:spcAft>
              <a:buSzPct val="100000"/>
              <a:buChar char="•"/>
            </a:pPr>
            <a:r>
              <a:rPr lang="en-US" sz="1400" dirty="0">
                <a:solidFill>
                  <a:schemeClr val="tx1"/>
                </a:solidFill>
              </a:rPr>
              <a:t>Nối Sheets, Notion</a:t>
            </a:r>
            <a:endParaRPr lang="en-US" sz="1400" dirty="0"/>
          </a:p>
          <a:p>
            <a:pPr marL="342900" indent="-342900">
              <a:spcAft>
                <a:spcPts val="600"/>
              </a:spcAft>
              <a:buSzPct val="100000"/>
              <a:buChar char="•"/>
            </a:pPr>
            <a:r>
              <a:rPr lang="en-US" sz="1400" dirty="0">
                <a:solidFill>
                  <a:schemeClr val="tx1"/>
                </a:solidFill>
              </a:rPr>
              <a:t>Tin nhắn thoại thành việc</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1"/>
                </a:solidFill>
              </a:rPr>
              <a:t>3 con đường cho người không biết code</a:t>
            </a:r>
            <a:endParaRPr lang="en-US" sz="2600" dirty="0"/>
          </a:p>
        </p:txBody>
      </p:sp>
      <p:sp>
        <p:nvSpPr>
          <p:cNvPr id="3" name="card-206"/>
          <p:cNvSpPr/>
          <p:nvPr/>
        </p:nvSpPr>
        <p:spPr>
          <a:xfrm>
            <a:off x="457200" y="1143000"/>
            <a:ext cx="2615184" cy="3337560"/>
          </a:xfrm>
          <a:prstGeom prst="roundRect">
            <a:avLst>
              <a:gd name="adj" fmla="val 4196"/>
            </a:avLst>
          </a:prstGeom>
          <a:solidFill>
            <a:schemeClr val="bg1"/>
          </a:solidFill>
          <a:ln w="15875">
            <a:solidFill>
              <a:schemeClr val="accent3"/>
            </a:solidFill>
            <a:prstDash val="solid"/>
          </a:ln>
          <a:effectLst>
            <a:outerShdw sx="100000" sy="100000" kx="0" ky="0" algn="bl" rotWithShape="0" blurRad="101600" dist="25400" dir="5400000">
              <a:srgbClr val="0B1F4B">
                <a:alpha val="12000"/>
              </a:srgbClr>
            </a:outerShdw>
          </a:effectLst>
        </p:spPr>
      </p:sp>
      <p:sp>
        <p:nvSpPr>
          <p:cNvPr id="4" name="icon-bg-207"/>
          <p:cNvSpPr/>
          <p:nvPr/>
        </p:nvSpPr>
        <p:spPr>
          <a:xfrm>
            <a:off x="685800" y="1325880"/>
            <a:ext cx="594360" cy="594360"/>
          </a:xfrm>
          <a:prstGeom prst="ellipse">
            <a:avLst/>
          </a:prstGeom>
          <a:solidFill>
            <a:schemeClr val="accent3"/>
          </a:solidFill>
          <a:ln/>
        </p:spPr>
      </p:sp>
      <p:pic>
        <p:nvPicPr>
          <p:cNvPr id="5" name="icon-FaPuzzlePiece-208" descr="preencoded.png">    </p:cNvPr>
          <p:cNvPicPr>
            <a:picLocks noChangeAspect="1"/>
          </p:cNvPicPr>
          <p:nvPr/>
        </p:nvPicPr>
        <p:blipFill>
          <a:blip r:embed="rId1"/>
          <a:stretch>
            <a:fillRect/>
          </a:stretch>
        </p:blipFill>
        <p:spPr>
          <a:xfrm>
            <a:off x="834390" y="1474470"/>
            <a:ext cx="297180" cy="297180"/>
          </a:xfrm>
          <a:prstGeom prst="rect">
            <a:avLst/>
          </a:prstGeom>
        </p:spPr>
      </p:pic>
      <p:sp>
        <p:nvSpPr>
          <p:cNvPr id="6" name="text-209"/>
          <p:cNvSpPr txBox="1"/>
          <p:nvPr/>
        </p:nvSpPr>
        <p:spPr>
          <a:xfrm>
            <a:off x="685800" y="2011680"/>
            <a:ext cx="2194560" cy="320040"/>
          </a:xfrm>
          <a:prstGeom prst="rect">
            <a:avLst/>
          </a:prstGeom>
          <a:noFill/>
          <a:ln/>
        </p:spPr>
        <p:txBody>
          <a:bodyPr wrap="square" lIns="0" tIns="0" rIns="0" bIns="0" rtlCol="0" anchor="t"/>
          <a:lstStyle/>
          <a:p>
            <a:pPr indent="0" marL="0">
              <a:buNone/>
            </a:pPr>
            <a:r>
              <a:rPr lang="en-US" sz="1600" b="1" dirty="0">
                <a:solidFill>
                  <a:schemeClr val="tx1"/>
                </a:solidFill>
              </a:rPr>
              <a:t>Tự ghép công cụ no-code</a:t>
            </a:r>
            <a:endParaRPr lang="en-US" sz="1600" dirty="0"/>
          </a:p>
        </p:txBody>
      </p:sp>
      <p:sp>
        <p:nvSpPr>
          <p:cNvPr id="7" name="text-210"/>
          <p:cNvSpPr txBox="1"/>
          <p:nvPr/>
        </p:nvSpPr>
        <p:spPr>
          <a:xfrm>
            <a:off x="685800" y="2377440"/>
            <a:ext cx="2194560" cy="777240"/>
          </a:xfrm>
          <a:prstGeom prst="rect">
            <a:avLst/>
          </a:prstGeom>
          <a:noFill/>
          <a:ln/>
        </p:spPr>
        <p:txBody>
          <a:bodyPr wrap="square" lIns="0" tIns="0" rIns="0" bIns="0" rtlCol="0" anchor="t"/>
          <a:lstStyle/>
          <a:p>
            <a:pPr indent="0" marL="0">
              <a:buNone/>
            </a:pPr>
            <a:r>
              <a:rPr lang="en-US" sz="1400" dirty="0">
                <a:solidFill>
                  <a:schemeClr val="tx2"/>
                </a:solidFill>
              </a:rPr>
              <a:t>Kéo thả: Zalo Bot, n8n hoặc Make, AI, Google Sheets.</a:t>
            </a:r>
            <a:endParaRPr lang="en-US" sz="1400" dirty="0"/>
          </a:p>
        </p:txBody>
      </p:sp>
      <p:sp>
        <p:nvSpPr>
          <p:cNvPr id="8" name="text-211"/>
          <p:cNvSpPr txBox="1"/>
          <p:nvPr/>
        </p:nvSpPr>
        <p:spPr>
          <a:xfrm>
            <a:off x="685800" y="3246120"/>
            <a:ext cx="777240" cy="329184"/>
          </a:xfrm>
          <a:prstGeom prst="rect">
            <a:avLst/>
          </a:prstGeom>
          <a:noFill/>
          <a:ln/>
        </p:spPr>
        <p:txBody>
          <a:bodyPr wrap="square" lIns="0" tIns="0" rIns="0" bIns="0" rtlCol="0" anchor="ctr"/>
          <a:lstStyle/>
          <a:p>
            <a:pPr indent="0" marL="0">
              <a:buNone/>
            </a:pPr>
            <a:r>
              <a:rPr lang="en-US" sz="1200" dirty="0">
                <a:solidFill>
                  <a:schemeClr val="tx2"/>
                </a:solidFill>
              </a:rPr>
              <a:t>Thời gian</a:t>
            </a:r>
            <a:endParaRPr lang="en-US" sz="1200" dirty="0"/>
          </a:p>
        </p:txBody>
      </p:sp>
      <p:sp>
        <p:nvSpPr>
          <p:cNvPr id="9" name="text-212"/>
          <p:cNvSpPr txBox="1"/>
          <p:nvPr/>
        </p:nvSpPr>
        <p:spPr>
          <a:xfrm>
            <a:off x="1463040" y="3246120"/>
            <a:ext cx="1463040" cy="329184"/>
          </a:xfrm>
          <a:prstGeom prst="rect">
            <a:avLst/>
          </a:prstGeom>
          <a:noFill/>
          <a:ln/>
        </p:spPr>
        <p:txBody>
          <a:bodyPr wrap="square" lIns="0" tIns="0" rIns="0" bIns="0" rtlCol="0" anchor="ctr"/>
          <a:lstStyle/>
          <a:p>
            <a:pPr indent="0" marL="0">
              <a:buNone/>
            </a:pPr>
            <a:r>
              <a:rPr lang="en-US" sz="1200" b="1" dirty="0">
                <a:solidFill>
                  <a:schemeClr val="tx1"/>
                </a:solidFill>
              </a:rPr>
              <a:t>1–2 tuần</a:t>
            </a:r>
            <a:endParaRPr lang="en-US" sz="1200" dirty="0"/>
          </a:p>
        </p:txBody>
      </p:sp>
      <p:sp>
        <p:nvSpPr>
          <p:cNvPr id="10" name="text-213"/>
          <p:cNvSpPr txBox="1"/>
          <p:nvPr/>
        </p:nvSpPr>
        <p:spPr>
          <a:xfrm>
            <a:off x="685800" y="3630168"/>
            <a:ext cx="777240" cy="329184"/>
          </a:xfrm>
          <a:prstGeom prst="rect">
            <a:avLst/>
          </a:prstGeom>
          <a:noFill/>
          <a:ln/>
        </p:spPr>
        <p:txBody>
          <a:bodyPr wrap="square" lIns="0" tIns="0" rIns="0" bIns="0" rtlCol="0" anchor="ctr"/>
          <a:lstStyle/>
          <a:p>
            <a:pPr indent="0" marL="0">
              <a:buNone/>
            </a:pPr>
            <a:r>
              <a:rPr lang="en-US" sz="1200" dirty="0">
                <a:solidFill>
                  <a:schemeClr val="tx2"/>
                </a:solidFill>
              </a:rPr>
              <a:t>Chi phí</a:t>
            </a:r>
            <a:endParaRPr lang="en-US" sz="1200" dirty="0"/>
          </a:p>
        </p:txBody>
      </p:sp>
      <p:sp>
        <p:nvSpPr>
          <p:cNvPr id="11" name="text-214"/>
          <p:cNvSpPr txBox="1"/>
          <p:nvPr/>
        </p:nvSpPr>
        <p:spPr>
          <a:xfrm>
            <a:off x="1463040" y="3630168"/>
            <a:ext cx="1463040" cy="329184"/>
          </a:xfrm>
          <a:prstGeom prst="rect">
            <a:avLst/>
          </a:prstGeom>
          <a:noFill/>
          <a:ln/>
        </p:spPr>
        <p:txBody>
          <a:bodyPr wrap="square" lIns="0" tIns="0" rIns="0" bIns="0" rtlCol="0" anchor="ctr"/>
          <a:lstStyle/>
          <a:p>
            <a:pPr indent="0" marL="0">
              <a:buNone/>
            </a:pPr>
            <a:r>
              <a:rPr lang="en-US" sz="1200" b="1" dirty="0">
                <a:solidFill>
                  <a:schemeClr val="tx1"/>
                </a:solidFill>
              </a:rPr>
              <a:t>~0–40 USD/tháng</a:t>
            </a:r>
            <a:endParaRPr lang="en-US" sz="1200" dirty="0"/>
          </a:p>
        </p:txBody>
      </p:sp>
      <p:sp>
        <p:nvSpPr>
          <p:cNvPr id="12" name="text-215"/>
          <p:cNvSpPr txBox="1"/>
          <p:nvPr/>
        </p:nvSpPr>
        <p:spPr>
          <a:xfrm>
            <a:off x="685800" y="4014216"/>
            <a:ext cx="777240" cy="329184"/>
          </a:xfrm>
          <a:prstGeom prst="rect">
            <a:avLst/>
          </a:prstGeom>
          <a:noFill/>
          <a:ln/>
        </p:spPr>
        <p:txBody>
          <a:bodyPr wrap="square" lIns="0" tIns="0" rIns="0" bIns="0" rtlCol="0" anchor="ctr"/>
          <a:lstStyle/>
          <a:p>
            <a:pPr indent="0" marL="0">
              <a:buNone/>
            </a:pPr>
            <a:r>
              <a:rPr lang="en-US" sz="1200" dirty="0">
                <a:solidFill>
                  <a:schemeClr val="tx2"/>
                </a:solidFill>
              </a:rPr>
              <a:t>Hợp với</a:t>
            </a:r>
            <a:endParaRPr lang="en-US" sz="1200" dirty="0"/>
          </a:p>
        </p:txBody>
      </p:sp>
      <p:sp>
        <p:nvSpPr>
          <p:cNvPr id="13" name="text-216"/>
          <p:cNvSpPr txBox="1"/>
          <p:nvPr/>
        </p:nvSpPr>
        <p:spPr>
          <a:xfrm>
            <a:off x="1463040" y="4014216"/>
            <a:ext cx="1463040" cy="329184"/>
          </a:xfrm>
          <a:prstGeom prst="rect">
            <a:avLst/>
          </a:prstGeom>
          <a:noFill/>
          <a:ln/>
        </p:spPr>
        <p:txBody>
          <a:bodyPr wrap="square" lIns="0" tIns="0" rIns="0" bIns="0" rtlCol="0" anchor="ctr"/>
          <a:lstStyle/>
          <a:p>
            <a:pPr indent="0" marL="0">
              <a:buNone/>
            </a:pPr>
            <a:r>
              <a:rPr lang="en-US" sz="1200" b="1" dirty="0">
                <a:solidFill>
                  <a:schemeClr val="tx1"/>
                </a:solidFill>
              </a:rPr>
              <a:t>Thử ngay cho nhóm mình</a:t>
            </a:r>
            <a:endParaRPr lang="en-US" sz="1200" dirty="0"/>
          </a:p>
        </p:txBody>
      </p:sp>
      <p:sp>
        <p:nvSpPr>
          <p:cNvPr id="14" name="card-217"/>
          <p:cNvSpPr/>
          <p:nvPr/>
        </p:nvSpPr>
        <p:spPr>
          <a:xfrm>
            <a:off x="3264408" y="1143000"/>
            <a:ext cx="2615184" cy="3337560"/>
          </a:xfrm>
          <a:prstGeom prst="roundRect">
            <a:avLst>
              <a:gd name="adj" fmla="val 4196"/>
            </a:avLst>
          </a:prstGeom>
          <a:solidFill>
            <a:schemeClr val="bg1"/>
          </a:solidFill>
          <a:ln/>
          <a:effectLst>
            <a:outerShdw sx="100000" sy="100000" kx="0" ky="0" algn="bl" rotWithShape="0" blurRad="101600" dist="25400" dir="5400000">
              <a:srgbClr val="0B1F4B">
                <a:alpha val="12000"/>
              </a:srgbClr>
            </a:outerShdw>
          </a:effectLst>
        </p:spPr>
      </p:sp>
      <p:sp>
        <p:nvSpPr>
          <p:cNvPr id="15" name="icon-bg-218"/>
          <p:cNvSpPr/>
          <p:nvPr/>
        </p:nvSpPr>
        <p:spPr>
          <a:xfrm>
            <a:off x="3493008" y="1325880"/>
            <a:ext cx="594360" cy="594360"/>
          </a:xfrm>
          <a:prstGeom prst="ellipse">
            <a:avLst/>
          </a:prstGeom>
          <a:solidFill>
            <a:schemeClr val="accent5"/>
          </a:solidFill>
          <a:ln/>
        </p:spPr>
      </p:sp>
      <p:pic>
        <p:nvPicPr>
          <p:cNvPr id="16" name="icon-FaCode-219" descr="preencoded.png">    </p:cNvPr>
          <p:cNvPicPr>
            <a:picLocks noChangeAspect="1"/>
          </p:cNvPicPr>
          <p:nvPr/>
        </p:nvPicPr>
        <p:blipFill>
          <a:blip r:embed="rId2"/>
          <a:stretch>
            <a:fillRect/>
          </a:stretch>
        </p:blipFill>
        <p:spPr>
          <a:xfrm>
            <a:off x="3641598" y="1474470"/>
            <a:ext cx="297180" cy="297180"/>
          </a:xfrm>
          <a:prstGeom prst="rect">
            <a:avLst/>
          </a:prstGeom>
        </p:spPr>
      </p:pic>
      <p:sp>
        <p:nvSpPr>
          <p:cNvPr id="17" name="text-220"/>
          <p:cNvSpPr txBox="1"/>
          <p:nvPr/>
        </p:nvSpPr>
        <p:spPr>
          <a:xfrm>
            <a:off x="3493008" y="2011680"/>
            <a:ext cx="2194560" cy="320040"/>
          </a:xfrm>
          <a:prstGeom prst="rect">
            <a:avLst/>
          </a:prstGeom>
          <a:noFill/>
          <a:ln/>
        </p:spPr>
        <p:txBody>
          <a:bodyPr wrap="square" lIns="0" tIns="0" rIns="0" bIns="0" rtlCol="0" anchor="t"/>
          <a:lstStyle/>
          <a:p>
            <a:pPr indent="0" marL="0">
              <a:buNone/>
            </a:pPr>
            <a:r>
              <a:rPr lang="en-US" sz="1600" b="1" dirty="0">
                <a:solidFill>
                  <a:schemeClr val="tx1"/>
                </a:solidFill>
              </a:rPr>
              <a:t>Làm cùng AI lập trình</a:t>
            </a:r>
            <a:endParaRPr lang="en-US" sz="1600" dirty="0"/>
          </a:p>
        </p:txBody>
      </p:sp>
      <p:sp>
        <p:nvSpPr>
          <p:cNvPr id="18" name="text-221"/>
          <p:cNvSpPr txBox="1"/>
          <p:nvPr/>
        </p:nvSpPr>
        <p:spPr>
          <a:xfrm>
            <a:off x="3493008" y="2377440"/>
            <a:ext cx="2194560" cy="777240"/>
          </a:xfrm>
          <a:prstGeom prst="rect">
            <a:avLst/>
          </a:prstGeom>
          <a:noFill/>
          <a:ln/>
        </p:spPr>
        <p:txBody>
          <a:bodyPr wrap="square" lIns="0" tIns="0" rIns="0" bIns="0" rtlCol="0" anchor="t"/>
          <a:lstStyle/>
          <a:p>
            <a:pPr indent="0" marL="0">
              <a:buNone/>
            </a:pPr>
            <a:r>
              <a:rPr lang="en-US" sz="1400" dirty="0">
                <a:solidFill>
                  <a:schemeClr val="tx2"/>
                </a:solidFill>
              </a:rPr>
              <a:t>Bạn mô tả bằng tiếng Việt, AI (như Claude Code) viết code.</a:t>
            </a:r>
            <a:endParaRPr lang="en-US" sz="1400" dirty="0"/>
          </a:p>
        </p:txBody>
      </p:sp>
      <p:sp>
        <p:nvSpPr>
          <p:cNvPr id="19" name="text-222"/>
          <p:cNvSpPr txBox="1"/>
          <p:nvPr/>
        </p:nvSpPr>
        <p:spPr>
          <a:xfrm>
            <a:off x="3493008" y="3246120"/>
            <a:ext cx="777240" cy="329184"/>
          </a:xfrm>
          <a:prstGeom prst="rect">
            <a:avLst/>
          </a:prstGeom>
          <a:noFill/>
          <a:ln/>
        </p:spPr>
        <p:txBody>
          <a:bodyPr wrap="square" lIns="0" tIns="0" rIns="0" bIns="0" rtlCol="0" anchor="ctr"/>
          <a:lstStyle/>
          <a:p>
            <a:pPr indent="0" marL="0">
              <a:buNone/>
            </a:pPr>
            <a:r>
              <a:rPr lang="en-US" sz="1200" dirty="0">
                <a:solidFill>
                  <a:schemeClr val="tx2"/>
                </a:solidFill>
              </a:rPr>
              <a:t>Thời gian</a:t>
            </a:r>
            <a:endParaRPr lang="en-US" sz="1200" dirty="0"/>
          </a:p>
        </p:txBody>
      </p:sp>
      <p:sp>
        <p:nvSpPr>
          <p:cNvPr id="20" name="text-223"/>
          <p:cNvSpPr txBox="1"/>
          <p:nvPr/>
        </p:nvSpPr>
        <p:spPr>
          <a:xfrm>
            <a:off x="4270248" y="3246120"/>
            <a:ext cx="1463040" cy="329184"/>
          </a:xfrm>
          <a:prstGeom prst="rect">
            <a:avLst/>
          </a:prstGeom>
          <a:noFill/>
          <a:ln/>
        </p:spPr>
        <p:txBody>
          <a:bodyPr wrap="square" lIns="0" tIns="0" rIns="0" bIns="0" rtlCol="0" anchor="ctr"/>
          <a:lstStyle/>
          <a:p>
            <a:pPr indent="0" marL="0">
              <a:buNone/>
            </a:pPr>
            <a:r>
              <a:rPr lang="en-US" sz="1200" b="1" dirty="0">
                <a:solidFill>
                  <a:schemeClr val="tx1"/>
                </a:solidFill>
              </a:rPr>
              <a:t>1–2 tháng</a:t>
            </a:r>
            <a:endParaRPr lang="en-US" sz="1200" dirty="0"/>
          </a:p>
        </p:txBody>
      </p:sp>
      <p:sp>
        <p:nvSpPr>
          <p:cNvPr id="21" name="text-224"/>
          <p:cNvSpPr txBox="1"/>
          <p:nvPr/>
        </p:nvSpPr>
        <p:spPr>
          <a:xfrm>
            <a:off x="3493008" y="3630168"/>
            <a:ext cx="777240" cy="329184"/>
          </a:xfrm>
          <a:prstGeom prst="rect">
            <a:avLst/>
          </a:prstGeom>
          <a:noFill/>
          <a:ln/>
        </p:spPr>
        <p:txBody>
          <a:bodyPr wrap="square" lIns="0" tIns="0" rIns="0" bIns="0" rtlCol="0" anchor="ctr"/>
          <a:lstStyle/>
          <a:p>
            <a:pPr indent="0" marL="0">
              <a:buNone/>
            </a:pPr>
            <a:r>
              <a:rPr lang="en-US" sz="1200" dirty="0">
                <a:solidFill>
                  <a:schemeClr val="tx2"/>
                </a:solidFill>
              </a:rPr>
              <a:t>Chi phí</a:t>
            </a:r>
            <a:endParaRPr lang="en-US" sz="1200" dirty="0"/>
          </a:p>
        </p:txBody>
      </p:sp>
      <p:sp>
        <p:nvSpPr>
          <p:cNvPr id="22" name="text-225"/>
          <p:cNvSpPr txBox="1"/>
          <p:nvPr/>
        </p:nvSpPr>
        <p:spPr>
          <a:xfrm>
            <a:off x="4270248" y="3630168"/>
            <a:ext cx="1463040" cy="329184"/>
          </a:xfrm>
          <a:prstGeom prst="rect">
            <a:avLst/>
          </a:prstGeom>
          <a:noFill/>
          <a:ln/>
        </p:spPr>
        <p:txBody>
          <a:bodyPr wrap="square" lIns="0" tIns="0" rIns="0" bIns="0" rtlCol="0" anchor="ctr"/>
          <a:lstStyle/>
          <a:p>
            <a:pPr indent="0" marL="0">
              <a:buNone/>
            </a:pPr>
            <a:r>
              <a:rPr lang="en-US" sz="1200" b="1" dirty="0">
                <a:solidFill>
                  <a:schemeClr val="tx1"/>
                </a:solidFill>
              </a:rPr>
              <a:t>Thấp đến vừa</a:t>
            </a:r>
            <a:endParaRPr lang="en-US" sz="1200" dirty="0"/>
          </a:p>
        </p:txBody>
      </p:sp>
      <p:sp>
        <p:nvSpPr>
          <p:cNvPr id="23" name="text-226"/>
          <p:cNvSpPr txBox="1"/>
          <p:nvPr/>
        </p:nvSpPr>
        <p:spPr>
          <a:xfrm>
            <a:off x="3493008" y="4014216"/>
            <a:ext cx="777240" cy="329184"/>
          </a:xfrm>
          <a:prstGeom prst="rect">
            <a:avLst/>
          </a:prstGeom>
          <a:noFill/>
          <a:ln/>
        </p:spPr>
        <p:txBody>
          <a:bodyPr wrap="square" lIns="0" tIns="0" rIns="0" bIns="0" rtlCol="0" anchor="ctr"/>
          <a:lstStyle/>
          <a:p>
            <a:pPr indent="0" marL="0">
              <a:buNone/>
            </a:pPr>
            <a:r>
              <a:rPr lang="en-US" sz="1200" dirty="0">
                <a:solidFill>
                  <a:schemeClr val="tx2"/>
                </a:solidFill>
              </a:rPr>
              <a:t>Hợp với</a:t>
            </a:r>
            <a:endParaRPr lang="en-US" sz="1200" dirty="0"/>
          </a:p>
        </p:txBody>
      </p:sp>
      <p:sp>
        <p:nvSpPr>
          <p:cNvPr id="24" name="text-227"/>
          <p:cNvSpPr txBox="1"/>
          <p:nvPr/>
        </p:nvSpPr>
        <p:spPr>
          <a:xfrm>
            <a:off x="4270248" y="4014216"/>
            <a:ext cx="1463040" cy="329184"/>
          </a:xfrm>
          <a:prstGeom prst="rect">
            <a:avLst/>
          </a:prstGeom>
          <a:noFill/>
          <a:ln/>
        </p:spPr>
        <p:txBody>
          <a:bodyPr wrap="square" lIns="0" tIns="0" rIns="0" bIns="0" rtlCol="0" anchor="ctr"/>
          <a:lstStyle/>
          <a:p>
            <a:pPr indent="0" marL="0">
              <a:buNone/>
            </a:pPr>
            <a:r>
              <a:rPr lang="en-US" sz="1200" b="1" dirty="0">
                <a:solidFill>
                  <a:schemeClr val="tx1"/>
                </a:solidFill>
              </a:rPr>
              <a:t>Muốn app riêng, có người xem lại</a:t>
            </a:r>
            <a:endParaRPr lang="en-US" sz="1200" dirty="0"/>
          </a:p>
        </p:txBody>
      </p:sp>
      <p:sp>
        <p:nvSpPr>
          <p:cNvPr id="25" name="card-228"/>
          <p:cNvSpPr/>
          <p:nvPr/>
        </p:nvSpPr>
        <p:spPr>
          <a:xfrm>
            <a:off x="6071616" y="1143000"/>
            <a:ext cx="2615184" cy="3337560"/>
          </a:xfrm>
          <a:prstGeom prst="roundRect">
            <a:avLst>
              <a:gd name="adj" fmla="val 4196"/>
            </a:avLst>
          </a:prstGeom>
          <a:solidFill>
            <a:schemeClr val="bg1"/>
          </a:solidFill>
          <a:ln/>
          <a:effectLst>
            <a:outerShdw sx="100000" sy="100000" kx="0" ky="0" algn="bl" rotWithShape="0" blurRad="101600" dist="25400" dir="5400000">
              <a:srgbClr val="0B1F4B">
                <a:alpha val="12000"/>
              </a:srgbClr>
            </a:outerShdw>
          </a:effectLst>
        </p:spPr>
      </p:sp>
      <p:sp>
        <p:nvSpPr>
          <p:cNvPr id="26" name="icon-bg-229"/>
          <p:cNvSpPr/>
          <p:nvPr/>
        </p:nvSpPr>
        <p:spPr>
          <a:xfrm>
            <a:off x="6300216" y="1325880"/>
            <a:ext cx="594360" cy="594360"/>
          </a:xfrm>
          <a:prstGeom prst="ellipse">
            <a:avLst/>
          </a:prstGeom>
          <a:solidFill>
            <a:schemeClr val="accent1"/>
          </a:solidFill>
          <a:ln/>
        </p:spPr>
      </p:sp>
      <p:pic>
        <p:nvPicPr>
          <p:cNvPr id="27" name="icon-FaUsers-230" descr="preencoded.png">    </p:cNvPr>
          <p:cNvPicPr>
            <a:picLocks noChangeAspect="1"/>
          </p:cNvPicPr>
          <p:nvPr/>
        </p:nvPicPr>
        <p:blipFill>
          <a:blip r:embed="rId3"/>
          <a:stretch>
            <a:fillRect/>
          </a:stretch>
        </p:blipFill>
        <p:spPr>
          <a:xfrm>
            <a:off x="6448806" y="1474470"/>
            <a:ext cx="297180" cy="297180"/>
          </a:xfrm>
          <a:prstGeom prst="rect">
            <a:avLst/>
          </a:prstGeom>
        </p:spPr>
      </p:pic>
      <p:sp>
        <p:nvSpPr>
          <p:cNvPr id="28" name="text-231"/>
          <p:cNvSpPr txBox="1"/>
          <p:nvPr/>
        </p:nvSpPr>
        <p:spPr>
          <a:xfrm>
            <a:off x="6300216" y="2011680"/>
            <a:ext cx="2194560" cy="320040"/>
          </a:xfrm>
          <a:prstGeom prst="rect">
            <a:avLst/>
          </a:prstGeom>
          <a:noFill/>
          <a:ln/>
        </p:spPr>
        <p:txBody>
          <a:bodyPr wrap="square" lIns="0" tIns="0" rIns="0" bIns="0" rtlCol="0" anchor="t"/>
          <a:lstStyle/>
          <a:p>
            <a:pPr indent="0" marL="0">
              <a:buNone/>
            </a:pPr>
            <a:r>
              <a:rPr lang="en-US" sz="1600" b="1" dirty="0">
                <a:solidFill>
                  <a:schemeClr val="tx1"/>
                </a:solidFill>
              </a:rPr>
              <a:t>Thuê đội lập trình</a:t>
            </a:r>
            <a:endParaRPr lang="en-US" sz="1600" dirty="0"/>
          </a:p>
        </p:txBody>
      </p:sp>
      <p:sp>
        <p:nvSpPr>
          <p:cNvPr id="29" name="text-232"/>
          <p:cNvSpPr txBox="1"/>
          <p:nvPr/>
        </p:nvSpPr>
        <p:spPr>
          <a:xfrm>
            <a:off x="6300216" y="2377440"/>
            <a:ext cx="2194560" cy="777240"/>
          </a:xfrm>
          <a:prstGeom prst="rect">
            <a:avLst/>
          </a:prstGeom>
          <a:noFill/>
          <a:ln/>
        </p:spPr>
        <p:txBody>
          <a:bodyPr wrap="square" lIns="0" tIns="0" rIns="0" bIns="0" rtlCol="0" anchor="t"/>
          <a:lstStyle/>
          <a:p>
            <a:pPr indent="0" marL="0">
              <a:buNone/>
            </a:pPr>
            <a:r>
              <a:rPr lang="en-US" sz="1400" dirty="0">
                <a:solidFill>
                  <a:schemeClr val="tx2"/>
                </a:solidFill>
              </a:rPr>
              <a:t>Freelancer hoặc công ty phần mềm làm trọn gói.</a:t>
            </a:r>
            <a:endParaRPr lang="en-US" sz="1400" dirty="0"/>
          </a:p>
        </p:txBody>
      </p:sp>
      <p:sp>
        <p:nvSpPr>
          <p:cNvPr id="30" name="text-233"/>
          <p:cNvSpPr txBox="1"/>
          <p:nvPr/>
        </p:nvSpPr>
        <p:spPr>
          <a:xfrm>
            <a:off x="6300216" y="3246120"/>
            <a:ext cx="777240" cy="329184"/>
          </a:xfrm>
          <a:prstGeom prst="rect">
            <a:avLst/>
          </a:prstGeom>
          <a:noFill/>
          <a:ln/>
        </p:spPr>
        <p:txBody>
          <a:bodyPr wrap="square" lIns="0" tIns="0" rIns="0" bIns="0" rtlCol="0" anchor="ctr"/>
          <a:lstStyle/>
          <a:p>
            <a:pPr indent="0" marL="0">
              <a:buNone/>
            </a:pPr>
            <a:r>
              <a:rPr lang="en-US" sz="1200" dirty="0">
                <a:solidFill>
                  <a:schemeClr val="tx2"/>
                </a:solidFill>
              </a:rPr>
              <a:t>Thời gian</a:t>
            </a:r>
            <a:endParaRPr lang="en-US" sz="1200" dirty="0"/>
          </a:p>
        </p:txBody>
      </p:sp>
      <p:sp>
        <p:nvSpPr>
          <p:cNvPr id="31" name="text-234"/>
          <p:cNvSpPr txBox="1"/>
          <p:nvPr/>
        </p:nvSpPr>
        <p:spPr>
          <a:xfrm>
            <a:off x="7077456" y="3246120"/>
            <a:ext cx="1463040" cy="329184"/>
          </a:xfrm>
          <a:prstGeom prst="rect">
            <a:avLst/>
          </a:prstGeom>
          <a:noFill/>
          <a:ln/>
        </p:spPr>
        <p:txBody>
          <a:bodyPr wrap="square" lIns="0" tIns="0" rIns="0" bIns="0" rtlCol="0" anchor="ctr"/>
          <a:lstStyle/>
          <a:p>
            <a:pPr indent="0" marL="0">
              <a:buNone/>
            </a:pPr>
            <a:r>
              <a:rPr lang="en-US" sz="1200" b="1" dirty="0">
                <a:solidFill>
                  <a:schemeClr val="tx1"/>
                </a:solidFill>
              </a:rPr>
              <a:t>2–3 tháng</a:t>
            </a:r>
            <a:endParaRPr lang="en-US" sz="1200" dirty="0"/>
          </a:p>
        </p:txBody>
      </p:sp>
      <p:sp>
        <p:nvSpPr>
          <p:cNvPr id="32" name="text-235"/>
          <p:cNvSpPr txBox="1"/>
          <p:nvPr/>
        </p:nvSpPr>
        <p:spPr>
          <a:xfrm>
            <a:off x="6300216" y="3630168"/>
            <a:ext cx="777240" cy="329184"/>
          </a:xfrm>
          <a:prstGeom prst="rect">
            <a:avLst/>
          </a:prstGeom>
          <a:noFill/>
          <a:ln/>
        </p:spPr>
        <p:txBody>
          <a:bodyPr wrap="square" lIns="0" tIns="0" rIns="0" bIns="0" rtlCol="0" anchor="ctr"/>
          <a:lstStyle/>
          <a:p>
            <a:pPr indent="0" marL="0">
              <a:buNone/>
            </a:pPr>
            <a:r>
              <a:rPr lang="en-US" sz="1200" dirty="0">
                <a:solidFill>
                  <a:schemeClr val="tx2"/>
                </a:solidFill>
              </a:rPr>
              <a:t>Chi phí</a:t>
            </a:r>
            <a:endParaRPr lang="en-US" sz="1200" dirty="0"/>
          </a:p>
        </p:txBody>
      </p:sp>
      <p:sp>
        <p:nvSpPr>
          <p:cNvPr id="33" name="text-236"/>
          <p:cNvSpPr txBox="1"/>
          <p:nvPr/>
        </p:nvSpPr>
        <p:spPr>
          <a:xfrm>
            <a:off x="7077456" y="3630168"/>
            <a:ext cx="1463040" cy="329184"/>
          </a:xfrm>
          <a:prstGeom prst="rect">
            <a:avLst/>
          </a:prstGeom>
          <a:noFill/>
          <a:ln/>
        </p:spPr>
        <p:txBody>
          <a:bodyPr wrap="square" lIns="0" tIns="0" rIns="0" bIns="0" rtlCol="0" anchor="ctr"/>
          <a:lstStyle/>
          <a:p>
            <a:pPr indent="0" marL="0">
              <a:buNone/>
            </a:pPr>
            <a:r>
              <a:rPr lang="en-US" sz="1200" b="1" dirty="0">
                <a:solidFill>
                  <a:schemeClr val="tx1"/>
                </a:solidFill>
              </a:rPr>
              <a:t>Cao nhất</a:t>
            </a:r>
            <a:endParaRPr lang="en-US" sz="1200" dirty="0"/>
          </a:p>
        </p:txBody>
      </p:sp>
      <p:sp>
        <p:nvSpPr>
          <p:cNvPr id="34" name="text-237"/>
          <p:cNvSpPr txBox="1"/>
          <p:nvPr/>
        </p:nvSpPr>
        <p:spPr>
          <a:xfrm>
            <a:off x="6300216" y="4014216"/>
            <a:ext cx="777240" cy="329184"/>
          </a:xfrm>
          <a:prstGeom prst="rect">
            <a:avLst/>
          </a:prstGeom>
          <a:noFill/>
          <a:ln/>
        </p:spPr>
        <p:txBody>
          <a:bodyPr wrap="square" lIns="0" tIns="0" rIns="0" bIns="0" rtlCol="0" anchor="ctr"/>
          <a:lstStyle/>
          <a:p>
            <a:pPr indent="0" marL="0">
              <a:buNone/>
            </a:pPr>
            <a:r>
              <a:rPr lang="en-US" sz="1200" dirty="0">
                <a:solidFill>
                  <a:schemeClr val="tx2"/>
                </a:solidFill>
              </a:rPr>
              <a:t>Hợp với</a:t>
            </a:r>
            <a:endParaRPr lang="en-US" sz="1200" dirty="0"/>
          </a:p>
        </p:txBody>
      </p:sp>
      <p:sp>
        <p:nvSpPr>
          <p:cNvPr id="35" name="text-238"/>
          <p:cNvSpPr txBox="1"/>
          <p:nvPr/>
        </p:nvSpPr>
        <p:spPr>
          <a:xfrm>
            <a:off x="7077456" y="4014216"/>
            <a:ext cx="1463040" cy="329184"/>
          </a:xfrm>
          <a:prstGeom prst="rect">
            <a:avLst/>
          </a:prstGeom>
          <a:noFill/>
          <a:ln/>
        </p:spPr>
        <p:txBody>
          <a:bodyPr wrap="square" lIns="0" tIns="0" rIns="0" bIns="0" rtlCol="0" anchor="ctr"/>
          <a:lstStyle/>
          <a:p>
            <a:pPr indent="0" marL="0">
              <a:buNone/>
            </a:pPr>
            <a:r>
              <a:rPr lang="en-US" sz="1200" b="1" dirty="0">
                <a:solidFill>
                  <a:schemeClr val="tx1"/>
                </a:solidFill>
              </a:rPr>
              <a:t>Bán sản phẩm cho nhiều khách</a:t>
            </a:r>
            <a:endParaRPr lang="en-US" sz="1200" dirty="0"/>
          </a:p>
        </p:txBody>
      </p:sp>
      <p:sp>
        <p:nvSpPr>
          <p:cNvPr id="36" name="pill-239"/>
          <p:cNvSpPr/>
          <p:nvPr/>
        </p:nvSpPr>
        <p:spPr>
          <a:xfrm>
            <a:off x="1097280" y="1005840"/>
            <a:ext cx="160020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Nên bắt đầu ở đây</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1"/>
                </a:solidFill>
              </a:rPr>
              <a:t>Bản thử no-code: ghép 4 công cụ có sẵn</a:t>
            </a:r>
            <a:endParaRPr lang="en-US" sz="2600" dirty="0"/>
          </a:p>
        </p:txBody>
      </p:sp>
      <p:sp>
        <p:nvSpPr>
          <p:cNvPr id="3" name="icon-bg-240"/>
          <p:cNvSpPr/>
          <p:nvPr/>
        </p:nvSpPr>
        <p:spPr>
          <a:xfrm>
            <a:off x="868680" y="1051560"/>
            <a:ext cx="822960" cy="822960"/>
          </a:xfrm>
          <a:prstGeom prst="ellipse">
            <a:avLst/>
          </a:prstGeom>
          <a:solidFill>
            <a:schemeClr val="accent1"/>
          </a:solidFill>
          <a:ln/>
        </p:spPr>
      </p:sp>
      <p:pic>
        <p:nvPicPr>
          <p:cNvPr id="4" name="icon-FaRobot-241" descr="preencoded.png">    </p:cNvPr>
          <p:cNvPicPr>
            <a:picLocks noChangeAspect="1"/>
          </p:cNvPicPr>
          <p:nvPr/>
        </p:nvPicPr>
        <p:blipFill>
          <a:blip r:embed="rId1"/>
          <a:stretch>
            <a:fillRect/>
          </a:stretch>
        </p:blipFill>
        <p:spPr>
          <a:xfrm>
            <a:off x="1074420" y="1257300"/>
            <a:ext cx="411480" cy="411480"/>
          </a:xfrm>
          <a:prstGeom prst="rect">
            <a:avLst/>
          </a:prstGeom>
        </p:spPr>
      </p:pic>
      <p:sp>
        <p:nvSpPr>
          <p:cNvPr id="5" name="text-242"/>
          <p:cNvSpPr txBox="1"/>
          <p:nvPr/>
        </p:nvSpPr>
        <p:spPr>
          <a:xfrm>
            <a:off x="320040" y="1938528"/>
            <a:ext cx="1920240" cy="274320"/>
          </a:xfrm>
          <a:prstGeom prst="rect">
            <a:avLst/>
          </a:prstGeom>
          <a:noFill/>
          <a:ln/>
        </p:spPr>
        <p:txBody>
          <a:bodyPr wrap="square" lIns="0" tIns="0" rIns="0" bIns="0" rtlCol="0" anchor="t"/>
          <a:lstStyle/>
          <a:p>
            <a:pPr algn="ctr" indent="0" marL="0">
              <a:buNone/>
            </a:pPr>
            <a:r>
              <a:rPr lang="en-US" sz="1500" b="1" dirty="0">
                <a:solidFill>
                  <a:schemeClr val="tx1"/>
                </a:solidFill>
              </a:rPr>
              <a:t>Zalo Bot</a:t>
            </a:r>
            <a:endParaRPr lang="en-US" sz="1500" dirty="0"/>
          </a:p>
        </p:txBody>
      </p:sp>
      <p:sp>
        <p:nvSpPr>
          <p:cNvPr id="6" name="text-243"/>
          <p:cNvSpPr txBox="1"/>
          <p:nvPr/>
        </p:nvSpPr>
        <p:spPr>
          <a:xfrm>
            <a:off x="320040" y="2212848"/>
            <a:ext cx="1920240" cy="256032"/>
          </a:xfrm>
          <a:prstGeom prst="rect">
            <a:avLst/>
          </a:prstGeom>
          <a:noFill/>
          <a:ln/>
        </p:spPr>
        <p:txBody>
          <a:bodyPr wrap="square" lIns="0" tIns="0" rIns="0" bIns="0" rtlCol="0" anchor="t"/>
          <a:lstStyle/>
          <a:p>
            <a:pPr algn="ctr" indent="0" marL="0">
              <a:buNone/>
            </a:pPr>
            <a:r>
              <a:rPr lang="en-US" sz="1200" dirty="0">
                <a:solidFill>
                  <a:schemeClr val="tx2"/>
                </a:solidFill>
              </a:rPr>
              <a:t>Nhận tin bạn chuyển tiếp</a:t>
            </a:r>
            <a:endParaRPr lang="en-US" sz="1200" dirty="0"/>
          </a:p>
        </p:txBody>
      </p:sp>
      <p:sp>
        <p:nvSpPr>
          <p:cNvPr id="7" name="arrow-244"/>
          <p:cNvSpPr/>
          <p:nvPr/>
        </p:nvSpPr>
        <p:spPr>
          <a:xfrm>
            <a:off x="1783080" y="1463040"/>
            <a:ext cx="1188720" cy="0"/>
          </a:xfrm>
          <a:prstGeom prst="line">
            <a:avLst/>
          </a:prstGeom>
          <a:noFill/>
          <a:ln w="25400">
            <a:solidFill>
              <a:schemeClr val="tx2"/>
            </a:solidFill>
            <a:prstDash val="solid"/>
            <a:tailEnd type="triangle"/>
          </a:ln>
        </p:spPr>
      </p:sp>
      <p:sp>
        <p:nvSpPr>
          <p:cNvPr id="8" name="icon-bg-245"/>
          <p:cNvSpPr/>
          <p:nvPr/>
        </p:nvSpPr>
        <p:spPr>
          <a:xfrm>
            <a:off x="3063240" y="1051560"/>
            <a:ext cx="822960" cy="822960"/>
          </a:xfrm>
          <a:prstGeom prst="ellipse">
            <a:avLst/>
          </a:prstGeom>
          <a:solidFill>
            <a:schemeClr val="tx2"/>
          </a:solidFill>
          <a:ln/>
        </p:spPr>
      </p:sp>
      <p:pic>
        <p:nvPicPr>
          <p:cNvPr id="9" name="icon-FaCogs-246" descr="preencoded.png">    </p:cNvPr>
          <p:cNvPicPr>
            <a:picLocks noChangeAspect="1"/>
          </p:cNvPicPr>
          <p:nvPr/>
        </p:nvPicPr>
        <p:blipFill>
          <a:blip r:embed="rId2"/>
          <a:stretch>
            <a:fillRect/>
          </a:stretch>
        </p:blipFill>
        <p:spPr>
          <a:xfrm>
            <a:off x="3268980" y="1257300"/>
            <a:ext cx="411480" cy="411480"/>
          </a:xfrm>
          <a:prstGeom prst="rect">
            <a:avLst/>
          </a:prstGeom>
        </p:spPr>
      </p:pic>
      <p:sp>
        <p:nvSpPr>
          <p:cNvPr id="10" name="text-247"/>
          <p:cNvSpPr txBox="1"/>
          <p:nvPr/>
        </p:nvSpPr>
        <p:spPr>
          <a:xfrm>
            <a:off x="2514600" y="1938528"/>
            <a:ext cx="1920240" cy="274320"/>
          </a:xfrm>
          <a:prstGeom prst="rect">
            <a:avLst/>
          </a:prstGeom>
          <a:noFill/>
          <a:ln/>
        </p:spPr>
        <p:txBody>
          <a:bodyPr wrap="square" lIns="0" tIns="0" rIns="0" bIns="0" rtlCol="0" anchor="t"/>
          <a:lstStyle/>
          <a:p>
            <a:pPr algn="ctr" indent="0" marL="0">
              <a:buNone/>
            </a:pPr>
            <a:r>
              <a:rPr lang="en-US" sz="1500" b="1" dirty="0">
                <a:solidFill>
                  <a:schemeClr val="tx1"/>
                </a:solidFill>
              </a:rPr>
              <a:t>n8n hoặc Make</a:t>
            </a:r>
            <a:endParaRPr lang="en-US" sz="1500" dirty="0"/>
          </a:p>
        </p:txBody>
      </p:sp>
      <p:sp>
        <p:nvSpPr>
          <p:cNvPr id="11" name="text-248"/>
          <p:cNvSpPr txBox="1"/>
          <p:nvPr/>
        </p:nvSpPr>
        <p:spPr>
          <a:xfrm>
            <a:off x="2514600" y="2212848"/>
            <a:ext cx="1920240" cy="256032"/>
          </a:xfrm>
          <a:prstGeom prst="rect">
            <a:avLst/>
          </a:prstGeom>
          <a:noFill/>
          <a:ln/>
        </p:spPr>
        <p:txBody>
          <a:bodyPr wrap="square" lIns="0" tIns="0" rIns="0" bIns="0" rtlCol="0" anchor="t"/>
          <a:lstStyle/>
          <a:p>
            <a:pPr algn="ctr" indent="0" marL="0">
              <a:buNone/>
            </a:pPr>
            <a:r>
              <a:rPr lang="en-US" sz="1200" dirty="0">
                <a:solidFill>
                  <a:schemeClr val="tx2"/>
                </a:solidFill>
              </a:rPr>
              <a:t>Kịch bản tự động</a:t>
            </a:r>
            <a:endParaRPr lang="en-US" sz="1200" dirty="0"/>
          </a:p>
        </p:txBody>
      </p:sp>
      <p:sp>
        <p:nvSpPr>
          <p:cNvPr id="12" name="arrow-249"/>
          <p:cNvSpPr/>
          <p:nvPr/>
        </p:nvSpPr>
        <p:spPr>
          <a:xfrm>
            <a:off x="3977640" y="1463040"/>
            <a:ext cx="1188720" cy="0"/>
          </a:xfrm>
          <a:prstGeom prst="line">
            <a:avLst/>
          </a:prstGeom>
          <a:noFill/>
          <a:ln w="25400">
            <a:solidFill>
              <a:schemeClr val="tx2"/>
            </a:solidFill>
            <a:prstDash val="solid"/>
            <a:tailEnd type="triangle"/>
          </a:ln>
        </p:spPr>
      </p:sp>
      <p:sp>
        <p:nvSpPr>
          <p:cNvPr id="13" name="icon-bg-250"/>
          <p:cNvSpPr/>
          <p:nvPr/>
        </p:nvSpPr>
        <p:spPr>
          <a:xfrm>
            <a:off x="5257800" y="1051560"/>
            <a:ext cx="822960" cy="822960"/>
          </a:xfrm>
          <a:prstGeom prst="ellipse">
            <a:avLst/>
          </a:prstGeom>
          <a:solidFill>
            <a:schemeClr val="accent5"/>
          </a:solidFill>
          <a:ln/>
        </p:spPr>
      </p:sp>
      <p:pic>
        <p:nvPicPr>
          <p:cNvPr id="14" name="icon-FaLayerGroup-251" descr="preencoded.png">    </p:cNvPr>
          <p:cNvPicPr>
            <a:picLocks noChangeAspect="1"/>
          </p:cNvPicPr>
          <p:nvPr/>
        </p:nvPicPr>
        <p:blipFill>
          <a:blip r:embed="rId3"/>
          <a:stretch>
            <a:fillRect/>
          </a:stretch>
        </p:blipFill>
        <p:spPr>
          <a:xfrm>
            <a:off x="5463540" y="1257300"/>
            <a:ext cx="411480" cy="411480"/>
          </a:xfrm>
          <a:prstGeom prst="rect">
            <a:avLst/>
          </a:prstGeom>
        </p:spPr>
      </p:pic>
      <p:sp>
        <p:nvSpPr>
          <p:cNvPr id="15" name="text-252"/>
          <p:cNvSpPr txBox="1"/>
          <p:nvPr/>
        </p:nvSpPr>
        <p:spPr>
          <a:xfrm>
            <a:off x="4709160" y="1938528"/>
            <a:ext cx="1920240" cy="274320"/>
          </a:xfrm>
          <a:prstGeom prst="rect">
            <a:avLst/>
          </a:prstGeom>
          <a:noFill/>
          <a:ln/>
        </p:spPr>
        <p:txBody>
          <a:bodyPr wrap="square" lIns="0" tIns="0" rIns="0" bIns="0" rtlCol="0" anchor="t"/>
          <a:lstStyle/>
          <a:p>
            <a:pPr algn="ctr" indent="0" marL="0">
              <a:buNone/>
            </a:pPr>
            <a:r>
              <a:rPr lang="en-US" sz="1500" b="1" dirty="0">
                <a:solidFill>
                  <a:schemeClr val="tx1"/>
                </a:solidFill>
              </a:rPr>
              <a:t>AI (Claude)</a:t>
            </a:r>
            <a:endParaRPr lang="en-US" sz="1500" dirty="0"/>
          </a:p>
        </p:txBody>
      </p:sp>
      <p:sp>
        <p:nvSpPr>
          <p:cNvPr id="16" name="text-253"/>
          <p:cNvSpPr txBox="1"/>
          <p:nvPr/>
        </p:nvSpPr>
        <p:spPr>
          <a:xfrm>
            <a:off x="4709160" y="2212848"/>
            <a:ext cx="1920240" cy="256032"/>
          </a:xfrm>
          <a:prstGeom prst="rect">
            <a:avLst/>
          </a:prstGeom>
          <a:noFill/>
          <a:ln/>
        </p:spPr>
        <p:txBody>
          <a:bodyPr wrap="square" lIns="0" tIns="0" rIns="0" bIns="0" rtlCol="0" anchor="t"/>
          <a:lstStyle/>
          <a:p>
            <a:pPr algn="ctr" indent="0" marL="0">
              <a:buNone/>
            </a:pPr>
            <a:r>
              <a:rPr lang="en-US" sz="1200" dirty="0">
                <a:solidFill>
                  <a:schemeClr val="tx2"/>
                </a:solidFill>
              </a:rPr>
              <a:t>Đọc tin, trả về việc</a:t>
            </a:r>
            <a:endParaRPr lang="en-US" sz="1200" dirty="0"/>
          </a:p>
        </p:txBody>
      </p:sp>
      <p:sp>
        <p:nvSpPr>
          <p:cNvPr id="17" name="arrow-254"/>
          <p:cNvSpPr/>
          <p:nvPr/>
        </p:nvSpPr>
        <p:spPr>
          <a:xfrm>
            <a:off x="6172200" y="1463040"/>
            <a:ext cx="1188720" cy="0"/>
          </a:xfrm>
          <a:prstGeom prst="line">
            <a:avLst/>
          </a:prstGeom>
          <a:noFill/>
          <a:ln w="25400">
            <a:solidFill>
              <a:schemeClr val="tx2"/>
            </a:solidFill>
            <a:prstDash val="solid"/>
            <a:tailEnd type="triangle"/>
          </a:ln>
        </p:spPr>
      </p:sp>
      <p:sp>
        <p:nvSpPr>
          <p:cNvPr id="18" name="icon-bg-255"/>
          <p:cNvSpPr/>
          <p:nvPr/>
        </p:nvSpPr>
        <p:spPr>
          <a:xfrm>
            <a:off x="7452360" y="1051560"/>
            <a:ext cx="822960" cy="822960"/>
          </a:xfrm>
          <a:prstGeom prst="ellipse">
            <a:avLst/>
          </a:prstGeom>
          <a:solidFill>
            <a:schemeClr val="accent3"/>
          </a:solidFill>
          <a:ln/>
        </p:spPr>
      </p:sp>
      <p:pic>
        <p:nvPicPr>
          <p:cNvPr id="19" name="icon-FaTable-256" descr="preencoded.png">    </p:cNvPr>
          <p:cNvPicPr>
            <a:picLocks noChangeAspect="1"/>
          </p:cNvPicPr>
          <p:nvPr/>
        </p:nvPicPr>
        <p:blipFill>
          <a:blip r:embed="rId4"/>
          <a:stretch>
            <a:fillRect/>
          </a:stretch>
        </p:blipFill>
        <p:spPr>
          <a:xfrm>
            <a:off x="7658100" y="1257300"/>
            <a:ext cx="411480" cy="411480"/>
          </a:xfrm>
          <a:prstGeom prst="rect">
            <a:avLst/>
          </a:prstGeom>
        </p:spPr>
      </p:pic>
      <p:sp>
        <p:nvSpPr>
          <p:cNvPr id="20" name="text-257"/>
          <p:cNvSpPr txBox="1"/>
          <p:nvPr/>
        </p:nvSpPr>
        <p:spPr>
          <a:xfrm>
            <a:off x="6903720" y="1938528"/>
            <a:ext cx="1920240" cy="274320"/>
          </a:xfrm>
          <a:prstGeom prst="rect">
            <a:avLst/>
          </a:prstGeom>
          <a:noFill/>
          <a:ln/>
        </p:spPr>
        <p:txBody>
          <a:bodyPr wrap="square" lIns="0" tIns="0" rIns="0" bIns="0" rtlCol="0" anchor="t"/>
          <a:lstStyle/>
          <a:p>
            <a:pPr algn="ctr" indent="0" marL="0">
              <a:buNone/>
            </a:pPr>
            <a:r>
              <a:rPr lang="en-US" sz="1500" b="1" dirty="0">
                <a:solidFill>
                  <a:schemeClr val="tx1"/>
                </a:solidFill>
              </a:rPr>
              <a:t>Google Sheets</a:t>
            </a:r>
            <a:endParaRPr lang="en-US" sz="1500" dirty="0"/>
          </a:p>
        </p:txBody>
      </p:sp>
      <p:sp>
        <p:nvSpPr>
          <p:cNvPr id="21" name="text-258"/>
          <p:cNvSpPr txBox="1"/>
          <p:nvPr/>
        </p:nvSpPr>
        <p:spPr>
          <a:xfrm>
            <a:off x="6903720" y="2212848"/>
            <a:ext cx="1920240" cy="256032"/>
          </a:xfrm>
          <a:prstGeom prst="rect">
            <a:avLst/>
          </a:prstGeom>
          <a:noFill/>
          <a:ln/>
        </p:spPr>
        <p:txBody>
          <a:bodyPr wrap="square" lIns="0" tIns="0" rIns="0" bIns="0" rtlCol="0" anchor="t"/>
          <a:lstStyle/>
          <a:p>
            <a:pPr algn="ctr" indent="0" marL="0">
              <a:buNone/>
            </a:pPr>
            <a:r>
              <a:rPr lang="en-US" sz="1200" dirty="0">
                <a:solidFill>
                  <a:schemeClr val="tx2"/>
                </a:solidFill>
              </a:rPr>
              <a:t>Bảng công việc</a:t>
            </a:r>
            <a:endParaRPr lang="en-US" sz="1200" dirty="0"/>
          </a:p>
        </p:txBody>
      </p:sp>
      <p:sp>
        <p:nvSpPr>
          <p:cNvPr id="22" name="line-259"/>
          <p:cNvSpPr/>
          <p:nvPr/>
        </p:nvSpPr>
        <p:spPr>
          <a:xfrm>
            <a:off x="7863840" y="2542032"/>
            <a:ext cx="0" cy="201168"/>
          </a:xfrm>
          <a:prstGeom prst="line">
            <a:avLst/>
          </a:prstGeom>
          <a:noFill/>
          <a:ln w="25400">
            <a:solidFill>
              <a:schemeClr val="accent2"/>
            </a:solidFill>
            <a:prstDash val="solid"/>
          </a:ln>
        </p:spPr>
      </p:sp>
      <p:sp>
        <p:nvSpPr>
          <p:cNvPr id="23" name="line-260"/>
          <p:cNvSpPr/>
          <p:nvPr/>
        </p:nvSpPr>
        <p:spPr>
          <a:xfrm>
            <a:off x="1280160" y="2743200"/>
            <a:ext cx="6583680" cy="0"/>
          </a:xfrm>
          <a:prstGeom prst="line">
            <a:avLst/>
          </a:prstGeom>
          <a:noFill/>
          <a:ln w="25400">
            <a:solidFill>
              <a:schemeClr val="accent2"/>
            </a:solidFill>
            <a:prstDash val="solid"/>
          </a:ln>
        </p:spPr>
      </p:sp>
      <p:sp>
        <p:nvSpPr>
          <p:cNvPr id="24" name="arrow-261"/>
          <p:cNvSpPr/>
          <p:nvPr/>
        </p:nvSpPr>
        <p:spPr>
          <a:xfrm flipV="1">
            <a:off x="1280160" y="2542032"/>
            <a:ext cx="0" cy="201168"/>
          </a:xfrm>
          <a:prstGeom prst="line">
            <a:avLst/>
          </a:prstGeom>
          <a:noFill/>
          <a:ln w="25400">
            <a:solidFill>
              <a:schemeClr val="accent2"/>
            </a:solidFill>
            <a:prstDash val="solid"/>
            <a:tailEnd type="triangle"/>
          </a:ln>
        </p:spPr>
      </p:sp>
      <p:sp>
        <p:nvSpPr>
          <p:cNvPr id="25" name="loop-label-262"/>
          <p:cNvSpPr txBox="1"/>
          <p:nvPr/>
        </p:nvSpPr>
        <p:spPr>
          <a:xfrm>
            <a:off x="3017520" y="2615184"/>
            <a:ext cx="3108960" cy="256032"/>
          </a:xfrm>
          <a:prstGeom prst="rect">
            <a:avLst/>
          </a:prstGeom>
          <a:solidFill>
            <a:schemeClr val="bg2"/>
          </a:solidFill>
          <a:ln/>
        </p:spPr>
        <p:txBody>
          <a:bodyPr wrap="square" lIns="0" tIns="0" rIns="0" bIns="0" rtlCol="0" anchor="ctr"/>
          <a:lstStyle/>
          <a:p>
            <a:pPr algn="ctr" indent="0" marL="0">
              <a:buNone/>
            </a:pPr>
            <a:r>
              <a:rPr lang="en-US" sz="1100" b="1" i="1" dirty="0">
                <a:solidFill>
                  <a:schemeClr val="accent2"/>
                </a:solidFill>
              </a:rPr>
              <a:t>Mỗi sáng 8h: Zalo Bot gửi danh sách việc</a:t>
            </a:r>
            <a:endParaRPr lang="en-US" sz="1100" dirty="0"/>
          </a:p>
        </p:txBody>
      </p:sp>
      <p:sp>
        <p:nvSpPr>
          <p:cNvPr id="26" name="card-263"/>
          <p:cNvSpPr/>
          <p:nvPr/>
        </p:nvSpPr>
        <p:spPr>
          <a:xfrm>
            <a:off x="457200" y="3108960"/>
            <a:ext cx="4023360" cy="1371600"/>
          </a:xfrm>
          <a:prstGeom prst="roundRect">
            <a:avLst>
              <a:gd name="adj" fmla="val 8000"/>
            </a:avLst>
          </a:prstGeom>
          <a:solidFill>
            <a:schemeClr val="bg1"/>
          </a:solidFill>
          <a:ln/>
          <a:effectLst>
            <a:outerShdw sx="100000" sy="100000" kx="0" ky="0" algn="bl" rotWithShape="0" blurRad="101600" dist="25400" dir="5400000">
              <a:srgbClr val="0B1F4B">
                <a:alpha val="12000"/>
              </a:srgbClr>
            </a:outerShdw>
          </a:effectLst>
        </p:spPr>
      </p:sp>
      <p:sp>
        <p:nvSpPr>
          <p:cNvPr id="27" name="icon-bg-264"/>
          <p:cNvSpPr/>
          <p:nvPr/>
        </p:nvSpPr>
        <p:spPr>
          <a:xfrm>
            <a:off x="640080" y="3246120"/>
            <a:ext cx="384048" cy="384048"/>
          </a:xfrm>
          <a:prstGeom prst="ellipse">
            <a:avLst/>
          </a:prstGeom>
          <a:solidFill>
            <a:schemeClr val="accent3"/>
          </a:solidFill>
          <a:ln/>
        </p:spPr>
      </p:sp>
      <p:pic>
        <p:nvPicPr>
          <p:cNvPr id="28" name="icon-FaThumbsUp-265" descr="preencoded.png">    </p:cNvPr>
          <p:cNvPicPr>
            <a:picLocks noChangeAspect="1"/>
          </p:cNvPicPr>
          <p:nvPr/>
        </p:nvPicPr>
        <p:blipFill>
          <a:blip r:embed="rId5"/>
          <a:stretch>
            <a:fillRect/>
          </a:stretch>
        </p:blipFill>
        <p:spPr>
          <a:xfrm>
            <a:off x="736092" y="3342132"/>
            <a:ext cx="192024" cy="192024"/>
          </a:xfrm>
          <a:prstGeom prst="rect">
            <a:avLst/>
          </a:prstGeom>
        </p:spPr>
      </p:pic>
      <p:sp>
        <p:nvSpPr>
          <p:cNvPr id="29" name="text-266"/>
          <p:cNvSpPr txBox="1"/>
          <p:nvPr/>
        </p:nvSpPr>
        <p:spPr>
          <a:xfrm>
            <a:off x="1143000" y="3246120"/>
            <a:ext cx="3108960" cy="384048"/>
          </a:xfrm>
          <a:prstGeom prst="rect">
            <a:avLst/>
          </a:prstGeom>
          <a:noFill/>
          <a:ln/>
        </p:spPr>
        <p:txBody>
          <a:bodyPr wrap="square" lIns="0" tIns="0" rIns="0" bIns="0" rtlCol="0" anchor="ctr"/>
          <a:lstStyle/>
          <a:p>
            <a:pPr indent="0" marL="0">
              <a:buNone/>
            </a:pPr>
            <a:r>
              <a:rPr lang="en-US" sz="1500" b="1" dirty="0">
                <a:solidFill>
                  <a:schemeClr val="tx1"/>
                </a:solidFill>
              </a:rPr>
              <a:t>Bạn tự làm được</a:t>
            </a:r>
            <a:endParaRPr lang="en-US" sz="1500" dirty="0"/>
          </a:p>
        </p:txBody>
      </p:sp>
      <p:sp>
        <p:nvSpPr>
          <p:cNvPr id="30" name="text-267"/>
          <p:cNvSpPr txBox="1"/>
          <p:nvPr/>
        </p:nvSpPr>
        <p:spPr>
          <a:xfrm>
            <a:off x="685800" y="3703320"/>
            <a:ext cx="3657600" cy="731520"/>
          </a:xfrm>
          <a:prstGeom prst="rect">
            <a:avLst/>
          </a:prstGeom>
          <a:noFill/>
          <a:ln/>
        </p:spPr>
        <p:txBody>
          <a:bodyPr wrap="square" lIns="0" tIns="0" rIns="0" bIns="0" rtlCol="0" anchor="t"/>
          <a:lstStyle/>
          <a:p>
            <a:pPr marL="342900" indent="-342900">
              <a:buSzPct val="100000"/>
              <a:buChar char="•"/>
            </a:pPr>
            <a:r>
              <a:rPr lang="en-US" sz="1300" dirty="0">
                <a:solidFill>
                  <a:schemeClr val="tx1"/>
                </a:solidFill>
              </a:rPr>
              <a:t>Kéo thả kịch bản, không viết code</a:t>
            </a:r>
            <a:endParaRPr lang="en-US" sz="1300" dirty="0"/>
          </a:p>
          <a:p>
            <a:pPr marL="342900" indent="-342900">
              <a:buSzPct val="100000"/>
              <a:buChar char="•"/>
            </a:pPr>
            <a:r>
              <a:rPr lang="en-US" sz="1300" dirty="0">
                <a:solidFill>
                  <a:schemeClr val="tx1"/>
                </a:solidFill>
              </a:rPr>
              <a:t>Viết hướng dẫn cho AI bằng tiếng Việt</a:t>
            </a:r>
            <a:endParaRPr lang="en-US" sz="1300" dirty="0"/>
          </a:p>
          <a:p>
            <a:pPr marL="342900" indent="-342900">
              <a:buSzPct val="100000"/>
              <a:buChar char="•"/>
            </a:pPr>
            <a:r>
              <a:rPr lang="en-US" sz="1300" dirty="0">
                <a:solidFill>
                  <a:schemeClr val="tx1"/>
                </a:solidFill>
              </a:rPr>
              <a:t>Xem và sửa việc ngay trên Google Sheets</a:t>
            </a:r>
            <a:endParaRPr lang="en-US" sz="1300" dirty="0"/>
          </a:p>
        </p:txBody>
      </p:sp>
      <p:sp>
        <p:nvSpPr>
          <p:cNvPr id="31" name="card-268"/>
          <p:cNvSpPr/>
          <p:nvPr/>
        </p:nvSpPr>
        <p:spPr>
          <a:xfrm>
            <a:off x="4663440" y="3108960"/>
            <a:ext cx="4023360" cy="1371600"/>
          </a:xfrm>
          <a:prstGeom prst="roundRect">
            <a:avLst>
              <a:gd name="adj" fmla="val 8000"/>
            </a:avLst>
          </a:prstGeom>
          <a:solidFill>
            <a:schemeClr val="bg1"/>
          </a:solidFill>
          <a:ln/>
          <a:effectLst>
            <a:outerShdw sx="100000" sy="100000" kx="0" ky="0" algn="bl" rotWithShape="0" blurRad="101600" dist="25400" dir="5400000">
              <a:srgbClr val="0B1F4B">
                <a:alpha val="12000"/>
              </a:srgbClr>
            </a:outerShdw>
          </a:effectLst>
        </p:spPr>
      </p:sp>
      <p:sp>
        <p:nvSpPr>
          <p:cNvPr id="32" name="icon-bg-269"/>
          <p:cNvSpPr/>
          <p:nvPr/>
        </p:nvSpPr>
        <p:spPr>
          <a:xfrm>
            <a:off x="4846320" y="3246120"/>
            <a:ext cx="384048" cy="384048"/>
          </a:xfrm>
          <a:prstGeom prst="ellipse">
            <a:avLst/>
          </a:prstGeom>
          <a:solidFill>
            <a:schemeClr val="accent6"/>
          </a:solidFill>
          <a:ln/>
        </p:spPr>
      </p:sp>
      <p:pic>
        <p:nvPicPr>
          <p:cNvPr id="33" name="icon-FaExclamationTriangle-270" descr="preencoded.png">    </p:cNvPr>
          <p:cNvPicPr>
            <a:picLocks noChangeAspect="1"/>
          </p:cNvPicPr>
          <p:nvPr/>
        </p:nvPicPr>
        <p:blipFill>
          <a:blip r:embed="rId6"/>
          <a:stretch>
            <a:fillRect/>
          </a:stretch>
        </p:blipFill>
        <p:spPr>
          <a:xfrm>
            <a:off x="4942332" y="3342132"/>
            <a:ext cx="192024" cy="192024"/>
          </a:xfrm>
          <a:prstGeom prst="rect">
            <a:avLst/>
          </a:prstGeom>
        </p:spPr>
      </p:pic>
      <p:sp>
        <p:nvSpPr>
          <p:cNvPr id="34" name="text-271"/>
          <p:cNvSpPr txBox="1"/>
          <p:nvPr/>
        </p:nvSpPr>
        <p:spPr>
          <a:xfrm>
            <a:off x="5349240" y="3246120"/>
            <a:ext cx="3108960" cy="384048"/>
          </a:xfrm>
          <a:prstGeom prst="rect">
            <a:avLst/>
          </a:prstGeom>
          <a:noFill/>
          <a:ln/>
        </p:spPr>
        <p:txBody>
          <a:bodyPr wrap="square" lIns="0" tIns="0" rIns="0" bIns="0" rtlCol="0" anchor="ctr"/>
          <a:lstStyle/>
          <a:p>
            <a:pPr indent="0" marL="0">
              <a:buNone/>
            </a:pPr>
            <a:r>
              <a:rPr lang="en-US" sz="1500" b="1" dirty="0">
                <a:solidFill>
                  <a:schemeClr val="tx1"/>
                </a:solidFill>
              </a:rPr>
              <a:t>Giới hạn</a:t>
            </a:r>
            <a:endParaRPr lang="en-US" sz="1500" dirty="0"/>
          </a:p>
        </p:txBody>
      </p:sp>
      <p:sp>
        <p:nvSpPr>
          <p:cNvPr id="35" name="text-272"/>
          <p:cNvSpPr txBox="1"/>
          <p:nvPr/>
        </p:nvSpPr>
        <p:spPr>
          <a:xfrm>
            <a:off x="4892040" y="3703320"/>
            <a:ext cx="3657600" cy="731520"/>
          </a:xfrm>
          <a:prstGeom prst="rect">
            <a:avLst/>
          </a:prstGeom>
          <a:noFill/>
          <a:ln/>
        </p:spPr>
        <p:txBody>
          <a:bodyPr wrap="square" lIns="0" tIns="0" rIns="0" bIns="0" rtlCol="0" anchor="t"/>
          <a:lstStyle/>
          <a:p>
            <a:pPr marL="342900" indent="-342900">
              <a:buSzPct val="100000"/>
              <a:buChar char="•"/>
            </a:pPr>
            <a:r>
              <a:rPr lang="en-US" sz="1300" dirty="0">
                <a:solidFill>
                  <a:schemeClr val="tx1"/>
                </a:solidFill>
              </a:rPr>
              <a:t>Khó phục vụ nhiều nhóm cùng lúc</a:t>
            </a:r>
            <a:endParaRPr lang="en-US" sz="1300" dirty="0"/>
          </a:p>
          <a:p>
            <a:pPr marL="342900" indent="-342900">
              <a:buSzPct val="100000"/>
              <a:buChar char="•"/>
            </a:pPr>
            <a:r>
              <a:rPr lang="en-US" sz="1300" dirty="0">
                <a:solidFill>
                  <a:schemeClr val="tx1"/>
                </a:solidFill>
              </a:rPr>
              <a:t>Giao diện đơn giản, chưa đẹp</a:t>
            </a:r>
            <a:endParaRPr lang="en-US" sz="1300" dirty="0"/>
          </a:p>
          <a:p>
            <a:pPr marL="342900" indent="-342900">
              <a:buSzPct val="100000"/>
              <a:buChar char="•"/>
            </a:pPr>
            <a:r>
              <a:rPr lang="en-US" sz="1300" dirty="0">
                <a:solidFill>
                  <a:schemeClr val="tx1"/>
                </a:solidFill>
              </a:rPr>
              <a:t>Khi đông người dùng cần làm app thật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1"/>
                </a:solidFill>
              </a:rPr>
              <a:t>Lộ trình 12 tuần đến bản dùng thử</a:t>
            </a:r>
            <a:endParaRPr lang="en-US" sz="2600" dirty="0"/>
          </a:p>
        </p:txBody>
      </p:sp>
      <p:sp>
        <p:nvSpPr>
          <p:cNvPr id="3" name="text-273"/>
          <p:cNvSpPr txBox="1"/>
          <p:nvPr/>
        </p:nvSpPr>
        <p:spPr>
          <a:xfrm>
            <a:off x="3108960" y="1024128"/>
            <a:ext cx="464820" cy="228600"/>
          </a:xfrm>
          <a:prstGeom prst="rect">
            <a:avLst/>
          </a:prstGeom>
          <a:noFill/>
          <a:ln/>
        </p:spPr>
        <p:txBody>
          <a:bodyPr wrap="square" lIns="0" tIns="0" rIns="0" bIns="0" rtlCol="0" anchor="t"/>
          <a:lstStyle/>
          <a:p>
            <a:pPr algn="ctr" indent="0" marL="0">
              <a:buNone/>
            </a:pPr>
            <a:r>
              <a:rPr lang="en-US" sz="1000" dirty="0">
                <a:solidFill>
                  <a:schemeClr val="tx2"/>
                </a:solidFill>
              </a:rPr>
              <a:t>T1</a:t>
            </a:r>
            <a:endParaRPr lang="en-US" sz="1000" dirty="0"/>
          </a:p>
        </p:txBody>
      </p:sp>
      <p:sp>
        <p:nvSpPr>
          <p:cNvPr id="4" name="line-274"/>
          <p:cNvSpPr/>
          <p:nvPr/>
        </p:nvSpPr>
        <p:spPr>
          <a:xfrm>
            <a:off x="3108960" y="1325880"/>
            <a:ext cx="0" cy="2816352"/>
          </a:xfrm>
          <a:prstGeom prst="line">
            <a:avLst/>
          </a:prstGeom>
          <a:noFill/>
          <a:ln w="9525">
            <a:solidFill>
              <a:srgbClr val="E1E7F0"/>
            </a:solidFill>
            <a:prstDash val="solid"/>
          </a:ln>
        </p:spPr>
      </p:sp>
      <p:sp>
        <p:nvSpPr>
          <p:cNvPr id="5" name="text-275"/>
          <p:cNvSpPr txBox="1"/>
          <p:nvPr/>
        </p:nvSpPr>
        <p:spPr>
          <a:xfrm>
            <a:off x="3573780" y="1024128"/>
            <a:ext cx="464820" cy="228600"/>
          </a:xfrm>
          <a:prstGeom prst="rect">
            <a:avLst/>
          </a:prstGeom>
          <a:noFill/>
          <a:ln/>
        </p:spPr>
        <p:txBody>
          <a:bodyPr wrap="square" lIns="0" tIns="0" rIns="0" bIns="0" rtlCol="0" anchor="t"/>
          <a:lstStyle/>
          <a:p>
            <a:pPr algn="ctr" indent="0" marL="0">
              <a:buNone/>
            </a:pPr>
            <a:r>
              <a:rPr lang="en-US" sz="1000" dirty="0">
                <a:solidFill>
                  <a:schemeClr val="tx2"/>
                </a:solidFill>
              </a:rPr>
              <a:t>T2</a:t>
            </a:r>
            <a:endParaRPr lang="en-US" sz="1000" dirty="0"/>
          </a:p>
        </p:txBody>
      </p:sp>
      <p:sp>
        <p:nvSpPr>
          <p:cNvPr id="6" name="line-276"/>
          <p:cNvSpPr/>
          <p:nvPr/>
        </p:nvSpPr>
        <p:spPr>
          <a:xfrm>
            <a:off x="3573780" y="1325880"/>
            <a:ext cx="0" cy="2816352"/>
          </a:xfrm>
          <a:prstGeom prst="line">
            <a:avLst/>
          </a:prstGeom>
          <a:noFill/>
          <a:ln w="9525">
            <a:solidFill>
              <a:srgbClr val="E1E7F0"/>
            </a:solidFill>
            <a:prstDash val="solid"/>
          </a:ln>
        </p:spPr>
      </p:sp>
      <p:sp>
        <p:nvSpPr>
          <p:cNvPr id="7" name="text-277"/>
          <p:cNvSpPr txBox="1"/>
          <p:nvPr/>
        </p:nvSpPr>
        <p:spPr>
          <a:xfrm>
            <a:off x="4038600" y="1024128"/>
            <a:ext cx="464820" cy="228600"/>
          </a:xfrm>
          <a:prstGeom prst="rect">
            <a:avLst/>
          </a:prstGeom>
          <a:noFill/>
          <a:ln/>
        </p:spPr>
        <p:txBody>
          <a:bodyPr wrap="square" lIns="0" tIns="0" rIns="0" bIns="0" rtlCol="0" anchor="t"/>
          <a:lstStyle/>
          <a:p>
            <a:pPr algn="ctr" indent="0" marL="0">
              <a:buNone/>
            </a:pPr>
            <a:r>
              <a:rPr lang="en-US" sz="1000" dirty="0">
                <a:solidFill>
                  <a:schemeClr val="tx2"/>
                </a:solidFill>
              </a:rPr>
              <a:t>T3</a:t>
            </a:r>
            <a:endParaRPr lang="en-US" sz="1000" dirty="0"/>
          </a:p>
        </p:txBody>
      </p:sp>
      <p:sp>
        <p:nvSpPr>
          <p:cNvPr id="8" name="line-278"/>
          <p:cNvSpPr/>
          <p:nvPr/>
        </p:nvSpPr>
        <p:spPr>
          <a:xfrm>
            <a:off x="4038600" y="1325880"/>
            <a:ext cx="0" cy="2816352"/>
          </a:xfrm>
          <a:prstGeom prst="line">
            <a:avLst/>
          </a:prstGeom>
          <a:noFill/>
          <a:ln w="9525">
            <a:solidFill>
              <a:srgbClr val="E1E7F0"/>
            </a:solidFill>
            <a:prstDash val="solid"/>
          </a:ln>
        </p:spPr>
      </p:sp>
      <p:sp>
        <p:nvSpPr>
          <p:cNvPr id="9" name="text-279"/>
          <p:cNvSpPr txBox="1"/>
          <p:nvPr/>
        </p:nvSpPr>
        <p:spPr>
          <a:xfrm>
            <a:off x="4503420" y="1024128"/>
            <a:ext cx="464820" cy="228600"/>
          </a:xfrm>
          <a:prstGeom prst="rect">
            <a:avLst/>
          </a:prstGeom>
          <a:noFill/>
          <a:ln/>
        </p:spPr>
        <p:txBody>
          <a:bodyPr wrap="square" lIns="0" tIns="0" rIns="0" bIns="0" rtlCol="0" anchor="t"/>
          <a:lstStyle/>
          <a:p>
            <a:pPr algn="ctr" indent="0" marL="0">
              <a:buNone/>
            </a:pPr>
            <a:r>
              <a:rPr lang="en-US" sz="1000" dirty="0">
                <a:solidFill>
                  <a:schemeClr val="tx2"/>
                </a:solidFill>
              </a:rPr>
              <a:t>T4</a:t>
            </a:r>
            <a:endParaRPr lang="en-US" sz="1000" dirty="0"/>
          </a:p>
        </p:txBody>
      </p:sp>
      <p:sp>
        <p:nvSpPr>
          <p:cNvPr id="10" name="line-280"/>
          <p:cNvSpPr/>
          <p:nvPr/>
        </p:nvSpPr>
        <p:spPr>
          <a:xfrm>
            <a:off x="4503420" y="1325880"/>
            <a:ext cx="0" cy="2816352"/>
          </a:xfrm>
          <a:prstGeom prst="line">
            <a:avLst/>
          </a:prstGeom>
          <a:noFill/>
          <a:ln w="9525">
            <a:solidFill>
              <a:srgbClr val="E1E7F0"/>
            </a:solidFill>
            <a:prstDash val="solid"/>
          </a:ln>
        </p:spPr>
      </p:sp>
      <p:sp>
        <p:nvSpPr>
          <p:cNvPr id="11" name="text-281"/>
          <p:cNvSpPr txBox="1"/>
          <p:nvPr/>
        </p:nvSpPr>
        <p:spPr>
          <a:xfrm>
            <a:off x="4968240" y="1024128"/>
            <a:ext cx="464820" cy="228600"/>
          </a:xfrm>
          <a:prstGeom prst="rect">
            <a:avLst/>
          </a:prstGeom>
          <a:noFill/>
          <a:ln/>
        </p:spPr>
        <p:txBody>
          <a:bodyPr wrap="square" lIns="0" tIns="0" rIns="0" bIns="0" rtlCol="0" anchor="t"/>
          <a:lstStyle/>
          <a:p>
            <a:pPr algn="ctr" indent="0" marL="0">
              <a:buNone/>
            </a:pPr>
            <a:r>
              <a:rPr lang="en-US" sz="1000" dirty="0">
                <a:solidFill>
                  <a:schemeClr val="tx2"/>
                </a:solidFill>
              </a:rPr>
              <a:t>T5</a:t>
            </a:r>
            <a:endParaRPr lang="en-US" sz="1000" dirty="0"/>
          </a:p>
        </p:txBody>
      </p:sp>
      <p:sp>
        <p:nvSpPr>
          <p:cNvPr id="12" name="line-282"/>
          <p:cNvSpPr/>
          <p:nvPr/>
        </p:nvSpPr>
        <p:spPr>
          <a:xfrm>
            <a:off x="4968240" y="1325880"/>
            <a:ext cx="0" cy="2816352"/>
          </a:xfrm>
          <a:prstGeom prst="line">
            <a:avLst/>
          </a:prstGeom>
          <a:noFill/>
          <a:ln w="9525">
            <a:solidFill>
              <a:srgbClr val="E1E7F0"/>
            </a:solidFill>
            <a:prstDash val="solid"/>
          </a:ln>
        </p:spPr>
      </p:sp>
      <p:sp>
        <p:nvSpPr>
          <p:cNvPr id="13" name="text-283"/>
          <p:cNvSpPr txBox="1"/>
          <p:nvPr/>
        </p:nvSpPr>
        <p:spPr>
          <a:xfrm>
            <a:off x="5433060" y="1024128"/>
            <a:ext cx="464820" cy="228600"/>
          </a:xfrm>
          <a:prstGeom prst="rect">
            <a:avLst/>
          </a:prstGeom>
          <a:noFill/>
          <a:ln/>
        </p:spPr>
        <p:txBody>
          <a:bodyPr wrap="square" lIns="0" tIns="0" rIns="0" bIns="0" rtlCol="0" anchor="t"/>
          <a:lstStyle/>
          <a:p>
            <a:pPr algn="ctr" indent="0" marL="0">
              <a:buNone/>
            </a:pPr>
            <a:r>
              <a:rPr lang="en-US" sz="1000" dirty="0">
                <a:solidFill>
                  <a:schemeClr val="tx2"/>
                </a:solidFill>
              </a:rPr>
              <a:t>T6</a:t>
            </a:r>
            <a:endParaRPr lang="en-US" sz="1000" dirty="0"/>
          </a:p>
        </p:txBody>
      </p:sp>
      <p:sp>
        <p:nvSpPr>
          <p:cNvPr id="14" name="line-284"/>
          <p:cNvSpPr/>
          <p:nvPr/>
        </p:nvSpPr>
        <p:spPr>
          <a:xfrm>
            <a:off x="5433060" y="1325880"/>
            <a:ext cx="0" cy="2816352"/>
          </a:xfrm>
          <a:prstGeom prst="line">
            <a:avLst/>
          </a:prstGeom>
          <a:noFill/>
          <a:ln w="9525">
            <a:solidFill>
              <a:srgbClr val="E1E7F0"/>
            </a:solidFill>
            <a:prstDash val="solid"/>
          </a:ln>
        </p:spPr>
      </p:sp>
      <p:sp>
        <p:nvSpPr>
          <p:cNvPr id="15" name="text-285"/>
          <p:cNvSpPr txBox="1"/>
          <p:nvPr/>
        </p:nvSpPr>
        <p:spPr>
          <a:xfrm>
            <a:off x="5897880" y="1024128"/>
            <a:ext cx="464820" cy="228600"/>
          </a:xfrm>
          <a:prstGeom prst="rect">
            <a:avLst/>
          </a:prstGeom>
          <a:noFill/>
          <a:ln/>
        </p:spPr>
        <p:txBody>
          <a:bodyPr wrap="square" lIns="0" tIns="0" rIns="0" bIns="0" rtlCol="0" anchor="t"/>
          <a:lstStyle/>
          <a:p>
            <a:pPr algn="ctr" indent="0" marL="0">
              <a:buNone/>
            </a:pPr>
            <a:r>
              <a:rPr lang="en-US" sz="1000" dirty="0">
                <a:solidFill>
                  <a:schemeClr val="tx2"/>
                </a:solidFill>
              </a:rPr>
              <a:t>T7</a:t>
            </a:r>
            <a:endParaRPr lang="en-US" sz="1000" dirty="0"/>
          </a:p>
        </p:txBody>
      </p:sp>
      <p:sp>
        <p:nvSpPr>
          <p:cNvPr id="16" name="line-286"/>
          <p:cNvSpPr/>
          <p:nvPr/>
        </p:nvSpPr>
        <p:spPr>
          <a:xfrm>
            <a:off x="5897880" y="1325880"/>
            <a:ext cx="0" cy="2816352"/>
          </a:xfrm>
          <a:prstGeom prst="line">
            <a:avLst/>
          </a:prstGeom>
          <a:noFill/>
          <a:ln w="9525">
            <a:solidFill>
              <a:srgbClr val="E1E7F0"/>
            </a:solidFill>
            <a:prstDash val="solid"/>
          </a:ln>
        </p:spPr>
      </p:sp>
      <p:sp>
        <p:nvSpPr>
          <p:cNvPr id="17" name="text-287"/>
          <p:cNvSpPr txBox="1"/>
          <p:nvPr/>
        </p:nvSpPr>
        <p:spPr>
          <a:xfrm>
            <a:off x="6362700" y="1024128"/>
            <a:ext cx="464820" cy="228600"/>
          </a:xfrm>
          <a:prstGeom prst="rect">
            <a:avLst/>
          </a:prstGeom>
          <a:noFill/>
          <a:ln/>
        </p:spPr>
        <p:txBody>
          <a:bodyPr wrap="square" lIns="0" tIns="0" rIns="0" bIns="0" rtlCol="0" anchor="t"/>
          <a:lstStyle/>
          <a:p>
            <a:pPr algn="ctr" indent="0" marL="0">
              <a:buNone/>
            </a:pPr>
            <a:r>
              <a:rPr lang="en-US" sz="1000" dirty="0">
                <a:solidFill>
                  <a:schemeClr val="tx2"/>
                </a:solidFill>
              </a:rPr>
              <a:t>T8</a:t>
            </a:r>
            <a:endParaRPr lang="en-US" sz="1000" dirty="0"/>
          </a:p>
        </p:txBody>
      </p:sp>
      <p:sp>
        <p:nvSpPr>
          <p:cNvPr id="18" name="line-288"/>
          <p:cNvSpPr/>
          <p:nvPr/>
        </p:nvSpPr>
        <p:spPr>
          <a:xfrm>
            <a:off x="6362700" y="1325880"/>
            <a:ext cx="0" cy="2816352"/>
          </a:xfrm>
          <a:prstGeom prst="line">
            <a:avLst/>
          </a:prstGeom>
          <a:noFill/>
          <a:ln w="9525">
            <a:solidFill>
              <a:srgbClr val="E1E7F0"/>
            </a:solidFill>
            <a:prstDash val="solid"/>
          </a:ln>
        </p:spPr>
      </p:sp>
      <p:sp>
        <p:nvSpPr>
          <p:cNvPr id="19" name="text-289"/>
          <p:cNvSpPr txBox="1"/>
          <p:nvPr/>
        </p:nvSpPr>
        <p:spPr>
          <a:xfrm>
            <a:off x="6827520" y="1024128"/>
            <a:ext cx="464820" cy="228600"/>
          </a:xfrm>
          <a:prstGeom prst="rect">
            <a:avLst/>
          </a:prstGeom>
          <a:noFill/>
          <a:ln/>
        </p:spPr>
        <p:txBody>
          <a:bodyPr wrap="square" lIns="0" tIns="0" rIns="0" bIns="0" rtlCol="0" anchor="t"/>
          <a:lstStyle/>
          <a:p>
            <a:pPr algn="ctr" indent="0" marL="0">
              <a:buNone/>
            </a:pPr>
            <a:r>
              <a:rPr lang="en-US" sz="1000" dirty="0">
                <a:solidFill>
                  <a:schemeClr val="tx2"/>
                </a:solidFill>
              </a:rPr>
              <a:t>T9</a:t>
            </a:r>
            <a:endParaRPr lang="en-US" sz="1000" dirty="0"/>
          </a:p>
        </p:txBody>
      </p:sp>
      <p:sp>
        <p:nvSpPr>
          <p:cNvPr id="20" name="line-290"/>
          <p:cNvSpPr/>
          <p:nvPr/>
        </p:nvSpPr>
        <p:spPr>
          <a:xfrm>
            <a:off x="6827520" y="1325880"/>
            <a:ext cx="0" cy="2816352"/>
          </a:xfrm>
          <a:prstGeom prst="line">
            <a:avLst/>
          </a:prstGeom>
          <a:noFill/>
          <a:ln w="9525">
            <a:solidFill>
              <a:srgbClr val="E1E7F0"/>
            </a:solidFill>
            <a:prstDash val="solid"/>
          </a:ln>
        </p:spPr>
      </p:sp>
      <p:sp>
        <p:nvSpPr>
          <p:cNvPr id="21" name="text-291"/>
          <p:cNvSpPr txBox="1"/>
          <p:nvPr/>
        </p:nvSpPr>
        <p:spPr>
          <a:xfrm>
            <a:off x="7292340" y="1024128"/>
            <a:ext cx="464820" cy="228600"/>
          </a:xfrm>
          <a:prstGeom prst="rect">
            <a:avLst/>
          </a:prstGeom>
          <a:noFill/>
          <a:ln/>
        </p:spPr>
        <p:txBody>
          <a:bodyPr wrap="square" lIns="0" tIns="0" rIns="0" bIns="0" rtlCol="0" anchor="t"/>
          <a:lstStyle/>
          <a:p>
            <a:pPr algn="ctr" indent="0" marL="0">
              <a:buNone/>
            </a:pPr>
            <a:r>
              <a:rPr lang="en-US" sz="1000" dirty="0">
                <a:solidFill>
                  <a:schemeClr val="tx2"/>
                </a:solidFill>
              </a:rPr>
              <a:t>T10</a:t>
            </a:r>
            <a:endParaRPr lang="en-US" sz="1000" dirty="0"/>
          </a:p>
        </p:txBody>
      </p:sp>
      <p:sp>
        <p:nvSpPr>
          <p:cNvPr id="22" name="line-292"/>
          <p:cNvSpPr/>
          <p:nvPr/>
        </p:nvSpPr>
        <p:spPr>
          <a:xfrm>
            <a:off x="7292340" y="1325880"/>
            <a:ext cx="0" cy="2816352"/>
          </a:xfrm>
          <a:prstGeom prst="line">
            <a:avLst/>
          </a:prstGeom>
          <a:noFill/>
          <a:ln w="9525">
            <a:solidFill>
              <a:srgbClr val="E1E7F0"/>
            </a:solidFill>
            <a:prstDash val="solid"/>
          </a:ln>
        </p:spPr>
      </p:sp>
      <p:sp>
        <p:nvSpPr>
          <p:cNvPr id="23" name="text-293"/>
          <p:cNvSpPr txBox="1"/>
          <p:nvPr/>
        </p:nvSpPr>
        <p:spPr>
          <a:xfrm>
            <a:off x="7757160" y="1024128"/>
            <a:ext cx="464820" cy="228600"/>
          </a:xfrm>
          <a:prstGeom prst="rect">
            <a:avLst/>
          </a:prstGeom>
          <a:noFill/>
          <a:ln/>
        </p:spPr>
        <p:txBody>
          <a:bodyPr wrap="square" lIns="0" tIns="0" rIns="0" bIns="0" rtlCol="0" anchor="t"/>
          <a:lstStyle/>
          <a:p>
            <a:pPr algn="ctr" indent="0" marL="0">
              <a:buNone/>
            </a:pPr>
            <a:r>
              <a:rPr lang="en-US" sz="1000" dirty="0">
                <a:solidFill>
                  <a:schemeClr val="tx2"/>
                </a:solidFill>
              </a:rPr>
              <a:t>T11</a:t>
            </a:r>
            <a:endParaRPr lang="en-US" sz="1000" dirty="0"/>
          </a:p>
        </p:txBody>
      </p:sp>
      <p:sp>
        <p:nvSpPr>
          <p:cNvPr id="24" name="line-294"/>
          <p:cNvSpPr/>
          <p:nvPr/>
        </p:nvSpPr>
        <p:spPr>
          <a:xfrm>
            <a:off x="7757160" y="1325880"/>
            <a:ext cx="0" cy="2816352"/>
          </a:xfrm>
          <a:prstGeom prst="line">
            <a:avLst/>
          </a:prstGeom>
          <a:noFill/>
          <a:ln w="9525">
            <a:solidFill>
              <a:srgbClr val="E1E7F0"/>
            </a:solidFill>
            <a:prstDash val="solid"/>
          </a:ln>
        </p:spPr>
      </p:sp>
      <p:sp>
        <p:nvSpPr>
          <p:cNvPr id="25" name="text-295"/>
          <p:cNvSpPr txBox="1"/>
          <p:nvPr/>
        </p:nvSpPr>
        <p:spPr>
          <a:xfrm>
            <a:off x="8221980" y="1024128"/>
            <a:ext cx="464820" cy="228600"/>
          </a:xfrm>
          <a:prstGeom prst="rect">
            <a:avLst/>
          </a:prstGeom>
          <a:noFill/>
          <a:ln/>
        </p:spPr>
        <p:txBody>
          <a:bodyPr wrap="square" lIns="0" tIns="0" rIns="0" bIns="0" rtlCol="0" anchor="t"/>
          <a:lstStyle/>
          <a:p>
            <a:pPr algn="ctr" indent="0" marL="0">
              <a:buNone/>
            </a:pPr>
            <a:r>
              <a:rPr lang="en-US" sz="1000" dirty="0">
                <a:solidFill>
                  <a:schemeClr val="tx2"/>
                </a:solidFill>
              </a:rPr>
              <a:t>T12</a:t>
            </a:r>
            <a:endParaRPr lang="en-US" sz="1000" dirty="0"/>
          </a:p>
        </p:txBody>
      </p:sp>
      <p:sp>
        <p:nvSpPr>
          <p:cNvPr id="26" name="line-296"/>
          <p:cNvSpPr/>
          <p:nvPr/>
        </p:nvSpPr>
        <p:spPr>
          <a:xfrm>
            <a:off x="8221980" y="1325880"/>
            <a:ext cx="0" cy="2816352"/>
          </a:xfrm>
          <a:prstGeom prst="line">
            <a:avLst/>
          </a:prstGeom>
          <a:noFill/>
          <a:ln w="9525">
            <a:solidFill>
              <a:srgbClr val="E1E7F0"/>
            </a:solidFill>
            <a:prstDash val="solid"/>
          </a:ln>
        </p:spPr>
      </p:sp>
      <p:sp>
        <p:nvSpPr>
          <p:cNvPr id="27" name="line-297"/>
          <p:cNvSpPr/>
          <p:nvPr/>
        </p:nvSpPr>
        <p:spPr>
          <a:xfrm>
            <a:off x="8686800" y="1325880"/>
            <a:ext cx="0" cy="2816352"/>
          </a:xfrm>
          <a:prstGeom prst="line">
            <a:avLst/>
          </a:prstGeom>
          <a:noFill/>
          <a:ln w="9525">
            <a:solidFill>
              <a:srgbClr val="E1E7F0"/>
            </a:solidFill>
            <a:prstDash val="solid"/>
          </a:ln>
        </p:spPr>
      </p:sp>
      <p:sp>
        <p:nvSpPr>
          <p:cNvPr id="28" name="text-298"/>
          <p:cNvSpPr txBox="1"/>
          <p:nvPr/>
        </p:nvSpPr>
        <p:spPr>
          <a:xfrm>
            <a:off x="457200" y="1325880"/>
            <a:ext cx="2560320" cy="402336"/>
          </a:xfrm>
          <a:prstGeom prst="rect">
            <a:avLst/>
          </a:prstGeom>
          <a:noFill/>
          <a:ln/>
        </p:spPr>
        <p:txBody>
          <a:bodyPr wrap="square" lIns="0" tIns="0" rIns="0" bIns="0" rtlCol="0" anchor="ctr"/>
          <a:lstStyle/>
          <a:p>
            <a:pPr indent="0" marL="0">
              <a:buNone/>
            </a:pPr>
            <a:r>
              <a:rPr lang="en-US" sz="1300" dirty="0">
                <a:solidFill>
                  <a:schemeClr val="tx1"/>
                </a:solidFill>
              </a:rPr>
              <a:t>Khảo sát, thu tin mẫu</a:t>
            </a:r>
            <a:endParaRPr lang="en-US" sz="1300" dirty="0"/>
          </a:p>
        </p:txBody>
      </p:sp>
      <p:sp>
        <p:nvSpPr>
          <p:cNvPr id="29" name="bar-299"/>
          <p:cNvSpPr/>
          <p:nvPr/>
        </p:nvSpPr>
        <p:spPr>
          <a:xfrm>
            <a:off x="3145536" y="1399032"/>
            <a:ext cx="391668" cy="256032"/>
          </a:xfrm>
          <a:prstGeom prst="roundRect">
            <a:avLst>
              <a:gd name="adj" fmla="val 35714"/>
            </a:avLst>
          </a:prstGeom>
          <a:solidFill>
            <a:schemeClr val="tx2"/>
          </a:solidFill>
          <a:ln/>
        </p:spPr>
      </p:sp>
      <p:sp>
        <p:nvSpPr>
          <p:cNvPr id="30" name="text-300"/>
          <p:cNvSpPr txBox="1"/>
          <p:nvPr/>
        </p:nvSpPr>
        <p:spPr>
          <a:xfrm>
            <a:off x="457200" y="1728216"/>
            <a:ext cx="2560320" cy="402336"/>
          </a:xfrm>
          <a:prstGeom prst="rect">
            <a:avLst/>
          </a:prstGeom>
          <a:noFill/>
          <a:ln/>
        </p:spPr>
        <p:txBody>
          <a:bodyPr wrap="square" lIns="0" tIns="0" rIns="0" bIns="0" rtlCol="0" anchor="ctr"/>
          <a:lstStyle/>
          <a:p>
            <a:pPr indent="0" marL="0">
              <a:buNone/>
            </a:pPr>
            <a:r>
              <a:rPr lang="en-US" sz="1300" dirty="0">
                <a:solidFill>
                  <a:schemeClr val="tx1"/>
                </a:solidFill>
              </a:rPr>
              <a:t>Dựng nền tảng, nối bot</a:t>
            </a:r>
            <a:endParaRPr lang="en-US" sz="1300" dirty="0"/>
          </a:p>
        </p:txBody>
      </p:sp>
      <p:sp>
        <p:nvSpPr>
          <p:cNvPr id="31" name="bar-301"/>
          <p:cNvSpPr/>
          <p:nvPr/>
        </p:nvSpPr>
        <p:spPr>
          <a:xfrm>
            <a:off x="3610356" y="1801368"/>
            <a:ext cx="856488" cy="256032"/>
          </a:xfrm>
          <a:prstGeom prst="roundRect">
            <a:avLst>
              <a:gd name="adj" fmla="val 35714"/>
            </a:avLst>
          </a:prstGeom>
          <a:solidFill>
            <a:schemeClr val="accent1"/>
          </a:solidFill>
          <a:ln/>
        </p:spPr>
      </p:sp>
      <p:sp>
        <p:nvSpPr>
          <p:cNvPr id="32" name="text-302"/>
          <p:cNvSpPr txBox="1"/>
          <p:nvPr/>
        </p:nvSpPr>
        <p:spPr>
          <a:xfrm>
            <a:off x="457200" y="2130552"/>
            <a:ext cx="2560320" cy="402336"/>
          </a:xfrm>
          <a:prstGeom prst="rect">
            <a:avLst/>
          </a:prstGeom>
          <a:noFill/>
          <a:ln/>
        </p:spPr>
        <p:txBody>
          <a:bodyPr wrap="square" lIns="0" tIns="0" rIns="0" bIns="0" rtlCol="0" anchor="ctr"/>
          <a:lstStyle/>
          <a:p>
            <a:pPr indent="0" marL="0">
              <a:buNone/>
            </a:pPr>
            <a:r>
              <a:rPr lang="en-US" sz="1300" dirty="0">
                <a:solidFill>
                  <a:schemeClr val="tx1"/>
                </a:solidFill>
              </a:rPr>
              <a:t>AI đọc tin nhắn</a:t>
            </a:r>
            <a:endParaRPr lang="en-US" sz="1300" dirty="0"/>
          </a:p>
        </p:txBody>
      </p:sp>
      <p:sp>
        <p:nvSpPr>
          <p:cNvPr id="33" name="bar-303"/>
          <p:cNvSpPr/>
          <p:nvPr/>
        </p:nvSpPr>
        <p:spPr>
          <a:xfrm>
            <a:off x="4539996" y="2203704"/>
            <a:ext cx="856488" cy="256032"/>
          </a:xfrm>
          <a:prstGeom prst="roundRect">
            <a:avLst>
              <a:gd name="adj" fmla="val 35714"/>
            </a:avLst>
          </a:prstGeom>
          <a:solidFill>
            <a:schemeClr val="accent5"/>
          </a:solidFill>
          <a:ln/>
        </p:spPr>
      </p:sp>
      <p:sp>
        <p:nvSpPr>
          <p:cNvPr id="34" name="text-304"/>
          <p:cNvSpPr txBox="1"/>
          <p:nvPr/>
        </p:nvSpPr>
        <p:spPr>
          <a:xfrm>
            <a:off x="457200" y="2532888"/>
            <a:ext cx="2560320" cy="402336"/>
          </a:xfrm>
          <a:prstGeom prst="rect">
            <a:avLst/>
          </a:prstGeom>
          <a:noFill/>
          <a:ln/>
        </p:spPr>
        <p:txBody>
          <a:bodyPr wrap="square" lIns="0" tIns="0" rIns="0" bIns="0" rtlCol="0" anchor="ctr"/>
          <a:lstStyle/>
          <a:p>
            <a:pPr indent="0" marL="0">
              <a:buNone/>
            </a:pPr>
            <a:r>
              <a:rPr lang="en-US" sz="1300" dirty="0">
                <a:solidFill>
                  <a:schemeClr val="tx1"/>
                </a:solidFill>
              </a:rPr>
              <a:t>Thẻ việc, xác nhận</a:t>
            </a:r>
            <a:endParaRPr lang="en-US" sz="1300" dirty="0"/>
          </a:p>
        </p:txBody>
      </p:sp>
      <p:sp>
        <p:nvSpPr>
          <p:cNvPr id="35" name="bar-305"/>
          <p:cNvSpPr/>
          <p:nvPr/>
        </p:nvSpPr>
        <p:spPr>
          <a:xfrm>
            <a:off x="5469636" y="2606040"/>
            <a:ext cx="856488" cy="256032"/>
          </a:xfrm>
          <a:prstGeom prst="roundRect">
            <a:avLst>
              <a:gd name="adj" fmla="val 35714"/>
            </a:avLst>
          </a:prstGeom>
          <a:solidFill>
            <a:schemeClr val="accent1"/>
          </a:solidFill>
          <a:ln/>
        </p:spPr>
      </p:sp>
      <p:sp>
        <p:nvSpPr>
          <p:cNvPr id="36" name="text-306"/>
          <p:cNvSpPr txBox="1"/>
          <p:nvPr/>
        </p:nvSpPr>
        <p:spPr>
          <a:xfrm>
            <a:off x="457200" y="2935224"/>
            <a:ext cx="2560320" cy="402336"/>
          </a:xfrm>
          <a:prstGeom prst="rect">
            <a:avLst/>
          </a:prstGeom>
          <a:noFill/>
          <a:ln/>
        </p:spPr>
        <p:txBody>
          <a:bodyPr wrap="square" lIns="0" tIns="0" rIns="0" bIns="0" rtlCol="0" anchor="ctr"/>
          <a:lstStyle/>
          <a:p>
            <a:pPr indent="0" marL="0">
              <a:buNone/>
            </a:pPr>
            <a:r>
              <a:rPr lang="en-US" sz="1300" dirty="0">
                <a:solidFill>
                  <a:schemeClr val="tx1"/>
                </a:solidFill>
              </a:rPr>
              <a:t>Nhắc việc, bảng theo dõi</a:t>
            </a:r>
            <a:endParaRPr lang="en-US" sz="1300" dirty="0"/>
          </a:p>
        </p:txBody>
      </p:sp>
      <p:sp>
        <p:nvSpPr>
          <p:cNvPr id="37" name="bar-307"/>
          <p:cNvSpPr/>
          <p:nvPr/>
        </p:nvSpPr>
        <p:spPr>
          <a:xfrm>
            <a:off x="6399276" y="3008376"/>
            <a:ext cx="856488" cy="256032"/>
          </a:xfrm>
          <a:prstGeom prst="roundRect">
            <a:avLst>
              <a:gd name="adj" fmla="val 35714"/>
            </a:avLst>
          </a:prstGeom>
          <a:solidFill>
            <a:schemeClr val="accent2"/>
          </a:solidFill>
          <a:ln/>
        </p:spPr>
      </p:sp>
      <p:sp>
        <p:nvSpPr>
          <p:cNvPr id="38" name="text-308"/>
          <p:cNvSpPr txBox="1"/>
          <p:nvPr/>
        </p:nvSpPr>
        <p:spPr>
          <a:xfrm>
            <a:off x="457200" y="3337560"/>
            <a:ext cx="2560320" cy="402336"/>
          </a:xfrm>
          <a:prstGeom prst="rect">
            <a:avLst/>
          </a:prstGeom>
          <a:noFill/>
          <a:ln/>
        </p:spPr>
        <p:txBody>
          <a:bodyPr wrap="square" lIns="0" tIns="0" rIns="0" bIns="0" rtlCol="0" anchor="ctr"/>
          <a:lstStyle/>
          <a:p>
            <a:pPr indent="0" marL="0">
              <a:buNone/>
            </a:pPr>
            <a:r>
              <a:rPr lang="en-US" sz="1300" dirty="0">
                <a:solidFill>
                  <a:schemeClr val="tx1"/>
                </a:solidFill>
              </a:rPr>
              <a:t>Dán chữ, đọc ảnh</a:t>
            </a:r>
            <a:endParaRPr lang="en-US" sz="1300" dirty="0"/>
          </a:p>
        </p:txBody>
      </p:sp>
      <p:sp>
        <p:nvSpPr>
          <p:cNvPr id="39" name="bar-309"/>
          <p:cNvSpPr/>
          <p:nvPr/>
        </p:nvSpPr>
        <p:spPr>
          <a:xfrm>
            <a:off x="7328916" y="3410712"/>
            <a:ext cx="391668" cy="256032"/>
          </a:xfrm>
          <a:prstGeom prst="roundRect">
            <a:avLst>
              <a:gd name="adj" fmla="val 35714"/>
            </a:avLst>
          </a:prstGeom>
          <a:solidFill>
            <a:schemeClr val="accent5"/>
          </a:solidFill>
          <a:ln/>
        </p:spPr>
      </p:sp>
      <p:sp>
        <p:nvSpPr>
          <p:cNvPr id="40" name="text-310"/>
          <p:cNvSpPr txBox="1"/>
          <p:nvPr/>
        </p:nvSpPr>
        <p:spPr>
          <a:xfrm>
            <a:off x="457200" y="3739896"/>
            <a:ext cx="2560320" cy="402336"/>
          </a:xfrm>
          <a:prstGeom prst="rect">
            <a:avLst/>
          </a:prstGeom>
          <a:noFill/>
          <a:ln/>
        </p:spPr>
        <p:txBody>
          <a:bodyPr wrap="square" lIns="0" tIns="0" rIns="0" bIns="0" rtlCol="0" anchor="ctr"/>
          <a:lstStyle/>
          <a:p>
            <a:pPr indent="0" marL="0">
              <a:buNone/>
            </a:pPr>
            <a:r>
              <a:rPr lang="en-US" sz="1300" dirty="0">
                <a:solidFill>
                  <a:schemeClr val="tx1"/>
                </a:solidFill>
              </a:rPr>
              <a:t>Dùng thử với 3–5 nhóm</a:t>
            </a:r>
            <a:endParaRPr lang="en-US" sz="1300" dirty="0"/>
          </a:p>
        </p:txBody>
      </p:sp>
      <p:sp>
        <p:nvSpPr>
          <p:cNvPr id="41" name="bar-311"/>
          <p:cNvSpPr/>
          <p:nvPr/>
        </p:nvSpPr>
        <p:spPr>
          <a:xfrm>
            <a:off x="7793736" y="3813048"/>
            <a:ext cx="856488" cy="256032"/>
          </a:xfrm>
          <a:prstGeom prst="roundRect">
            <a:avLst>
              <a:gd name="adj" fmla="val 35714"/>
            </a:avLst>
          </a:prstGeom>
          <a:solidFill>
            <a:schemeClr val="accent3"/>
          </a:solidFill>
          <a:ln/>
        </p:spPr>
      </p:sp>
      <p:sp>
        <p:nvSpPr>
          <p:cNvPr id="42" name="text-312"/>
          <p:cNvSpPr txBox="1"/>
          <p:nvPr/>
        </p:nvSpPr>
        <p:spPr>
          <a:xfrm>
            <a:off x="457200" y="4297680"/>
            <a:ext cx="8229600" cy="320040"/>
          </a:xfrm>
          <a:prstGeom prst="rect">
            <a:avLst/>
          </a:prstGeom>
          <a:noFill/>
          <a:ln/>
        </p:spPr>
        <p:txBody>
          <a:bodyPr wrap="square" lIns="0" tIns="0" rIns="0" bIns="0" rtlCol="0" anchor="t"/>
          <a:lstStyle/>
          <a:p>
            <a:pPr indent="0" marL="0">
              <a:buNone/>
            </a:pPr>
            <a:r>
              <a:rPr lang="en-US" sz="1200" i="1" dirty="0">
                <a:solidFill>
                  <a:schemeClr val="tx2"/>
                </a:solidFill>
              </a:rPr>
              <a:t>Sau đó, tháng 4–6: Giai đoạn 2 (Zalo OA, Mini App, lịch). Nếu đi đường no-code, có bản thử chỉ sau 1–2 tuần.</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1"/>
                </a:solidFill>
              </a:rPr>
              <a:t>Cần bao nhiêu người và bao nhiêu tiền?</a:t>
            </a:r>
            <a:endParaRPr lang="en-US" sz="2600" dirty="0"/>
          </a:p>
        </p:txBody>
      </p:sp>
      <p:sp>
        <p:nvSpPr>
          <p:cNvPr id="3" name="card-313"/>
          <p:cNvSpPr/>
          <p:nvPr/>
        </p:nvSpPr>
        <p:spPr>
          <a:xfrm>
            <a:off x="457200" y="1097280"/>
            <a:ext cx="2615184" cy="1691640"/>
          </a:xfrm>
          <a:prstGeom prst="roundRect">
            <a:avLst>
              <a:gd name="adj" fmla="val 6486"/>
            </a:avLst>
          </a:prstGeom>
          <a:solidFill>
            <a:schemeClr val="bg1"/>
          </a:solidFill>
          <a:ln/>
          <a:effectLst>
            <a:outerShdw sx="100000" sy="100000" kx="0" ky="0" algn="bl" rotWithShape="0" blurRad="101600" dist="25400" dir="5400000">
              <a:srgbClr val="0B1F4B">
                <a:alpha val="12000"/>
              </a:srgbClr>
            </a:outerShdw>
          </a:effectLst>
        </p:spPr>
      </p:sp>
      <p:sp>
        <p:nvSpPr>
          <p:cNvPr id="4" name="text-314"/>
          <p:cNvSpPr txBox="1"/>
          <p:nvPr/>
        </p:nvSpPr>
        <p:spPr>
          <a:xfrm>
            <a:off x="685800" y="1234440"/>
            <a:ext cx="2194560" cy="731520"/>
          </a:xfrm>
          <a:prstGeom prst="rect">
            <a:avLst/>
          </a:prstGeom>
          <a:noFill/>
          <a:ln/>
        </p:spPr>
        <p:txBody>
          <a:bodyPr wrap="square" lIns="0" tIns="0" rIns="0" bIns="0" rtlCol="0" anchor="ctr"/>
          <a:lstStyle/>
          <a:p>
            <a:pPr indent="0" marL="0">
              <a:buNone/>
            </a:pPr>
            <a:r>
              <a:rPr lang="en-US" sz="3200" b="1" dirty="0">
                <a:solidFill>
                  <a:schemeClr val="accent1"/>
                </a:solidFill>
              </a:rPr>
              <a:t>12 tuần</a:t>
            </a:r>
            <a:endParaRPr lang="en-US" sz="3200" dirty="0"/>
          </a:p>
        </p:txBody>
      </p:sp>
      <p:sp>
        <p:nvSpPr>
          <p:cNvPr id="5" name="text-315"/>
          <p:cNvSpPr txBox="1"/>
          <p:nvPr/>
        </p:nvSpPr>
        <p:spPr>
          <a:xfrm>
            <a:off x="685800" y="2011680"/>
            <a:ext cx="2194560" cy="640080"/>
          </a:xfrm>
          <a:prstGeom prst="rect">
            <a:avLst/>
          </a:prstGeom>
          <a:noFill/>
          <a:ln/>
        </p:spPr>
        <p:txBody>
          <a:bodyPr wrap="square" lIns="0" tIns="0" rIns="0" bIns="0" rtlCol="0" anchor="t"/>
          <a:lstStyle/>
          <a:p>
            <a:pPr indent="0" marL="0">
              <a:buNone/>
            </a:pPr>
            <a:r>
              <a:rPr lang="en-US" sz="1400" dirty="0">
                <a:solidFill>
                  <a:schemeClr val="tx2"/>
                </a:solidFill>
              </a:rPr>
              <a:t>đến bản dùng thử với khách thật</a:t>
            </a:r>
            <a:endParaRPr lang="en-US" sz="1400" dirty="0"/>
          </a:p>
        </p:txBody>
      </p:sp>
      <p:sp>
        <p:nvSpPr>
          <p:cNvPr id="6" name="card-316"/>
          <p:cNvSpPr/>
          <p:nvPr/>
        </p:nvSpPr>
        <p:spPr>
          <a:xfrm>
            <a:off x="3264408" y="1097280"/>
            <a:ext cx="2615184" cy="1691640"/>
          </a:xfrm>
          <a:prstGeom prst="roundRect">
            <a:avLst>
              <a:gd name="adj" fmla="val 6486"/>
            </a:avLst>
          </a:prstGeom>
          <a:solidFill>
            <a:schemeClr val="bg1"/>
          </a:solidFill>
          <a:ln/>
          <a:effectLst>
            <a:outerShdw sx="100000" sy="100000" kx="0" ky="0" algn="bl" rotWithShape="0" blurRad="101600" dist="25400" dir="5400000">
              <a:srgbClr val="0B1F4B">
                <a:alpha val="12000"/>
              </a:srgbClr>
            </a:outerShdw>
          </a:effectLst>
        </p:spPr>
      </p:sp>
      <p:sp>
        <p:nvSpPr>
          <p:cNvPr id="7" name="text-317"/>
          <p:cNvSpPr txBox="1"/>
          <p:nvPr/>
        </p:nvSpPr>
        <p:spPr>
          <a:xfrm>
            <a:off x="3493008" y="1234440"/>
            <a:ext cx="2194560" cy="731520"/>
          </a:xfrm>
          <a:prstGeom prst="rect">
            <a:avLst/>
          </a:prstGeom>
          <a:noFill/>
          <a:ln/>
        </p:spPr>
        <p:txBody>
          <a:bodyPr wrap="square" lIns="0" tIns="0" rIns="0" bIns="0" rtlCol="0" anchor="ctr"/>
          <a:lstStyle/>
          <a:p>
            <a:pPr indent="0" marL="0">
              <a:buNone/>
            </a:pPr>
            <a:r>
              <a:rPr lang="en-US" sz="3200" b="1" dirty="0">
                <a:solidFill>
                  <a:schemeClr val="accent5"/>
                </a:solidFill>
              </a:rPr>
              <a:t>2–3 người</a:t>
            </a:r>
            <a:endParaRPr lang="en-US" sz="3200" dirty="0"/>
          </a:p>
        </p:txBody>
      </p:sp>
      <p:sp>
        <p:nvSpPr>
          <p:cNvPr id="8" name="text-318"/>
          <p:cNvSpPr txBox="1"/>
          <p:nvPr/>
        </p:nvSpPr>
        <p:spPr>
          <a:xfrm>
            <a:off x="3493008" y="2011680"/>
            <a:ext cx="2194560" cy="640080"/>
          </a:xfrm>
          <a:prstGeom prst="rect">
            <a:avLst/>
          </a:prstGeom>
          <a:noFill/>
          <a:ln/>
        </p:spPr>
        <p:txBody>
          <a:bodyPr wrap="square" lIns="0" tIns="0" rIns="0" bIns="0" rtlCol="0" anchor="t"/>
          <a:lstStyle/>
          <a:p>
            <a:pPr indent="0" marL="0">
              <a:buNone/>
            </a:pPr>
            <a:r>
              <a:rPr lang="en-US" sz="1400" dirty="0">
                <a:solidFill>
                  <a:schemeClr val="tx2"/>
                </a:solidFill>
              </a:rPr>
              <a:t>lập trình, AI, sản phẩm (bán thời gian)</a:t>
            </a:r>
            <a:endParaRPr lang="en-US" sz="1400" dirty="0"/>
          </a:p>
        </p:txBody>
      </p:sp>
      <p:sp>
        <p:nvSpPr>
          <p:cNvPr id="9" name="card-319"/>
          <p:cNvSpPr/>
          <p:nvPr/>
        </p:nvSpPr>
        <p:spPr>
          <a:xfrm>
            <a:off x="6071616" y="1097280"/>
            <a:ext cx="2615184" cy="1691640"/>
          </a:xfrm>
          <a:prstGeom prst="roundRect">
            <a:avLst>
              <a:gd name="adj" fmla="val 6486"/>
            </a:avLst>
          </a:prstGeom>
          <a:solidFill>
            <a:schemeClr val="bg1"/>
          </a:solidFill>
          <a:ln/>
          <a:effectLst>
            <a:outerShdw sx="100000" sy="100000" kx="0" ky="0" algn="bl" rotWithShape="0" blurRad="101600" dist="25400" dir="5400000">
              <a:srgbClr val="0B1F4B">
                <a:alpha val="12000"/>
              </a:srgbClr>
            </a:outerShdw>
          </a:effectLst>
        </p:spPr>
      </p:sp>
      <p:sp>
        <p:nvSpPr>
          <p:cNvPr id="10" name="text-320"/>
          <p:cNvSpPr txBox="1"/>
          <p:nvPr/>
        </p:nvSpPr>
        <p:spPr>
          <a:xfrm>
            <a:off x="6300216" y="1234440"/>
            <a:ext cx="2194560" cy="731520"/>
          </a:xfrm>
          <a:prstGeom prst="rect">
            <a:avLst/>
          </a:prstGeom>
          <a:noFill/>
          <a:ln/>
        </p:spPr>
        <p:txBody>
          <a:bodyPr wrap="square" lIns="0" tIns="0" rIns="0" bIns="0" rtlCol="0" anchor="ctr"/>
          <a:lstStyle/>
          <a:p>
            <a:pPr indent="0" marL="0">
              <a:buNone/>
            </a:pPr>
            <a:r>
              <a:rPr lang="en-US" sz="3200" b="1" dirty="0">
                <a:solidFill>
                  <a:schemeClr val="accent2"/>
                </a:solidFill>
              </a:rPr>
              <a:t>50–130 USD</a:t>
            </a:r>
            <a:endParaRPr lang="en-US" sz="3200" dirty="0"/>
          </a:p>
        </p:txBody>
      </p:sp>
      <p:sp>
        <p:nvSpPr>
          <p:cNvPr id="11" name="text-321"/>
          <p:cNvSpPr txBox="1"/>
          <p:nvPr/>
        </p:nvSpPr>
        <p:spPr>
          <a:xfrm>
            <a:off x="6300216" y="2011680"/>
            <a:ext cx="2194560" cy="640080"/>
          </a:xfrm>
          <a:prstGeom prst="rect">
            <a:avLst/>
          </a:prstGeom>
          <a:noFill/>
          <a:ln/>
        </p:spPr>
        <p:txBody>
          <a:bodyPr wrap="square" lIns="0" tIns="0" rIns="0" bIns="0" rtlCol="0" anchor="t"/>
          <a:lstStyle/>
          <a:p>
            <a:pPr indent="0" marL="0">
              <a:buNone/>
            </a:pPr>
            <a:r>
              <a:rPr lang="en-US" sz="1400" dirty="0">
                <a:solidFill>
                  <a:schemeClr val="tx2"/>
                </a:solidFill>
              </a:rPr>
              <a:t>mỗi tháng tiền chạy app khi dùng thử</a:t>
            </a:r>
            <a:endParaRPr lang="en-US" sz="1400" dirty="0"/>
          </a:p>
        </p:txBody>
      </p:sp>
      <p:sp>
        <p:nvSpPr>
          <p:cNvPr id="12" name="card-322"/>
          <p:cNvSpPr/>
          <p:nvPr/>
        </p:nvSpPr>
        <p:spPr>
          <a:xfrm>
            <a:off x="457200" y="2971800"/>
            <a:ext cx="8229600" cy="1508760"/>
          </a:xfrm>
          <a:prstGeom prst="roundRect">
            <a:avLst>
              <a:gd name="adj" fmla="val 7273"/>
            </a:avLst>
          </a:prstGeom>
          <a:solidFill>
            <a:schemeClr val="bg1"/>
          </a:solidFill>
          <a:ln/>
          <a:effectLst>
            <a:outerShdw sx="100000" sy="100000" kx="0" ky="0" algn="bl" rotWithShape="0" blurRad="101600" dist="25400" dir="5400000">
              <a:srgbClr val="0B1F4B">
                <a:alpha val="12000"/>
              </a:srgbClr>
            </a:outerShdw>
          </a:effectLst>
        </p:spPr>
      </p:sp>
      <p:sp>
        <p:nvSpPr>
          <p:cNvPr id="13" name="text-323"/>
          <p:cNvSpPr txBox="1"/>
          <p:nvPr/>
        </p:nvSpPr>
        <p:spPr>
          <a:xfrm>
            <a:off x="685800" y="3063240"/>
            <a:ext cx="5486400" cy="292608"/>
          </a:xfrm>
          <a:prstGeom prst="rect">
            <a:avLst/>
          </a:prstGeom>
          <a:noFill/>
          <a:ln/>
        </p:spPr>
        <p:txBody>
          <a:bodyPr wrap="square" lIns="0" tIns="0" rIns="0" bIns="0" rtlCol="0" anchor="t"/>
          <a:lstStyle/>
          <a:p>
            <a:pPr indent="0" marL="0">
              <a:buNone/>
            </a:pPr>
            <a:r>
              <a:rPr lang="en-US" sz="1400" b="1" dirty="0">
                <a:solidFill>
                  <a:schemeClr val="tx1"/>
                </a:solidFill>
              </a:rPr>
              <a:t>Chi phí chạy app mỗi tháng (ước tính, USD)</a:t>
            </a:r>
            <a:endParaRPr lang="en-US" sz="1400" dirty="0"/>
          </a:p>
        </p:txBody>
      </p:sp>
      <p:sp>
        <p:nvSpPr>
          <p:cNvPr id="14" name="text-324"/>
          <p:cNvSpPr txBox="1"/>
          <p:nvPr/>
        </p:nvSpPr>
        <p:spPr>
          <a:xfrm>
            <a:off x="685800" y="3456432"/>
            <a:ext cx="2834640" cy="274320"/>
          </a:xfrm>
          <a:prstGeom prst="rect">
            <a:avLst/>
          </a:prstGeom>
          <a:noFill/>
          <a:ln/>
        </p:spPr>
        <p:txBody>
          <a:bodyPr wrap="square" lIns="0" tIns="0" rIns="0" bIns="0" rtlCol="0" anchor="ctr"/>
          <a:lstStyle/>
          <a:p>
            <a:pPr indent="0" marL="0">
              <a:buNone/>
            </a:pPr>
            <a:r>
              <a:rPr lang="en-US" sz="1300" dirty="0">
                <a:solidFill>
                  <a:schemeClr val="tx1"/>
                </a:solidFill>
              </a:rPr>
              <a:t>Máy chủ, lưu trữ</a:t>
            </a:r>
            <a:endParaRPr lang="en-US" sz="1300" dirty="0"/>
          </a:p>
        </p:txBody>
      </p:sp>
      <p:sp>
        <p:nvSpPr>
          <p:cNvPr id="15" name="track-325"/>
          <p:cNvSpPr/>
          <p:nvPr/>
        </p:nvSpPr>
        <p:spPr>
          <a:xfrm>
            <a:off x="3657600" y="3511296"/>
            <a:ext cx="4206240" cy="164592"/>
          </a:xfrm>
          <a:prstGeom prst="roundRect">
            <a:avLst>
              <a:gd name="adj" fmla="val 50000"/>
            </a:avLst>
          </a:prstGeom>
          <a:solidFill>
            <a:srgbClr val="E1E7F0"/>
          </a:solidFill>
          <a:ln/>
        </p:spPr>
      </p:sp>
      <p:sp>
        <p:nvSpPr>
          <p:cNvPr id="16" name="range-326"/>
          <p:cNvSpPr/>
          <p:nvPr/>
        </p:nvSpPr>
        <p:spPr>
          <a:xfrm>
            <a:off x="5059680" y="3511296"/>
            <a:ext cx="2804160" cy="164592"/>
          </a:xfrm>
          <a:prstGeom prst="roundRect">
            <a:avLst>
              <a:gd name="adj" fmla="val 50000"/>
            </a:avLst>
          </a:prstGeom>
          <a:solidFill>
            <a:schemeClr val="accent1"/>
          </a:solidFill>
          <a:ln/>
        </p:spPr>
      </p:sp>
      <p:sp>
        <p:nvSpPr>
          <p:cNvPr id="17" name="text-327"/>
          <p:cNvSpPr txBox="1"/>
          <p:nvPr/>
        </p:nvSpPr>
        <p:spPr>
          <a:xfrm>
            <a:off x="7955280" y="3456432"/>
            <a:ext cx="685800" cy="274320"/>
          </a:xfrm>
          <a:prstGeom prst="rect">
            <a:avLst/>
          </a:prstGeom>
          <a:noFill/>
          <a:ln/>
        </p:spPr>
        <p:txBody>
          <a:bodyPr wrap="square" lIns="0" tIns="0" rIns="0" bIns="0" rtlCol="0" anchor="ctr"/>
          <a:lstStyle/>
          <a:p>
            <a:pPr indent="0" marL="0">
              <a:buNone/>
            </a:pPr>
            <a:r>
              <a:rPr lang="en-US" sz="1200" b="1" dirty="0">
                <a:solidFill>
                  <a:schemeClr val="tx1"/>
                </a:solidFill>
              </a:rPr>
              <a:t>20–60</a:t>
            </a:r>
            <a:endParaRPr lang="en-US" sz="1200" dirty="0"/>
          </a:p>
        </p:txBody>
      </p:sp>
      <p:sp>
        <p:nvSpPr>
          <p:cNvPr id="18" name="text-328"/>
          <p:cNvSpPr txBox="1"/>
          <p:nvPr/>
        </p:nvSpPr>
        <p:spPr>
          <a:xfrm>
            <a:off x="685800" y="3785616"/>
            <a:ext cx="2834640" cy="274320"/>
          </a:xfrm>
          <a:prstGeom prst="rect">
            <a:avLst/>
          </a:prstGeom>
          <a:noFill/>
          <a:ln/>
        </p:spPr>
        <p:txBody>
          <a:bodyPr wrap="square" lIns="0" tIns="0" rIns="0" bIns="0" rtlCol="0" anchor="ctr"/>
          <a:lstStyle/>
          <a:p>
            <a:pPr indent="0" marL="0">
              <a:buNone/>
            </a:pPr>
            <a:r>
              <a:rPr lang="en-US" sz="1300" dirty="0">
                <a:solidFill>
                  <a:schemeClr val="tx1"/>
                </a:solidFill>
              </a:rPr>
              <a:t>AI đọc tin nhắn</a:t>
            </a:r>
            <a:endParaRPr lang="en-US" sz="1300" dirty="0"/>
          </a:p>
        </p:txBody>
      </p:sp>
      <p:sp>
        <p:nvSpPr>
          <p:cNvPr id="19" name="track-329"/>
          <p:cNvSpPr/>
          <p:nvPr/>
        </p:nvSpPr>
        <p:spPr>
          <a:xfrm>
            <a:off x="3657600" y="3840480"/>
            <a:ext cx="4206240" cy="164592"/>
          </a:xfrm>
          <a:prstGeom prst="roundRect">
            <a:avLst>
              <a:gd name="adj" fmla="val 50000"/>
            </a:avLst>
          </a:prstGeom>
          <a:solidFill>
            <a:srgbClr val="E1E7F0"/>
          </a:solidFill>
          <a:ln/>
        </p:spPr>
      </p:sp>
      <p:sp>
        <p:nvSpPr>
          <p:cNvPr id="20" name="range-330"/>
          <p:cNvSpPr/>
          <p:nvPr/>
        </p:nvSpPr>
        <p:spPr>
          <a:xfrm>
            <a:off x="4709160" y="3840480"/>
            <a:ext cx="3154680" cy="164592"/>
          </a:xfrm>
          <a:prstGeom prst="roundRect">
            <a:avLst>
              <a:gd name="adj" fmla="val 50000"/>
            </a:avLst>
          </a:prstGeom>
          <a:solidFill>
            <a:schemeClr val="accent5"/>
          </a:solidFill>
          <a:ln/>
        </p:spPr>
      </p:sp>
      <p:sp>
        <p:nvSpPr>
          <p:cNvPr id="21" name="text-331"/>
          <p:cNvSpPr txBox="1"/>
          <p:nvPr/>
        </p:nvSpPr>
        <p:spPr>
          <a:xfrm>
            <a:off x="7955280" y="3785616"/>
            <a:ext cx="685800" cy="274320"/>
          </a:xfrm>
          <a:prstGeom prst="rect">
            <a:avLst/>
          </a:prstGeom>
          <a:noFill/>
          <a:ln/>
        </p:spPr>
        <p:txBody>
          <a:bodyPr wrap="square" lIns="0" tIns="0" rIns="0" bIns="0" rtlCol="0" anchor="ctr"/>
          <a:lstStyle/>
          <a:p>
            <a:pPr indent="0" marL="0">
              <a:buNone/>
            </a:pPr>
            <a:r>
              <a:rPr lang="en-US" sz="1200" b="1" dirty="0">
                <a:solidFill>
                  <a:schemeClr val="tx1"/>
                </a:solidFill>
              </a:rPr>
              <a:t>15–60</a:t>
            </a:r>
            <a:endParaRPr lang="en-US" sz="1200" dirty="0"/>
          </a:p>
        </p:txBody>
      </p:sp>
      <p:sp>
        <p:nvSpPr>
          <p:cNvPr id="22" name="text-332"/>
          <p:cNvSpPr txBox="1"/>
          <p:nvPr/>
        </p:nvSpPr>
        <p:spPr>
          <a:xfrm>
            <a:off x="685800" y="4114800"/>
            <a:ext cx="2834640" cy="274320"/>
          </a:xfrm>
          <a:prstGeom prst="rect">
            <a:avLst/>
          </a:prstGeom>
          <a:noFill/>
          <a:ln/>
        </p:spPr>
        <p:txBody>
          <a:bodyPr wrap="square" lIns="0" tIns="0" rIns="0" bIns="0" rtlCol="0" anchor="ctr"/>
          <a:lstStyle/>
          <a:p>
            <a:pPr indent="0" marL="0">
              <a:buNone/>
            </a:pPr>
            <a:r>
              <a:rPr lang="en-US" sz="1300" dirty="0">
                <a:solidFill>
                  <a:schemeClr val="tx1"/>
                </a:solidFill>
              </a:rPr>
              <a:t>Đọc chữ trong ảnh</a:t>
            </a:r>
            <a:endParaRPr lang="en-US" sz="1300" dirty="0"/>
          </a:p>
        </p:txBody>
      </p:sp>
      <p:sp>
        <p:nvSpPr>
          <p:cNvPr id="23" name="track-333"/>
          <p:cNvSpPr/>
          <p:nvPr/>
        </p:nvSpPr>
        <p:spPr>
          <a:xfrm>
            <a:off x="3657600" y="4169664"/>
            <a:ext cx="4206240" cy="164592"/>
          </a:xfrm>
          <a:prstGeom prst="roundRect">
            <a:avLst>
              <a:gd name="adj" fmla="val 50000"/>
            </a:avLst>
          </a:prstGeom>
          <a:solidFill>
            <a:srgbClr val="E1E7F0"/>
          </a:solidFill>
          <a:ln/>
        </p:spPr>
      </p:sp>
      <p:sp>
        <p:nvSpPr>
          <p:cNvPr id="24" name="range-334"/>
          <p:cNvSpPr/>
          <p:nvPr/>
        </p:nvSpPr>
        <p:spPr>
          <a:xfrm>
            <a:off x="3657600" y="4169664"/>
            <a:ext cx="701040" cy="164592"/>
          </a:xfrm>
          <a:prstGeom prst="roundRect">
            <a:avLst>
              <a:gd name="adj" fmla="val 50000"/>
            </a:avLst>
          </a:prstGeom>
          <a:solidFill>
            <a:schemeClr val="accent3"/>
          </a:solidFill>
          <a:ln/>
        </p:spPr>
      </p:sp>
      <p:sp>
        <p:nvSpPr>
          <p:cNvPr id="25" name="text-335"/>
          <p:cNvSpPr txBox="1"/>
          <p:nvPr/>
        </p:nvSpPr>
        <p:spPr>
          <a:xfrm>
            <a:off x="7955280" y="4114800"/>
            <a:ext cx="685800" cy="274320"/>
          </a:xfrm>
          <a:prstGeom prst="rect">
            <a:avLst/>
          </a:prstGeom>
          <a:noFill/>
          <a:ln/>
        </p:spPr>
        <p:txBody>
          <a:bodyPr wrap="square" lIns="0" tIns="0" rIns="0" bIns="0" rtlCol="0" anchor="ctr"/>
          <a:lstStyle/>
          <a:p>
            <a:pPr indent="0" marL="0">
              <a:buNone/>
            </a:pPr>
            <a:r>
              <a:rPr lang="en-US" sz="1200" b="1" dirty="0">
                <a:solidFill>
                  <a:schemeClr val="tx1"/>
                </a:solidFill>
              </a:rPr>
              <a:t>dưới 10</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1"/>
                </a:solidFill>
              </a:rPr>
              <a:t>Rủi ro và cách xử lý</a:t>
            </a:r>
            <a:endParaRPr lang="en-US" sz="2600" dirty="0"/>
          </a:p>
        </p:txBody>
      </p:sp>
      <p:sp>
        <p:nvSpPr>
          <p:cNvPr id="3" name="card-336"/>
          <p:cNvSpPr/>
          <p:nvPr/>
        </p:nvSpPr>
        <p:spPr>
          <a:xfrm>
            <a:off x="457200" y="1051560"/>
            <a:ext cx="2615184" cy="1600200"/>
          </a:xfrm>
          <a:prstGeom prst="roundRect">
            <a:avLst>
              <a:gd name="adj" fmla="val 6857"/>
            </a:avLst>
          </a:prstGeom>
          <a:solidFill>
            <a:schemeClr val="bg1"/>
          </a:solidFill>
          <a:ln/>
          <a:effectLst>
            <a:outerShdw sx="100000" sy="100000" kx="0" ky="0" algn="bl" rotWithShape="0" blurRad="101600" dist="25400" dir="5400000">
              <a:srgbClr val="0B1F4B">
                <a:alpha val="12000"/>
              </a:srgbClr>
            </a:outerShdw>
          </a:effectLst>
        </p:spPr>
      </p:sp>
      <p:sp>
        <p:nvSpPr>
          <p:cNvPr id="4" name="icon-bg-337"/>
          <p:cNvSpPr/>
          <p:nvPr/>
        </p:nvSpPr>
        <p:spPr>
          <a:xfrm>
            <a:off x="640080" y="1234440"/>
            <a:ext cx="411480" cy="411480"/>
          </a:xfrm>
          <a:prstGeom prst="ellipse">
            <a:avLst/>
          </a:prstGeom>
          <a:solidFill>
            <a:schemeClr val="accent4"/>
          </a:solidFill>
          <a:ln/>
        </p:spPr>
      </p:sp>
      <p:pic>
        <p:nvPicPr>
          <p:cNvPr id="5" name="icon-FaExclamationTriangle-338" descr="preencoded.png">    </p:cNvPr>
          <p:cNvPicPr>
            <a:picLocks noChangeAspect="1"/>
          </p:cNvPicPr>
          <p:nvPr/>
        </p:nvPicPr>
        <p:blipFill>
          <a:blip r:embed="rId1"/>
          <a:stretch>
            <a:fillRect/>
          </a:stretch>
        </p:blipFill>
        <p:spPr>
          <a:xfrm>
            <a:off x="742950" y="1337310"/>
            <a:ext cx="205740" cy="205740"/>
          </a:xfrm>
          <a:prstGeom prst="rect">
            <a:avLst/>
          </a:prstGeom>
        </p:spPr>
      </p:pic>
      <p:sp>
        <p:nvSpPr>
          <p:cNvPr id="6" name="pill-339"/>
          <p:cNvSpPr/>
          <p:nvPr/>
        </p:nvSpPr>
        <p:spPr>
          <a:xfrm>
            <a:off x="2057400" y="1298448"/>
            <a:ext cx="822960"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Mức cao</a:t>
            </a:r>
            <a:endParaRPr lang="en-US" sz="1100" dirty="0"/>
          </a:p>
        </p:txBody>
      </p:sp>
      <p:sp>
        <p:nvSpPr>
          <p:cNvPr id="7" name="text-340"/>
          <p:cNvSpPr txBox="1"/>
          <p:nvPr/>
        </p:nvSpPr>
        <p:spPr>
          <a:xfrm>
            <a:off x="640080" y="1737360"/>
            <a:ext cx="2286000" cy="320040"/>
          </a:xfrm>
          <a:prstGeom prst="rect">
            <a:avLst/>
          </a:prstGeom>
          <a:noFill/>
          <a:ln/>
        </p:spPr>
        <p:txBody>
          <a:bodyPr wrap="square" lIns="0" tIns="0" rIns="0" bIns="0" rtlCol="0" anchor="t"/>
          <a:lstStyle/>
          <a:p>
            <a:pPr indent="0" marL="0">
              <a:buNone/>
            </a:pPr>
            <a:r>
              <a:rPr lang="en-US" sz="1400" b="1" dirty="0">
                <a:solidFill>
                  <a:schemeClr val="tx1"/>
                </a:solidFill>
              </a:rPr>
              <a:t>Bot không đọc được tin nhóm</a:t>
            </a:r>
            <a:endParaRPr lang="en-US" sz="1400" dirty="0"/>
          </a:p>
        </p:txBody>
      </p:sp>
      <p:sp>
        <p:nvSpPr>
          <p:cNvPr id="8" name="text-341"/>
          <p:cNvSpPr txBox="1"/>
          <p:nvPr/>
        </p:nvSpPr>
        <p:spPr>
          <a:xfrm>
            <a:off x="640080" y="2057400"/>
            <a:ext cx="2286000" cy="548640"/>
          </a:xfrm>
          <a:prstGeom prst="rect">
            <a:avLst/>
          </a:prstGeom>
          <a:noFill/>
          <a:ln/>
        </p:spPr>
        <p:txBody>
          <a:bodyPr wrap="square" lIns="0" tIns="0" rIns="0" bIns="0" rtlCol="0" anchor="t"/>
          <a:lstStyle/>
          <a:p>
            <a:pPr indent="0" marL="0">
              <a:buNone/>
            </a:pPr>
            <a:r>
              <a:rPr lang="en-US" sz="1300" dirty="0">
                <a:solidFill>
                  <a:schemeClr val="tx2"/>
                </a:solidFill>
              </a:rPr>
              <a:t>Dựa vào chuyển tiếp và dán tin ngay từ đầu</a:t>
            </a:r>
            <a:endParaRPr lang="en-US" sz="1300" dirty="0"/>
          </a:p>
        </p:txBody>
      </p:sp>
      <p:sp>
        <p:nvSpPr>
          <p:cNvPr id="9" name="card-342"/>
          <p:cNvSpPr/>
          <p:nvPr/>
        </p:nvSpPr>
        <p:spPr>
          <a:xfrm>
            <a:off x="3264408" y="1051560"/>
            <a:ext cx="2615184" cy="1600200"/>
          </a:xfrm>
          <a:prstGeom prst="roundRect">
            <a:avLst>
              <a:gd name="adj" fmla="val 6857"/>
            </a:avLst>
          </a:prstGeom>
          <a:solidFill>
            <a:schemeClr val="bg1"/>
          </a:solidFill>
          <a:ln/>
          <a:effectLst>
            <a:outerShdw sx="100000" sy="100000" kx="0" ky="0" algn="bl" rotWithShape="0" blurRad="101600" dist="25400" dir="5400000">
              <a:srgbClr val="0B1F4B">
                <a:alpha val="12000"/>
              </a:srgbClr>
            </a:outerShdw>
          </a:effectLst>
        </p:spPr>
      </p:sp>
      <p:sp>
        <p:nvSpPr>
          <p:cNvPr id="10" name="icon-bg-343"/>
          <p:cNvSpPr/>
          <p:nvPr/>
        </p:nvSpPr>
        <p:spPr>
          <a:xfrm>
            <a:off x="3447288" y="1234440"/>
            <a:ext cx="411480" cy="411480"/>
          </a:xfrm>
          <a:prstGeom prst="ellipse">
            <a:avLst/>
          </a:prstGeom>
          <a:solidFill>
            <a:schemeClr val="accent4"/>
          </a:solidFill>
          <a:ln/>
        </p:spPr>
      </p:sp>
      <p:pic>
        <p:nvPicPr>
          <p:cNvPr id="11" name="icon-FaShieldAlt-344" descr="preencoded.png">    </p:cNvPr>
          <p:cNvPicPr>
            <a:picLocks noChangeAspect="1"/>
          </p:cNvPicPr>
          <p:nvPr/>
        </p:nvPicPr>
        <p:blipFill>
          <a:blip r:embed="rId2"/>
          <a:stretch>
            <a:fillRect/>
          </a:stretch>
        </p:blipFill>
        <p:spPr>
          <a:xfrm>
            <a:off x="3550158" y="1337310"/>
            <a:ext cx="205740" cy="205740"/>
          </a:xfrm>
          <a:prstGeom prst="rect">
            <a:avLst/>
          </a:prstGeom>
        </p:spPr>
      </p:pic>
      <p:sp>
        <p:nvSpPr>
          <p:cNvPr id="12" name="pill-345"/>
          <p:cNvSpPr/>
          <p:nvPr/>
        </p:nvSpPr>
        <p:spPr>
          <a:xfrm>
            <a:off x="4864608" y="1298448"/>
            <a:ext cx="822960"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dirty="0">
                <a:solidFill>
                  <a:schemeClr val="bg1"/>
                </a:solidFill>
              </a:rPr>
              <a:t>Mức cao</a:t>
            </a:r>
            <a:endParaRPr lang="en-US" sz="1100" dirty="0"/>
          </a:p>
        </p:txBody>
      </p:sp>
      <p:sp>
        <p:nvSpPr>
          <p:cNvPr id="13" name="text-346"/>
          <p:cNvSpPr txBox="1"/>
          <p:nvPr/>
        </p:nvSpPr>
        <p:spPr>
          <a:xfrm>
            <a:off x="3447288" y="1737360"/>
            <a:ext cx="2286000" cy="320040"/>
          </a:xfrm>
          <a:prstGeom prst="rect">
            <a:avLst/>
          </a:prstGeom>
          <a:noFill/>
          <a:ln/>
        </p:spPr>
        <p:txBody>
          <a:bodyPr wrap="square" lIns="0" tIns="0" rIns="0" bIns="0" rtlCol="0" anchor="t"/>
          <a:lstStyle/>
          <a:p>
            <a:pPr indent="0" marL="0">
              <a:buNone/>
            </a:pPr>
            <a:r>
              <a:rPr lang="en-US" sz="1400" b="1" dirty="0">
                <a:solidFill>
                  <a:schemeClr val="tx1"/>
                </a:solidFill>
              </a:rPr>
              <a:t>Quyền riêng tư, lòng tin</a:t>
            </a:r>
            <a:endParaRPr lang="en-US" sz="1400" dirty="0"/>
          </a:p>
        </p:txBody>
      </p:sp>
      <p:sp>
        <p:nvSpPr>
          <p:cNvPr id="14" name="text-347"/>
          <p:cNvSpPr txBox="1"/>
          <p:nvPr/>
        </p:nvSpPr>
        <p:spPr>
          <a:xfrm>
            <a:off x="3447288" y="2057400"/>
            <a:ext cx="2286000" cy="548640"/>
          </a:xfrm>
          <a:prstGeom prst="rect">
            <a:avLst/>
          </a:prstGeom>
          <a:noFill/>
          <a:ln/>
        </p:spPr>
        <p:txBody>
          <a:bodyPr wrap="square" lIns="0" tIns="0" rIns="0" bIns="0" rtlCol="0" anchor="t"/>
          <a:lstStyle/>
          <a:p>
            <a:pPr indent="0" marL="0">
              <a:buNone/>
            </a:pPr>
            <a:r>
              <a:rPr lang="en-US" sz="1300" dirty="0">
                <a:solidFill>
                  <a:schemeClr val="tx2"/>
                </a:solidFill>
              </a:rPr>
              <a:t>Chỉ lưu tin gửi cho bot, cho phép xóa</a:t>
            </a:r>
            <a:endParaRPr lang="en-US" sz="1300" dirty="0"/>
          </a:p>
        </p:txBody>
      </p:sp>
      <p:sp>
        <p:nvSpPr>
          <p:cNvPr id="15" name="card-348"/>
          <p:cNvSpPr/>
          <p:nvPr/>
        </p:nvSpPr>
        <p:spPr>
          <a:xfrm>
            <a:off x="6071616" y="1051560"/>
            <a:ext cx="2615184" cy="1600200"/>
          </a:xfrm>
          <a:prstGeom prst="roundRect">
            <a:avLst>
              <a:gd name="adj" fmla="val 6857"/>
            </a:avLst>
          </a:prstGeom>
          <a:solidFill>
            <a:schemeClr val="bg1"/>
          </a:solidFill>
          <a:ln/>
          <a:effectLst>
            <a:outerShdw sx="100000" sy="100000" kx="0" ky="0" algn="bl" rotWithShape="0" blurRad="101600" dist="25400" dir="5400000">
              <a:srgbClr val="0B1F4B">
                <a:alpha val="12000"/>
              </a:srgbClr>
            </a:outerShdw>
          </a:effectLst>
        </p:spPr>
      </p:sp>
      <p:sp>
        <p:nvSpPr>
          <p:cNvPr id="16" name="icon-bg-349"/>
          <p:cNvSpPr/>
          <p:nvPr/>
        </p:nvSpPr>
        <p:spPr>
          <a:xfrm>
            <a:off x="6254496" y="1234440"/>
            <a:ext cx="411480" cy="411480"/>
          </a:xfrm>
          <a:prstGeom prst="ellipse">
            <a:avLst/>
          </a:prstGeom>
          <a:solidFill>
            <a:schemeClr val="accent2"/>
          </a:solidFill>
          <a:ln/>
        </p:spPr>
      </p:sp>
      <p:pic>
        <p:nvPicPr>
          <p:cNvPr id="17" name="icon-FaRobot-350" descr="preencoded.png">    </p:cNvPr>
          <p:cNvPicPr>
            <a:picLocks noChangeAspect="1"/>
          </p:cNvPicPr>
          <p:nvPr/>
        </p:nvPicPr>
        <p:blipFill>
          <a:blip r:embed="rId3"/>
          <a:stretch>
            <a:fillRect/>
          </a:stretch>
        </p:blipFill>
        <p:spPr>
          <a:xfrm>
            <a:off x="6357366" y="1337310"/>
            <a:ext cx="205740" cy="205740"/>
          </a:xfrm>
          <a:prstGeom prst="rect">
            <a:avLst/>
          </a:prstGeom>
        </p:spPr>
      </p:pic>
      <p:sp>
        <p:nvSpPr>
          <p:cNvPr id="18" name="pill-351"/>
          <p:cNvSpPr/>
          <p:nvPr/>
        </p:nvSpPr>
        <p:spPr>
          <a:xfrm>
            <a:off x="7671816" y="1298448"/>
            <a:ext cx="82296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Mức vừa</a:t>
            </a:r>
            <a:endParaRPr lang="en-US" sz="1100" dirty="0"/>
          </a:p>
        </p:txBody>
      </p:sp>
      <p:sp>
        <p:nvSpPr>
          <p:cNvPr id="19" name="text-352"/>
          <p:cNvSpPr txBox="1"/>
          <p:nvPr/>
        </p:nvSpPr>
        <p:spPr>
          <a:xfrm>
            <a:off x="6254496" y="1737360"/>
            <a:ext cx="2286000" cy="320040"/>
          </a:xfrm>
          <a:prstGeom prst="rect">
            <a:avLst/>
          </a:prstGeom>
          <a:noFill/>
          <a:ln/>
        </p:spPr>
        <p:txBody>
          <a:bodyPr wrap="square" lIns="0" tIns="0" rIns="0" bIns="0" rtlCol="0" anchor="t"/>
          <a:lstStyle/>
          <a:p>
            <a:pPr indent="0" marL="0">
              <a:buNone/>
            </a:pPr>
            <a:r>
              <a:rPr lang="en-US" sz="1400" b="1" dirty="0">
                <a:solidFill>
                  <a:schemeClr val="tx1"/>
                </a:solidFill>
              </a:rPr>
              <a:t>AI hiểu sai hạn hoặc người</a:t>
            </a:r>
            <a:endParaRPr lang="en-US" sz="1400" dirty="0"/>
          </a:p>
        </p:txBody>
      </p:sp>
      <p:sp>
        <p:nvSpPr>
          <p:cNvPr id="20" name="text-353"/>
          <p:cNvSpPr txBox="1"/>
          <p:nvPr/>
        </p:nvSpPr>
        <p:spPr>
          <a:xfrm>
            <a:off x="6254496" y="2057400"/>
            <a:ext cx="2286000" cy="548640"/>
          </a:xfrm>
          <a:prstGeom prst="rect">
            <a:avLst/>
          </a:prstGeom>
          <a:noFill/>
          <a:ln/>
        </p:spPr>
        <p:txBody>
          <a:bodyPr wrap="square" lIns="0" tIns="0" rIns="0" bIns="0" rtlCol="0" anchor="t"/>
          <a:lstStyle/>
          <a:p>
            <a:pPr indent="0" marL="0">
              <a:buNone/>
            </a:pPr>
            <a:r>
              <a:rPr lang="en-US" sz="1300" dirty="0">
                <a:solidFill>
                  <a:schemeClr val="tx2"/>
                </a:solidFill>
              </a:rPr>
              <a:t>Luôn có bước bấm xác nhận</a:t>
            </a:r>
            <a:endParaRPr lang="en-US" sz="1300" dirty="0"/>
          </a:p>
        </p:txBody>
      </p:sp>
      <p:sp>
        <p:nvSpPr>
          <p:cNvPr id="21" name="card-354"/>
          <p:cNvSpPr/>
          <p:nvPr/>
        </p:nvSpPr>
        <p:spPr>
          <a:xfrm>
            <a:off x="457200" y="2788920"/>
            <a:ext cx="2615184" cy="1600200"/>
          </a:xfrm>
          <a:prstGeom prst="roundRect">
            <a:avLst>
              <a:gd name="adj" fmla="val 6857"/>
            </a:avLst>
          </a:prstGeom>
          <a:solidFill>
            <a:schemeClr val="bg1"/>
          </a:solidFill>
          <a:ln/>
          <a:effectLst>
            <a:outerShdw sx="100000" sy="100000" kx="0" ky="0" algn="bl" rotWithShape="0" blurRad="101600" dist="25400" dir="5400000">
              <a:srgbClr val="0B1F4B">
                <a:alpha val="12000"/>
              </a:srgbClr>
            </a:outerShdw>
          </a:effectLst>
        </p:spPr>
      </p:sp>
      <p:sp>
        <p:nvSpPr>
          <p:cNvPr id="22" name="icon-bg-355"/>
          <p:cNvSpPr/>
          <p:nvPr/>
        </p:nvSpPr>
        <p:spPr>
          <a:xfrm>
            <a:off x="640080" y="2971800"/>
            <a:ext cx="411480" cy="411480"/>
          </a:xfrm>
          <a:prstGeom prst="ellipse">
            <a:avLst/>
          </a:prstGeom>
          <a:solidFill>
            <a:schemeClr val="accent2"/>
          </a:solidFill>
          <a:ln/>
        </p:spPr>
      </p:sp>
      <p:pic>
        <p:nvPicPr>
          <p:cNvPr id="23" name="icon-FaCogs-356" descr="preencoded.png">    </p:cNvPr>
          <p:cNvPicPr>
            <a:picLocks noChangeAspect="1"/>
          </p:cNvPicPr>
          <p:nvPr/>
        </p:nvPicPr>
        <p:blipFill>
          <a:blip r:embed="rId4"/>
          <a:stretch>
            <a:fillRect/>
          </a:stretch>
        </p:blipFill>
        <p:spPr>
          <a:xfrm>
            <a:off x="742950" y="3074670"/>
            <a:ext cx="205740" cy="205740"/>
          </a:xfrm>
          <a:prstGeom prst="rect">
            <a:avLst/>
          </a:prstGeom>
        </p:spPr>
      </p:pic>
      <p:sp>
        <p:nvSpPr>
          <p:cNvPr id="24" name="pill-357"/>
          <p:cNvSpPr/>
          <p:nvPr/>
        </p:nvSpPr>
        <p:spPr>
          <a:xfrm>
            <a:off x="2057400" y="3035808"/>
            <a:ext cx="82296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Mức vừa</a:t>
            </a:r>
            <a:endParaRPr lang="en-US" sz="1100" dirty="0"/>
          </a:p>
        </p:txBody>
      </p:sp>
      <p:sp>
        <p:nvSpPr>
          <p:cNvPr id="25" name="text-358"/>
          <p:cNvSpPr txBox="1"/>
          <p:nvPr/>
        </p:nvSpPr>
        <p:spPr>
          <a:xfrm>
            <a:off x="640080" y="3474720"/>
            <a:ext cx="2286000" cy="320040"/>
          </a:xfrm>
          <a:prstGeom prst="rect">
            <a:avLst/>
          </a:prstGeom>
          <a:noFill/>
          <a:ln/>
        </p:spPr>
        <p:txBody>
          <a:bodyPr wrap="square" lIns="0" tIns="0" rIns="0" bIns="0" rtlCol="0" anchor="t"/>
          <a:lstStyle/>
          <a:p>
            <a:pPr indent="0" marL="0">
              <a:buNone/>
            </a:pPr>
            <a:r>
              <a:rPr lang="en-US" sz="1400" b="1" dirty="0">
                <a:solidFill>
                  <a:schemeClr val="tx1"/>
                </a:solidFill>
              </a:rPr>
              <a:t>Zalo đổi chính sách</a:t>
            </a:r>
            <a:endParaRPr lang="en-US" sz="1400" dirty="0"/>
          </a:p>
        </p:txBody>
      </p:sp>
      <p:sp>
        <p:nvSpPr>
          <p:cNvPr id="26" name="text-359"/>
          <p:cNvSpPr txBox="1"/>
          <p:nvPr/>
        </p:nvSpPr>
        <p:spPr>
          <a:xfrm>
            <a:off x="640080" y="3794760"/>
            <a:ext cx="2286000" cy="548640"/>
          </a:xfrm>
          <a:prstGeom prst="rect">
            <a:avLst/>
          </a:prstGeom>
          <a:noFill/>
          <a:ln/>
        </p:spPr>
        <p:txBody>
          <a:bodyPr wrap="square" lIns="0" tIns="0" rIns="0" bIns="0" rtlCol="0" anchor="t"/>
          <a:lstStyle/>
          <a:p>
            <a:pPr indent="0" marL="0">
              <a:buNone/>
            </a:pPr>
            <a:r>
              <a:rPr lang="en-US" sz="1300" dirty="0">
                <a:solidFill>
                  <a:schemeClr val="tx2"/>
                </a:solidFill>
              </a:rPr>
              <a:t>Tách riêng phần kết nối Zalo để dễ thay</a:t>
            </a:r>
            <a:endParaRPr lang="en-US" sz="1300" dirty="0"/>
          </a:p>
        </p:txBody>
      </p:sp>
      <p:sp>
        <p:nvSpPr>
          <p:cNvPr id="27" name="card-360"/>
          <p:cNvSpPr/>
          <p:nvPr/>
        </p:nvSpPr>
        <p:spPr>
          <a:xfrm>
            <a:off x="3264408" y="2788920"/>
            <a:ext cx="2615184" cy="1600200"/>
          </a:xfrm>
          <a:prstGeom prst="roundRect">
            <a:avLst>
              <a:gd name="adj" fmla="val 6857"/>
            </a:avLst>
          </a:prstGeom>
          <a:solidFill>
            <a:schemeClr val="bg1"/>
          </a:solidFill>
          <a:ln/>
          <a:effectLst>
            <a:outerShdw sx="100000" sy="100000" kx="0" ky="0" algn="bl" rotWithShape="0" blurRad="101600" dist="25400" dir="5400000">
              <a:srgbClr val="0B1F4B">
                <a:alpha val="12000"/>
              </a:srgbClr>
            </a:outerShdw>
          </a:effectLst>
        </p:spPr>
      </p:sp>
      <p:sp>
        <p:nvSpPr>
          <p:cNvPr id="28" name="icon-bg-361"/>
          <p:cNvSpPr/>
          <p:nvPr/>
        </p:nvSpPr>
        <p:spPr>
          <a:xfrm>
            <a:off x="3447288" y="2971800"/>
            <a:ext cx="411480" cy="411480"/>
          </a:xfrm>
          <a:prstGeom prst="ellipse">
            <a:avLst/>
          </a:prstGeom>
          <a:solidFill>
            <a:schemeClr val="accent2"/>
          </a:solidFill>
          <a:ln/>
        </p:spPr>
      </p:sp>
      <p:pic>
        <p:nvPicPr>
          <p:cNvPr id="29" name="icon-FaUser-362" descr="preencoded.png">    </p:cNvPr>
          <p:cNvPicPr>
            <a:picLocks noChangeAspect="1"/>
          </p:cNvPicPr>
          <p:nvPr/>
        </p:nvPicPr>
        <p:blipFill>
          <a:blip r:embed="rId5"/>
          <a:stretch>
            <a:fillRect/>
          </a:stretch>
        </p:blipFill>
        <p:spPr>
          <a:xfrm>
            <a:off x="3550158" y="3074670"/>
            <a:ext cx="205740" cy="205740"/>
          </a:xfrm>
          <a:prstGeom prst="rect">
            <a:avLst/>
          </a:prstGeom>
        </p:spPr>
      </p:pic>
      <p:sp>
        <p:nvSpPr>
          <p:cNvPr id="30" name="pill-363"/>
          <p:cNvSpPr/>
          <p:nvPr/>
        </p:nvSpPr>
        <p:spPr>
          <a:xfrm>
            <a:off x="4864608" y="3035808"/>
            <a:ext cx="82296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Mức vừa</a:t>
            </a:r>
            <a:endParaRPr lang="en-US" sz="1100" dirty="0"/>
          </a:p>
        </p:txBody>
      </p:sp>
      <p:sp>
        <p:nvSpPr>
          <p:cNvPr id="31" name="text-364"/>
          <p:cNvSpPr txBox="1"/>
          <p:nvPr/>
        </p:nvSpPr>
        <p:spPr>
          <a:xfrm>
            <a:off x="3447288" y="3474720"/>
            <a:ext cx="2286000" cy="320040"/>
          </a:xfrm>
          <a:prstGeom prst="rect">
            <a:avLst/>
          </a:prstGeom>
          <a:noFill/>
          <a:ln/>
        </p:spPr>
        <p:txBody>
          <a:bodyPr wrap="square" lIns="0" tIns="0" rIns="0" bIns="0" rtlCol="0" anchor="t"/>
          <a:lstStyle/>
          <a:p>
            <a:pPr indent="0" marL="0">
              <a:buNone/>
            </a:pPr>
            <a:r>
              <a:rPr lang="en-US" sz="1400" b="1" dirty="0">
                <a:solidFill>
                  <a:schemeClr val="tx1"/>
                </a:solidFill>
              </a:rPr>
              <a:t>Người dùng lười chuyển tiếp</a:t>
            </a:r>
            <a:endParaRPr lang="en-US" sz="1400" dirty="0"/>
          </a:p>
        </p:txBody>
      </p:sp>
      <p:sp>
        <p:nvSpPr>
          <p:cNvPr id="32" name="text-365"/>
          <p:cNvSpPr txBox="1"/>
          <p:nvPr/>
        </p:nvSpPr>
        <p:spPr>
          <a:xfrm>
            <a:off x="3447288" y="3794760"/>
            <a:ext cx="2286000" cy="548640"/>
          </a:xfrm>
          <a:prstGeom prst="rect">
            <a:avLst/>
          </a:prstGeom>
          <a:noFill/>
          <a:ln/>
        </p:spPr>
        <p:txBody>
          <a:bodyPr wrap="square" lIns="0" tIns="0" rIns="0" bIns="0" rtlCol="0" anchor="t"/>
          <a:lstStyle/>
          <a:p>
            <a:pPr indent="0" marL="0">
              <a:buNone/>
            </a:pPr>
            <a:r>
              <a:rPr lang="en-US" sz="1300" dirty="0">
                <a:solidFill>
                  <a:schemeClr val="tx2"/>
                </a:solidFill>
              </a:rPr>
              <a:t>Chỉ 1 thao tác, tóm tắt sáng tạo thói quen</a:t>
            </a:r>
            <a:endParaRPr lang="en-US" sz="1300" dirty="0"/>
          </a:p>
        </p:txBody>
      </p:sp>
      <p:sp>
        <p:nvSpPr>
          <p:cNvPr id="33" name="card-366"/>
          <p:cNvSpPr/>
          <p:nvPr/>
        </p:nvSpPr>
        <p:spPr>
          <a:xfrm>
            <a:off x="6071616" y="2788920"/>
            <a:ext cx="2615184" cy="1600200"/>
          </a:xfrm>
          <a:prstGeom prst="roundRect">
            <a:avLst>
              <a:gd name="adj" fmla="val 6857"/>
            </a:avLst>
          </a:prstGeom>
          <a:solidFill>
            <a:schemeClr val="bg1"/>
          </a:solidFill>
          <a:ln/>
          <a:effectLst>
            <a:outerShdw sx="100000" sy="100000" kx="0" ky="0" algn="bl" rotWithShape="0" blurRad="101600" dist="25400" dir="5400000">
              <a:srgbClr val="0B1F4B">
                <a:alpha val="12000"/>
              </a:srgbClr>
            </a:outerShdw>
          </a:effectLst>
        </p:spPr>
      </p:sp>
      <p:sp>
        <p:nvSpPr>
          <p:cNvPr id="34" name="icon-bg-367"/>
          <p:cNvSpPr/>
          <p:nvPr/>
        </p:nvSpPr>
        <p:spPr>
          <a:xfrm>
            <a:off x="6254496" y="2971800"/>
            <a:ext cx="411480" cy="411480"/>
          </a:xfrm>
          <a:prstGeom prst="ellipse">
            <a:avLst/>
          </a:prstGeom>
          <a:solidFill>
            <a:schemeClr val="accent3"/>
          </a:solidFill>
          <a:ln/>
        </p:spPr>
      </p:sp>
      <p:pic>
        <p:nvPicPr>
          <p:cNvPr id="35" name="icon-FaFilter-368" descr="preencoded.png">    </p:cNvPr>
          <p:cNvPicPr>
            <a:picLocks noChangeAspect="1"/>
          </p:cNvPicPr>
          <p:nvPr/>
        </p:nvPicPr>
        <p:blipFill>
          <a:blip r:embed="rId6"/>
          <a:stretch>
            <a:fillRect/>
          </a:stretch>
        </p:blipFill>
        <p:spPr>
          <a:xfrm>
            <a:off x="6357366" y="3074670"/>
            <a:ext cx="205740" cy="205740"/>
          </a:xfrm>
          <a:prstGeom prst="rect">
            <a:avLst/>
          </a:prstGeom>
        </p:spPr>
      </p:pic>
      <p:sp>
        <p:nvSpPr>
          <p:cNvPr id="36" name="pill-369"/>
          <p:cNvSpPr/>
          <p:nvPr/>
        </p:nvSpPr>
        <p:spPr>
          <a:xfrm>
            <a:off x="7671816" y="3035808"/>
            <a:ext cx="82296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dirty="0">
                <a:solidFill>
                  <a:schemeClr val="bg1"/>
                </a:solidFill>
              </a:rPr>
              <a:t>Mức thấp</a:t>
            </a:r>
            <a:endParaRPr lang="en-US" sz="1100" dirty="0"/>
          </a:p>
        </p:txBody>
      </p:sp>
      <p:sp>
        <p:nvSpPr>
          <p:cNvPr id="37" name="text-370"/>
          <p:cNvSpPr txBox="1"/>
          <p:nvPr/>
        </p:nvSpPr>
        <p:spPr>
          <a:xfrm>
            <a:off x="6254496" y="3474720"/>
            <a:ext cx="2286000" cy="320040"/>
          </a:xfrm>
          <a:prstGeom prst="rect">
            <a:avLst/>
          </a:prstGeom>
          <a:noFill/>
          <a:ln/>
        </p:spPr>
        <p:txBody>
          <a:bodyPr wrap="square" lIns="0" tIns="0" rIns="0" bIns="0" rtlCol="0" anchor="t"/>
          <a:lstStyle/>
          <a:p>
            <a:pPr indent="0" marL="0">
              <a:buNone/>
            </a:pPr>
            <a:r>
              <a:rPr lang="en-US" sz="1400" b="1" dirty="0">
                <a:solidFill>
                  <a:schemeClr val="tx1"/>
                </a:solidFill>
              </a:rPr>
              <a:t>Chi phí AI tăng</a:t>
            </a:r>
            <a:endParaRPr lang="en-US" sz="1400" dirty="0"/>
          </a:p>
        </p:txBody>
      </p:sp>
      <p:sp>
        <p:nvSpPr>
          <p:cNvPr id="38" name="text-371"/>
          <p:cNvSpPr txBox="1"/>
          <p:nvPr/>
        </p:nvSpPr>
        <p:spPr>
          <a:xfrm>
            <a:off x="6254496" y="3794760"/>
            <a:ext cx="2286000" cy="548640"/>
          </a:xfrm>
          <a:prstGeom prst="rect">
            <a:avLst/>
          </a:prstGeom>
          <a:noFill/>
          <a:ln/>
        </p:spPr>
        <p:txBody>
          <a:bodyPr wrap="square" lIns="0" tIns="0" rIns="0" bIns="0" rtlCol="0" anchor="t"/>
          <a:lstStyle/>
          <a:p>
            <a:pPr indent="0" marL="0">
              <a:buNone/>
            </a:pPr>
            <a:r>
              <a:rPr lang="en-US" sz="1300" dirty="0">
                <a:solidFill>
                  <a:schemeClr val="tx2"/>
                </a:solidFill>
              </a:rPr>
              <a:t>Lọc tin rẻ trước, chỉ gọi AI khi cần</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tx1"/>
                </a:solidFill>
              </a:rPr>
              <a:t>Thế nào là thành công?</a:t>
            </a:r>
            <a:endParaRPr lang="en-US" sz="2600" dirty="0"/>
          </a:p>
        </p:txBody>
      </p:sp>
      <p:sp>
        <p:nvSpPr>
          <p:cNvPr id="3" name="card-372"/>
          <p:cNvSpPr/>
          <p:nvPr/>
        </p:nvSpPr>
        <p:spPr>
          <a:xfrm>
            <a:off x="457200" y="1097280"/>
            <a:ext cx="1920240" cy="2743200"/>
          </a:xfrm>
          <a:prstGeom prst="roundRect">
            <a:avLst>
              <a:gd name="adj" fmla="val 5714"/>
            </a:avLst>
          </a:prstGeom>
          <a:solidFill>
            <a:schemeClr val="bg1"/>
          </a:solidFill>
          <a:ln/>
          <a:effectLst>
            <a:outerShdw sx="100000" sy="100000" kx="0" ky="0" algn="bl" rotWithShape="0" blurRad="101600" dist="25400" dir="5400000">
              <a:srgbClr val="0B1F4B">
                <a:alpha val="12000"/>
              </a:srgbClr>
            </a:outerShdw>
          </a:effectLst>
        </p:spPr>
      </p:sp>
      <p:graphicFrame>
        <p:nvGraphicFramePr>
          <p:cNvPr id="4" name="kpi-chart-373" descr=""/>
          <p:cNvGraphicFramePr/>
          <p:nvPr/>
        </p:nvGraphicFramePr>
        <p:xfrm>
          <a:off x="731520" y="1234440"/>
          <a:ext cx="1371600" cy="1371600"/>
        </p:xfrm>
        <a:graphic xmlns:a="http://schemas.openxmlformats.org/drawingml/2006/main">
          <a:graphicData uri="http://schemas.openxmlformats.org/drawingml/2006/chart">
            <c:chart xmlns:c="http://schemas.openxmlformats.org/drawingml/2006/chart" r:id="rId1"/>
          </a:graphicData>
        </a:graphic>
      </p:graphicFrame>
      <p:sp>
        <p:nvSpPr>
          <p:cNvPr id="5" name="text-374"/>
          <p:cNvSpPr txBox="1"/>
          <p:nvPr/>
        </p:nvSpPr>
        <p:spPr>
          <a:xfrm>
            <a:off x="731520" y="1691640"/>
            <a:ext cx="1371600" cy="457200"/>
          </a:xfrm>
          <a:prstGeom prst="rect">
            <a:avLst/>
          </a:prstGeom>
          <a:noFill/>
          <a:ln/>
        </p:spPr>
        <p:txBody>
          <a:bodyPr wrap="square" lIns="0" tIns="0" rIns="0" bIns="0" rtlCol="0" anchor="ctr"/>
          <a:lstStyle/>
          <a:p>
            <a:pPr algn="ctr" indent="0" marL="0">
              <a:buNone/>
            </a:pPr>
            <a:r>
              <a:rPr lang="en-US" sz="2200" b="1" dirty="0">
                <a:solidFill>
                  <a:schemeClr val="tx1"/>
                </a:solidFill>
              </a:rPr>
              <a:t>85%</a:t>
            </a:r>
            <a:endParaRPr lang="en-US" sz="2200" dirty="0"/>
          </a:p>
        </p:txBody>
      </p:sp>
      <p:sp>
        <p:nvSpPr>
          <p:cNvPr id="6" name="text-375"/>
          <p:cNvSpPr txBox="1"/>
          <p:nvPr/>
        </p:nvSpPr>
        <p:spPr>
          <a:xfrm>
            <a:off x="640080" y="2788920"/>
            <a:ext cx="1554480" cy="1097280"/>
          </a:xfrm>
          <a:prstGeom prst="rect">
            <a:avLst/>
          </a:prstGeom>
          <a:noFill/>
          <a:ln/>
        </p:spPr>
        <p:txBody>
          <a:bodyPr wrap="square" lIns="0" tIns="0" rIns="0" bIns="0" rtlCol="0" anchor="t"/>
          <a:lstStyle/>
          <a:p>
            <a:pPr algn="ctr" indent="0" marL="0">
              <a:buNone/>
            </a:pPr>
            <a:r>
              <a:rPr lang="en-US" sz="1400" dirty="0">
                <a:solidFill>
                  <a:schemeClr val="tx2"/>
                </a:solidFill>
              </a:rPr>
              <a:t>thẻ việc được lưu mà không cần sửa</a:t>
            </a:r>
            <a:endParaRPr lang="en-US" sz="1400" dirty="0"/>
          </a:p>
        </p:txBody>
      </p:sp>
      <p:sp>
        <p:nvSpPr>
          <p:cNvPr id="7" name="card-376"/>
          <p:cNvSpPr/>
          <p:nvPr/>
        </p:nvSpPr>
        <p:spPr>
          <a:xfrm>
            <a:off x="2560320" y="1097280"/>
            <a:ext cx="1920240" cy="2743200"/>
          </a:xfrm>
          <a:prstGeom prst="roundRect">
            <a:avLst>
              <a:gd name="adj" fmla="val 5714"/>
            </a:avLst>
          </a:prstGeom>
          <a:solidFill>
            <a:schemeClr val="bg1"/>
          </a:solidFill>
          <a:ln/>
          <a:effectLst>
            <a:outerShdw sx="100000" sy="100000" kx="0" ky="0" algn="bl" rotWithShape="0" blurRad="101600" dist="25400" dir="5400000">
              <a:srgbClr val="0B1F4B">
                <a:alpha val="12000"/>
              </a:srgbClr>
            </a:outerShdw>
          </a:effectLst>
        </p:spPr>
      </p:sp>
      <p:graphicFrame>
        <p:nvGraphicFramePr>
          <p:cNvPr id="8" name="kpi-chart-377" descr=""/>
          <p:cNvGraphicFramePr/>
          <p:nvPr/>
        </p:nvGraphicFramePr>
        <p:xfrm>
          <a:off x="2834640" y="1234440"/>
          <a:ext cx="1371600" cy="1371600"/>
        </p:xfrm>
        <a:graphic xmlns:a="http://schemas.openxmlformats.org/drawingml/2006/main">
          <a:graphicData uri="http://schemas.openxmlformats.org/drawingml/2006/chart">
            <c:chart xmlns:c="http://schemas.openxmlformats.org/drawingml/2006/chart" r:id="rId2"/>
          </a:graphicData>
        </a:graphic>
      </p:graphicFrame>
      <p:sp>
        <p:nvSpPr>
          <p:cNvPr id="9" name="text-378"/>
          <p:cNvSpPr txBox="1"/>
          <p:nvPr/>
        </p:nvSpPr>
        <p:spPr>
          <a:xfrm>
            <a:off x="2834640" y="1691640"/>
            <a:ext cx="1371600" cy="457200"/>
          </a:xfrm>
          <a:prstGeom prst="rect">
            <a:avLst/>
          </a:prstGeom>
          <a:noFill/>
          <a:ln/>
        </p:spPr>
        <p:txBody>
          <a:bodyPr wrap="square" lIns="0" tIns="0" rIns="0" bIns="0" rtlCol="0" anchor="ctr"/>
          <a:lstStyle/>
          <a:p>
            <a:pPr algn="ctr" indent="0" marL="0">
              <a:buNone/>
            </a:pPr>
            <a:r>
              <a:rPr lang="en-US" sz="2200" b="1" dirty="0">
                <a:solidFill>
                  <a:schemeClr val="tx1"/>
                </a:solidFill>
              </a:rPr>
              <a:t>60%</a:t>
            </a:r>
            <a:endParaRPr lang="en-US" sz="2200" dirty="0"/>
          </a:p>
        </p:txBody>
      </p:sp>
      <p:sp>
        <p:nvSpPr>
          <p:cNvPr id="10" name="text-379"/>
          <p:cNvSpPr txBox="1"/>
          <p:nvPr/>
        </p:nvSpPr>
        <p:spPr>
          <a:xfrm>
            <a:off x="2743200" y="2788920"/>
            <a:ext cx="1554480" cy="1097280"/>
          </a:xfrm>
          <a:prstGeom prst="rect">
            <a:avLst/>
          </a:prstGeom>
          <a:noFill/>
          <a:ln/>
        </p:spPr>
        <p:txBody>
          <a:bodyPr wrap="square" lIns="0" tIns="0" rIns="0" bIns="0" rtlCol="0" anchor="t"/>
          <a:lstStyle/>
          <a:p>
            <a:pPr algn="ctr" indent="0" marL="0">
              <a:buNone/>
            </a:pPr>
            <a:r>
              <a:rPr lang="en-US" sz="1400" dirty="0">
                <a:solidFill>
                  <a:schemeClr val="tx2"/>
                </a:solidFill>
              </a:rPr>
              <a:t>người mới tạo từ 3 việc trong tuần đầu</a:t>
            </a:r>
            <a:endParaRPr lang="en-US" sz="1400" dirty="0"/>
          </a:p>
        </p:txBody>
      </p:sp>
      <p:sp>
        <p:nvSpPr>
          <p:cNvPr id="11" name="card-380"/>
          <p:cNvSpPr/>
          <p:nvPr/>
        </p:nvSpPr>
        <p:spPr>
          <a:xfrm>
            <a:off x="4663440" y="1097280"/>
            <a:ext cx="1920240" cy="2743200"/>
          </a:xfrm>
          <a:prstGeom prst="roundRect">
            <a:avLst>
              <a:gd name="adj" fmla="val 5714"/>
            </a:avLst>
          </a:prstGeom>
          <a:solidFill>
            <a:schemeClr val="bg1"/>
          </a:solidFill>
          <a:ln/>
          <a:effectLst>
            <a:outerShdw sx="100000" sy="100000" kx="0" ky="0" algn="bl" rotWithShape="0" blurRad="101600" dist="25400" dir="5400000">
              <a:srgbClr val="0B1F4B">
                <a:alpha val="12000"/>
              </a:srgbClr>
            </a:outerShdw>
          </a:effectLst>
        </p:spPr>
      </p:sp>
      <p:graphicFrame>
        <p:nvGraphicFramePr>
          <p:cNvPr id="12" name="kpi-chart-381" descr=""/>
          <p:cNvGraphicFramePr/>
          <p:nvPr/>
        </p:nvGraphicFramePr>
        <p:xfrm>
          <a:off x="4937760" y="1234440"/>
          <a:ext cx="1371600" cy="1371600"/>
        </p:xfrm>
        <a:graphic xmlns:a="http://schemas.openxmlformats.org/drawingml/2006/main">
          <a:graphicData uri="http://schemas.openxmlformats.org/drawingml/2006/chart">
            <c:chart xmlns:c="http://schemas.openxmlformats.org/drawingml/2006/chart" r:id="rId3"/>
          </a:graphicData>
        </a:graphic>
      </p:graphicFrame>
      <p:sp>
        <p:nvSpPr>
          <p:cNvPr id="13" name="text-382"/>
          <p:cNvSpPr txBox="1"/>
          <p:nvPr/>
        </p:nvSpPr>
        <p:spPr>
          <a:xfrm>
            <a:off x="4937760" y="1691640"/>
            <a:ext cx="1371600" cy="457200"/>
          </a:xfrm>
          <a:prstGeom prst="rect">
            <a:avLst/>
          </a:prstGeom>
          <a:noFill/>
          <a:ln/>
        </p:spPr>
        <p:txBody>
          <a:bodyPr wrap="square" lIns="0" tIns="0" rIns="0" bIns="0" rtlCol="0" anchor="ctr"/>
          <a:lstStyle/>
          <a:p>
            <a:pPr algn="ctr" indent="0" marL="0">
              <a:buNone/>
            </a:pPr>
            <a:r>
              <a:rPr lang="en-US" sz="2200" b="1" dirty="0">
                <a:solidFill>
                  <a:schemeClr val="tx1"/>
                </a:solidFill>
              </a:rPr>
              <a:t>40%</a:t>
            </a:r>
            <a:endParaRPr lang="en-US" sz="2200" dirty="0"/>
          </a:p>
        </p:txBody>
      </p:sp>
      <p:sp>
        <p:nvSpPr>
          <p:cNvPr id="14" name="text-383"/>
          <p:cNvSpPr txBox="1"/>
          <p:nvPr/>
        </p:nvSpPr>
        <p:spPr>
          <a:xfrm>
            <a:off x="4846320" y="2788920"/>
            <a:ext cx="1554480" cy="1097280"/>
          </a:xfrm>
          <a:prstGeom prst="rect">
            <a:avLst/>
          </a:prstGeom>
          <a:noFill/>
          <a:ln/>
        </p:spPr>
        <p:txBody>
          <a:bodyPr wrap="square" lIns="0" tIns="0" rIns="0" bIns="0" rtlCol="0" anchor="t"/>
          <a:lstStyle/>
          <a:p>
            <a:pPr algn="ctr" indent="0" marL="0">
              <a:buNone/>
            </a:pPr>
            <a:r>
              <a:rPr lang="en-US" sz="1400" dirty="0">
                <a:solidFill>
                  <a:schemeClr val="tx2"/>
                </a:solidFill>
              </a:rPr>
              <a:t>người dùng vẫn còn dùng sau 4 tuần</a:t>
            </a:r>
            <a:endParaRPr lang="en-US" sz="1400" dirty="0"/>
          </a:p>
        </p:txBody>
      </p:sp>
      <p:sp>
        <p:nvSpPr>
          <p:cNvPr id="15" name="card-384"/>
          <p:cNvSpPr/>
          <p:nvPr/>
        </p:nvSpPr>
        <p:spPr>
          <a:xfrm>
            <a:off x="6766560" y="1097280"/>
            <a:ext cx="1920240" cy="2743200"/>
          </a:xfrm>
          <a:prstGeom prst="roundRect">
            <a:avLst>
              <a:gd name="adj" fmla="val 5714"/>
            </a:avLst>
          </a:prstGeom>
          <a:solidFill>
            <a:schemeClr val="bg1"/>
          </a:solidFill>
          <a:ln/>
          <a:effectLst>
            <a:outerShdw sx="100000" sy="100000" kx="0" ky="0" algn="bl" rotWithShape="0" blurRad="101600" dist="25400" dir="5400000">
              <a:srgbClr val="0B1F4B">
                <a:alpha val="12000"/>
              </a:srgbClr>
            </a:outerShdw>
          </a:effectLst>
        </p:spPr>
      </p:sp>
      <p:pic>
        <p:nvPicPr>
          <p:cNvPr id="16" name="icon-up-385" descr="preencoded.png">    </p:cNvPr>
          <p:cNvPicPr>
            <a:picLocks noChangeAspect="1"/>
          </p:cNvPicPr>
          <p:nvPr/>
        </p:nvPicPr>
        <p:blipFill>
          <a:blip r:embed="rId4"/>
          <a:stretch>
            <a:fillRect/>
          </a:stretch>
        </p:blipFill>
        <p:spPr>
          <a:xfrm>
            <a:off x="7315200" y="1417320"/>
            <a:ext cx="822960" cy="822960"/>
          </a:xfrm>
          <a:prstGeom prst="rect">
            <a:avLst/>
          </a:prstGeom>
        </p:spPr>
      </p:pic>
      <p:sp>
        <p:nvSpPr>
          <p:cNvPr id="17" name="text-386"/>
          <p:cNvSpPr txBox="1"/>
          <p:nvPr/>
        </p:nvSpPr>
        <p:spPr>
          <a:xfrm>
            <a:off x="6949440" y="2788920"/>
            <a:ext cx="1554480" cy="1097280"/>
          </a:xfrm>
          <a:prstGeom prst="rect">
            <a:avLst/>
          </a:prstGeom>
          <a:noFill/>
          <a:ln/>
        </p:spPr>
        <p:txBody>
          <a:bodyPr wrap="square" lIns="0" tIns="0" rIns="0" bIns="0" rtlCol="0" anchor="t"/>
          <a:lstStyle/>
          <a:p>
            <a:pPr algn="ctr" indent="0" marL="0">
              <a:buNone/>
            </a:pPr>
            <a:r>
              <a:rPr lang="en-US" sz="1400" dirty="0">
                <a:solidFill>
                  <a:schemeClr val="tx2"/>
                </a:solidFill>
              </a:rPr>
              <a:t>việc xong đúng hạn tăng so với trước khi dùng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600" b="1" dirty="0">
                <a:solidFill>
                  <a:schemeClr val="bg1"/>
                </a:solidFill>
              </a:rPr>
              <a:t>5 điều bạn cần quyết định</a:t>
            </a:r>
            <a:endParaRPr lang="en-US" sz="2600" dirty="0"/>
          </a:p>
        </p:txBody>
      </p:sp>
      <p:sp>
        <p:nvSpPr>
          <p:cNvPr id="3" name="pill-387"/>
          <p:cNvSpPr/>
          <p:nvPr/>
        </p:nvSpPr>
        <p:spPr>
          <a:xfrm>
            <a:off x="457200" y="1152144"/>
            <a:ext cx="411480" cy="41148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4" name="text-388"/>
          <p:cNvSpPr txBox="1"/>
          <p:nvPr/>
        </p:nvSpPr>
        <p:spPr>
          <a:xfrm>
            <a:off x="1051560" y="1097280"/>
            <a:ext cx="4069080" cy="530352"/>
          </a:xfrm>
          <a:prstGeom prst="rect">
            <a:avLst/>
          </a:prstGeom>
          <a:noFill/>
          <a:ln/>
        </p:spPr>
        <p:txBody>
          <a:bodyPr wrap="square" lIns="0" tIns="0" rIns="0" bIns="0" rtlCol="0" anchor="ctr"/>
          <a:lstStyle/>
          <a:p>
            <a:pPr indent="0" marL="0">
              <a:buNone/>
            </a:pPr>
            <a:r>
              <a:rPr lang="en-US" sz="1500" dirty="0">
                <a:solidFill>
                  <a:schemeClr val="bg1"/>
                </a:solidFill>
              </a:rPr>
              <a:t>Ưu tiên nhóm nội bộ hay shop dùng Zalo OA?</a:t>
            </a:r>
            <a:endParaRPr lang="en-US" sz="1500" dirty="0"/>
          </a:p>
        </p:txBody>
      </p:sp>
      <p:sp>
        <p:nvSpPr>
          <p:cNvPr id="5" name="pill-389"/>
          <p:cNvSpPr/>
          <p:nvPr/>
        </p:nvSpPr>
        <p:spPr>
          <a:xfrm>
            <a:off x="457200" y="1828800"/>
            <a:ext cx="411480" cy="41148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6" name="text-390"/>
          <p:cNvSpPr txBox="1"/>
          <p:nvPr/>
        </p:nvSpPr>
        <p:spPr>
          <a:xfrm>
            <a:off x="1051560" y="1773936"/>
            <a:ext cx="4069080" cy="530352"/>
          </a:xfrm>
          <a:prstGeom prst="rect">
            <a:avLst/>
          </a:prstGeom>
          <a:noFill/>
          <a:ln/>
        </p:spPr>
        <p:txBody>
          <a:bodyPr wrap="square" lIns="0" tIns="0" rIns="0" bIns="0" rtlCol="0" anchor="ctr"/>
          <a:lstStyle/>
          <a:p>
            <a:pPr indent="0" marL="0">
              <a:buNone/>
            </a:pPr>
            <a:r>
              <a:rPr lang="en-US" sz="1500" dirty="0">
                <a:solidFill>
                  <a:schemeClr val="bg1"/>
                </a:solidFill>
              </a:rPr>
              <a:t>Dùng qua đâu: bot, web, Mini App hay app riêng?</a:t>
            </a:r>
            <a:endParaRPr lang="en-US" sz="1500" dirty="0"/>
          </a:p>
        </p:txBody>
      </p:sp>
      <p:sp>
        <p:nvSpPr>
          <p:cNvPr id="7" name="pill-391"/>
          <p:cNvSpPr/>
          <p:nvPr/>
        </p:nvSpPr>
        <p:spPr>
          <a:xfrm>
            <a:off x="457200" y="2505456"/>
            <a:ext cx="411480" cy="41148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8" name="text-392"/>
          <p:cNvSpPr txBox="1"/>
          <p:nvPr/>
        </p:nvSpPr>
        <p:spPr>
          <a:xfrm>
            <a:off x="1051560" y="2450592"/>
            <a:ext cx="4069080" cy="530352"/>
          </a:xfrm>
          <a:prstGeom prst="rect">
            <a:avLst/>
          </a:prstGeom>
          <a:noFill/>
          <a:ln/>
        </p:spPr>
        <p:txBody>
          <a:bodyPr wrap="square" lIns="0" tIns="0" rIns="0" bIns="0" rtlCol="0" anchor="ctr"/>
          <a:lstStyle/>
          <a:p>
            <a:pPr indent="0" marL="0">
              <a:buNone/>
            </a:pPr>
            <a:r>
              <a:rPr lang="en-US" sz="1500" dirty="0">
                <a:solidFill>
                  <a:schemeClr val="bg1"/>
                </a:solidFill>
              </a:rPr>
              <a:t>Thu tiền thế nào: miễn phí, theo nhóm hay theo người?</a:t>
            </a:r>
            <a:endParaRPr lang="en-US" sz="1500" dirty="0"/>
          </a:p>
        </p:txBody>
      </p:sp>
      <p:sp>
        <p:nvSpPr>
          <p:cNvPr id="9" name="pill-393"/>
          <p:cNvSpPr/>
          <p:nvPr/>
        </p:nvSpPr>
        <p:spPr>
          <a:xfrm>
            <a:off x="457200" y="3182112"/>
            <a:ext cx="411480" cy="41148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0" name="text-394"/>
          <p:cNvSpPr txBox="1"/>
          <p:nvPr/>
        </p:nvSpPr>
        <p:spPr>
          <a:xfrm>
            <a:off x="1051560" y="3127248"/>
            <a:ext cx="4069080" cy="530352"/>
          </a:xfrm>
          <a:prstGeom prst="rect">
            <a:avLst/>
          </a:prstGeom>
          <a:noFill/>
          <a:ln/>
        </p:spPr>
        <p:txBody>
          <a:bodyPr wrap="square" lIns="0" tIns="0" rIns="0" bIns="0" rtlCol="0" anchor="ctr"/>
          <a:lstStyle/>
          <a:p>
            <a:pPr indent="0" marL="0">
              <a:buNone/>
            </a:pPr>
            <a:r>
              <a:rPr lang="en-US" sz="1500" dirty="0">
                <a:solidFill>
                  <a:schemeClr val="bg1"/>
                </a:solidFill>
              </a:rPr>
              <a:t>Có cần đặt máy chủ tại Việt Nam không?</a:t>
            </a:r>
            <a:endParaRPr lang="en-US" sz="1500" dirty="0"/>
          </a:p>
        </p:txBody>
      </p:sp>
      <p:sp>
        <p:nvSpPr>
          <p:cNvPr id="11" name="pill-395"/>
          <p:cNvSpPr/>
          <p:nvPr/>
        </p:nvSpPr>
        <p:spPr>
          <a:xfrm>
            <a:off x="457200" y="3858768"/>
            <a:ext cx="411480" cy="41148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2" name="text-396"/>
          <p:cNvSpPr txBox="1"/>
          <p:nvPr/>
        </p:nvSpPr>
        <p:spPr>
          <a:xfrm>
            <a:off x="1051560" y="3803904"/>
            <a:ext cx="4069080" cy="530352"/>
          </a:xfrm>
          <a:prstGeom prst="rect">
            <a:avLst/>
          </a:prstGeom>
          <a:noFill/>
          <a:ln/>
        </p:spPr>
        <p:txBody>
          <a:bodyPr wrap="square" lIns="0" tIns="0" rIns="0" bIns="0" rtlCol="0" anchor="ctr"/>
          <a:lstStyle/>
          <a:p>
            <a:pPr indent="0" marL="0">
              <a:buNone/>
            </a:pPr>
            <a:r>
              <a:rPr lang="en-US" sz="1500" dirty="0">
                <a:solidFill>
                  <a:schemeClr val="bg1"/>
                </a:solidFill>
              </a:rPr>
              <a:t>Bắt đầu với ngành nào: xây dựng, bán hàng…?</a:t>
            </a:r>
            <a:endParaRPr lang="en-US" sz="1500" dirty="0"/>
          </a:p>
        </p:txBody>
      </p:sp>
      <p:sp>
        <p:nvSpPr>
          <p:cNvPr id="13" name="next-card-397"/>
          <p:cNvSpPr/>
          <p:nvPr/>
        </p:nvSpPr>
        <p:spPr>
          <a:xfrm>
            <a:off x="5486400" y="1097280"/>
            <a:ext cx="3200400" cy="3337560"/>
          </a:xfrm>
          <a:prstGeom prst="roundRect">
            <a:avLst>
              <a:gd name="adj" fmla="val 3429"/>
            </a:avLst>
          </a:prstGeom>
          <a:solidFill>
            <a:schemeClr val="tx2"/>
          </a:solidFill>
          <a:ln/>
        </p:spPr>
      </p:sp>
      <p:sp>
        <p:nvSpPr>
          <p:cNvPr id="14" name="text-398"/>
          <p:cNvSpPr txBox="1"/>
          <p:nvPr/>
        </p:nvSpPr>
        <p:spPr>
          <a:xfrm>
            <a:off x="5715000" y="1280160"/>
            <a:ext cx="2743200" cy="365760"/>
          </a:xfrm>
          <a:prstGeom prst="rect">
            <a:avLst/>
          </a:prstGeom>
          <a:noFill/>
          <a:ln/>
        </p:spPr>
        <p:txBody>
          <a:bodyPr wrap="square" lIns="0" tIns="0" rIns="0" bIns="0" rtlCol="0" anchor="t"/>
          <a:lstStyle/>
          <a:p>
            <a:pPr indent="0" marL="0">
              <a:buNone/>
            </a:pPr>
            <a:r>
              <a:rPr lang="en-US" sz="1800" b="1" dirty="0">
                <a:solidFill>
                  <a:schemeClr val="bg1"/>
                </a:solidFill>
              </a:rPr>
              <a:t>Bước tiếp theo</a:t>
            </a:r>
            <a:endParaRPr lang="en-US" sz="1800" dirty="0"/>
          </a:p>
        </p:txBody>
      </p:sp>
      <p:sp>
        <p:nvSpPr>
          <p:cNvPr id="15" name="pill-399"/>
          <p:cNvSpPr/>
          <p:nvPr/>
        </p:nvSpPr>
        <p:spPr>
          <a:xfrm>
            <a:off x="5715000" y="1874520"/>
            <a:ext cx="329184"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6" name="text-400"/>
          <p:cNvSpPr txBox="1"/>
          <p:nvPr/>
        </p:nvSpPr>
        <p:spPr>
          <a:xfrm>
            <a:off x="6172200" y="1828800"/>
            <a:ext cx="2331720" cy="685800"/>
          </a:xfrm>
          <a:prstGeom prst="rect">
            <a:avLst/>
          </a:prstGeom>
          <a:noFill/>
          <a:ln/>
        </p:spPr>
        <p:txBody>
          <a:bodyPr wrap="square" lIns="0" tIns="0" rIns="0" bIns="0" rtlCol="0" anchor="t"/>
          <a:lstStyle/>
          <a:p>
            <a:pPr indent="0" marL="0">
              <a:buNone/>
            </a:pPr>
            <a:r>
              <a:rPr lang="en-US" sz="1400" dirty="0">
                <a:solidFill>
                  <a:schemeClr val="bg1"/>
                </a:solidFill>
              </a:rPr>
              <a:t>Trả lời 5 câu hỏi bên trái</a:t>
            </a:r>
            <a:endParaRPr lang="en-US" sz="1400" dirty="0"/>
          </a:p>
        </p:txBody>
      </p:sp>
      <p:sp>
        <p:nvSpPr>
          <p:cNvPr id="17" name="pill-401"/>
          <p:cNvSpPr/>
          <p:nvPr/>
        </p:nvSpPr>
        <p:spPr>
          <a:xfrm>
            <a:off x="5715000" y="2697480"/>
            <a:ext cx="329184"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8" name="text-402"/>
          <p:cNvSpPr txBox="1"/>
          <p:nvPr/>
        </p:nvSpPr>
        <p:spPr>
          <a:xfrm>
            <a:off x="6172200" y="2651760"/>
            <a:ext cx="2331720" cy="685800"/>
          </a:xfrm>
          <a:prstGeom prst="rect">
            <a:avLst/>
          </a:prstGeom>
          <a:noFill/>
          <a:ln/>
        </p:spPr>
        <p:txBody>
          <a:bodyPr wrap="square" lIns="0" tIns="0" rIns="0" bIns="0" rtlCol="0" anchor="t"/>
          <a:lstStyle/>
          <a:p>
            <a:pPr indent="0" marL="0">
              <a:buNone/>
            </a:pPr>
            <a:r>
              <a:rPr lang="en-US" sz="1400" dirty="0">
                <a:solidFill>
                  <a:schemeClr val="bg1"/>
                </a:solidFill>
              </a:rPr>
              <a:t>Thử bản no-code 1–2 tuần với nhóm của bạn</a:t>
            </a:r>
            <a:endParaRPr lang="en-US" sz="1400" dirty="0"/>
          </a:p>
        </p:txBody>
      </p:sp>
      <p:sp>
        <p:nvSpPr>
          <p:cNvPr id="19" name="pill-403"/>
          <p:cNvSpPr/>
          <p:nvPr/>
        </p:nvSpPr>
        <p:spPr>
          <a:xfrm>
            <a:off x="5715000" y="3520440"/>
            <a:ext cx="329184"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0" name="text-404"/>
          <p:cNvSpPr txBox="1"/>
          <p:nvPr/>
        </p:nvSpPr>
        <p:spPr>
          <a:xfrm>
            <a:off x="6172200" y="3474720"/>
            <a:ext cx="2331720" cy="685800"/>
          </a:xfrm>
          <a:prstGeom prst="rect">
            <a:avLst/>
          </a:prstGeom>
          <a:noFill/>
          <a:ln/>
        </p:spPr>
        <p:txBody>
          <a:bodyPr wrap="square" lIns="0" tIns="0" rIns="0" bIns="0" rtlCol="0" anchor="t"/>
          <a:lstStyle/>
          <a:p>
            <a:pPr indent="0" marL="0">
              <a:buNone/>
            </a:pPr>
            <a:r>
              <a:rPr lang="en-US" sz="1400" dirty="0">
                <a:solidFill>
                  <a:schemeClr val="bg1"/>
                </a:solidFill>
              </a:rPr>
              <a:t>Kiểm tra bot Zalo có đọc được tin nhóm</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ZaloPlan">
  <a:themeElements>
    <a:clrScheme name="ZaloPlan">
      <a:dk1>
        <a:srgbClr val="0B1F4B"/>
      </a:dk1>
      <a:lt1>
        <a:srgbClr val="FFFFFF"/>
      </a:lt1>
      <a:dk2>
        <a:srgbClr val="4A5878"/>
      </a:dk2>
      <a:lt2>
        <a:srgbClr val="F2F6FC"/>
      </a:lt2>
      <a:accent1>
        <a:srgbClr val="0068FF"/>
      </a:accent1>
      <a:accent2>
        <a:srgbClr val="FF7A2F"/>
      </a:accent2>
      <a:accent3>
        <a:srgbClr val="12A877"/>
      </a:accent3>
      <a:accent4>
        <a:srgbClr val="E5484D"/>
      </a:accent4>
      <a:accent5>
        <a:srgbClr val="7C5CFF"/>
      </a:accent5>
      <a:accent6>
        <a:srgbClr val="F5B800"/>
      </a:accent6>
      <a:hlink>
        <a:srgbClr val="0068FF"/>
      </a:hlink>
      <a:folHlink>
        <a:srgbClr val="7C5CFF"/>
      </a:folHlink>
    </a:clrScheme>
    <a:fontScheme name="ZaloPla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ZaloPlan – Kế hoạch sản phẩm</dc:title>
  <dc:subject>PptxGenJS Presentation</dc:subject>
  <dc:creator>ZaloPlan</dc:creator>
  <cp:lastModifiedBy>ZaloPlan</cp:lastModifiedBy>
  <cp:revision>1</cp:revision>
  <dcterms:created xsi:type="dcterms:W3CDTF">2026-10-15T08:25:39Z</dcterms:created>
  <dcterms:modified xsi:type="dcterms:W3CDTF">2026-10-15T08:25:39Z</dcterms:modified>
</cp:coreProperties>
</file>